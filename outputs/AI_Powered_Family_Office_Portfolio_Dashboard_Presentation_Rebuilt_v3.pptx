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2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3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slides/charts/chart4.xml" ContentType="application/vnd.openxmlformats-officedocument.drawingml.chart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slides/charts/chart5.xml" ContentType="application/vnd.openxmlformats-officedocument.drawingml.chart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740d97816ae4dc5" /><Relationship Type="http://schemas.openxmlformats.org/officeDocument/2006/relationships/extended-properties" Target="/docProps/app.xml" Id="Rfdc85baa0b114974" /><Relationship Type="http://schemas.openxmlformats.org/officeDocument/2006/relationships/officeDocument" Target="/ppt/presentation.xml" Id="Ra52951611cbf490b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4ff3e6164a064ace"/>
  </p:sldMasterIdLst>
  <p:notesMasterIdLst>
    <p:notesMasterId xmlns:r="http://schemas.openxmlformats.org/officeDocument/2006/relationships" r:id="R78402d1b89db49db"/>
  </p:notesMasterIdLst>
  <p:sldIdLst>
    <p:sldId xmlns:r="http://schemas.openxmlformats.org/officeDocument/2006/relationships" id="256" r:id="R00ab4a7621584ca4"/>
    <p:sldId xmlns:r="http://schemas.openxmlformats.org/officeDocument/2006/relationships" id="257" r:id="R6b774143d00640c2"/>
    <p:sldId xmlns:r="http://schemas.openxmlformats.org/officeDocument/2006/relationships" id="258" r:id="R83724c5f5f83465a"/>
    <p:sldId xmlns:r="http://schemas.openxmlformats.org/officeDocument/2006/relationships" id="259" r:id="Rb6a5dfd242de4e95"/>
    <p:sldId xmlns:r="http://schemas.openxmlformats.org/officeDocument/2006/relationships" id="260" r:id="R8075a21c6f804c03"/>
    <p:sldId xmlns:r="http://schemas.openxmlformats.org/officeDocument/2006/relationships" id="261" r:id="Rbe276473aabb4a35"/>
    <p:sldId xmlns:r="http://schemas.openxmlformats.org/officeDocument/2006/relationships" id="262" r:id="R218cdb3dbff740f5"/>
    <p:sldId xmlns:r="http://schemas.openxmlformats.org/officeDocument/2006/relationships" id="263" r:id="Rbebed030e8a7421b"/>
    <p:sldId xmlns:r="http://schemas.openxmlformats.org/officeDocument/2006/relationships" id="264" r:id="Rb63b3044febf41b2"/>
    <p:sldId xmlns:r="http://schemas.openxmlformats.org/officeDocument/2006/relationships" id="265" r:id="Rcb113658eb964c5c"/>
    <p:sldId xmlns:r="http://schemas.openxmlformats.org/officeDocument/2006/relationships" id="266" r:id="R07595637fbbe4656"/>
    <p:sldId xmlns:r="http://schemas.openxmlformats.org/officeDocument/2006/relationships" id="267" r:id="R22a40483451848a6"/>
    <p:sldId xmlns:r="http://schemas.openxmlformats.org/officeDocument/2006/relationships" id="268" r:id="Rd2c782cef8e6434e"/>
    <p:sldId xmlns:r="http://schemas.openxmlformats.org/officeDocument/2006/relationships" id="269" r:id="R8e0025f3022f4348"/>
    <p:sldId xmlns:r="http://schemas.openxmlformats.org/officeDocument/2006/relationships" id="270" r:id="Re0c4267ef816491c"/>
    <p:sldId xmlns:r="http://schemas.openxmlformats.org/officeDocument/2006/relationships" id="271" r:id="R12a75211a51c4613"/>
    <p:sldId xmlns:r="http://schemas.openxmlformats.org/officeDocument/2006/relationships" id="272" r:id="R4938035f6b6c4011"/>
    <p:sldId xmlns:r="http://schemas.openxmlformats.org/officeDocument/2006/relationships" id="273" r:id="R0a5beac08f1a431e"/>
  </p:sldIdLst>
  <p:sldSz cx="18288000" cy="10287000"/>
  <p:notesSz cx="6858000" cy="9144000"/>
  <p:embeddedFontLst>
    <p:embeddedFont>
      <p:font typeface="Garet"/>
      <p:regular xmlns:r="http://schemas.openxmlformats.org/officeDocument/2006/relationships" r:id="Rf585d20ef65947b6"/>
    </p:embeddedFont>
    <p:embeddedFont>
      <p:font typeface="Garet Bold"/>
      <p:regular xmlns:r="http://schemas.openxmlformats.org/officeDocument/2006/relationships" r:id="Rcbc48ce52d86418a"/>
      <p:bold xmlns:r="http://schemas.openxmlformats.org/officeDocument/2006/relationships" r:id="R01efa0e49178497c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e42cd1de1a14b28" /><Relationship Type="http://schemas.openxmlformats.org/officeDocument/2006/relationships/slideMaster" Target="/ppt/slideMasters/slideMaster1.xml" Id="R4ff3e6164a064ace" /><Relationship Type="http://schemas.openxmlformats.org/officeDocument/2006/relationships/notesMaster" Target="/ppt/notesMasters/notesMaster1.xml" Id="R78402d1b89db49db" /><Relationship Type="http://schemas.openxmlformats.org/officeDocument/2006/relationships/presProps" Target="/ppt/presProps.xml" Id="R3ef49512fbcd4c7c" /><Relationship Type="http://schemas.openxmlformats.org/officeDocument/2006/relationships/viewProps" Target="/ppt/viewProps.xml" Id="R57136a0a81ef477c" /><Relationship Type="http://schemas.openxmlformats.org/officeDocument/2006/relationships/tableStyles" Target="/ppt/tableStyles.xml" Id="Rd45465e3e18b4323" /><Relationship Type="http://schemas.openxmlformats.org/officeDocument/2006/relationships/font" Target="/ppt/fonts/font.dat" Id="Rf585d20ef65947b6" /><Relationship Type="http://schemas.openxmlformats.org/officeDocument/2006/relationships/font" Target="/ppt/fonts/font2.dat" Id="Rcbc48ce52d86418a" /><Relationship Type="http://schemas.openxmlformats.org/officeDocument/2006/relationships/font" Target="/ppt/fonts/font3.dat" Id="R01efa0e49178497c" /><Relationship Type="http://schemas.openxmlformats.org/officeDocument/2006/relationships/slide" Target="/ppt/slides/slide1.xml" Id="R00ab4a7621584ca4" /><Relationship Type="http://schemas.openxmlformats.org/officeDocument/2006/relationships/slide" Target="/ppt/slides/slide2.xml" Id="R6b774143d00640c2" /><Relationship Type="http://schemas.openxmlformats.org/officeDocument/2006/relationships/slide" Target="/ppt/slides/slide3.xml" Id="R83724c5f5f83465a" /><Relationship Type="http://schemas.openxmlformats.org/officeDocument/2006/relationships/slide" Target="/ppt/slides/slide4.xml" Id="Rb6a5dfd242de4e95" /><Relationship Type="http://schemas.openxmlformats.org/officeDocument/2006/relationships/slide" Target="/ppt/slides/slide5.xml" Id="R8075a21c6f804c03" /><Relationship Type="http://schemas.openxmlformats.org/officeDocument/2006/relationships/slide" Target="/ppt/slides/slide6.xml" Id="Rbe276473aabb4a35" /><Relationship Type="http://schemas.openxmlformats.org/officeDocument/2006/relationships/slide" Target="/ppt/slides/slide7.xml" Id="R218cdb3dbff740f5" /><Relationship Type="http://schemas.openxmlformats.org/officeDocument/2006/relationships/slide" Target="/ppt/slides/slide8.xml" Id="Rbebed030e8a7421b" /><Relationship Type="http://schemas.openxmlformats.org/officeDocument/2006/relationships/slide" Target="/ppt/slides/slide9.xml" Id="Rb63b3044febf41b2" /><Relationship Type="http://schemas.openxmlformats.org/officeDocument/2006/relationships/slide" Target="/ppt/slides/slide10.xml" Id="Rcb113658eb964c5c" /><Relationship Type="http://schemas.openxmlformats.org/officeDocument/2006/relationships/slide" Target="/ppt/slides/slide11.xml" Id="R07595637fbbe4656" /><Relationship Type="http://schemas.openxmlformats.org/officeDocument/2006/relationships/slide" Target="/ppt/slides/slide12.xml" Id="R22a40483451848a6" /><Relationship Type="http://schemas.openxmlformats.org/officeDocument/2006/relationships/slide" Target="/ppt/slides/slide13.xml" Id="Rd2c782cef8e6434e" /><Relationship Type="http://schemas.openxmlformats.org/officeDocument/2006/relationships/slide" Target="/ppt/slides/slide14.xml" Id="R8e0025f3022f4348" /><Relationship Type="http://schemas.openxmlformats.org/officeDocument/2006/relationships/slide" Target="/ppt/slides/slide15.xml" Id="Re0c4267ef816491c" /><Relationship Type="http://schemas.openxmlformats.org/officeDocument/2006/relationships/slide" Target="/ppt/slides/slide16.xml" Id="R12a75211a51c4613" /><Relationship Type="http://schemas.openxmlformats.org/officeDocument/2006/relationships/slide" Target="/ppt/slides/slide17.xml" Id="R4938035f6b6c4011" /><Relationship Type="http://schemas.openxmlformats.org/officeDocument/2006/relationships/slide" Target="/ppt/slides/slide18.xml" Id="R0a5beac08f1a431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ff7569bc45d4a1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22a77d63de54d91" /><Relationship Type="http://schemas.openxmlformats.org/officeDocument/2006/relationships/notesMaster" Target="/ppt/notesMasters/notesMaster1.xml" Id="R83ca59e6f55c479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51c1afde41c4873" /><Relationship Type="http://schemas.openxmlformats.org/officeDocument/2006/relationships/notesMaster" Target="/ppt/notesMasters/notesMaster1.xml" Id="Reb1dc5e3d83747b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05b70b8c87a4c07" /><Relationship Type="http://schemas.openxmlformats.org/officeDocument/2006/relationships/notesMaster" Target="/ppt/notesMasters/notesMaster1.xml" Id="Rfebdf9b3084d4c6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b1dccc0256945a5" /><Relationship Type="http://schemas.openxmlformats.org/officeDocument/2006/relationships/notesMaster" Target="/ppt/notesMasters/notesMaster1.xml" Id="Rd8c5c1d07fbe47f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51dfda9723c40cf" /><Relationship Type="http://schemas.openxmlformats.org/officeDocument/2006/relationships/notesMaster" Target="/ppt/notesMasters/notesMaster1.xml" Id="R09e8635d77e846b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f7232b2cfde4af7" /><Relationship Type="http://schemas.openxmlformats.org/officeDocument/2006/relationships/notesMaster" Target="/ppt/notesMasters/notesMaster1.xml" Id="R6e2c46d5d04746d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235a6d3d4ed4ca5" /><Relationship Type="http://schemas.openxmlformats.org/officeDocument/2006/relationships/notesMaster" Target="/ppt/notesMasters/notesMaster1.xml" Id="R5c9b2d6f3d0647a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3f89f8342474a86" /><Relationship Type="http://schemas.openxmlformats.org/officeDocument/2006/relationships/notesMaster" Target="/ppt/notesMasters/notesMaster1.xml" Id="R8d408ad36ad34a8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56029cc7295483c" /><Relationship Type="http://schemas.openxmlformats.org/officeDocument/2006/relationships/notesMaster" Target="/ppt/notesMasters/notesMaster1.xml" Id="Rc8f74f18dba6417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cd7fddaf4254189" /><Relationship Type="http://schemas.openxmlformats.org/officeDocument/2006/relationships/notesMaster" Target="/ppt/notesMasters/notesMaster1.xml" Id="R6d249e6cbeab47b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fae82f5163b4724" /><Relationship Type="http://schemas.openxmlformats.org/officeDocument/2006/relationships/notesMaster" Target="/ppt/notesMasters/notesMaster1.xml" Id="Rd5ac43bb2753458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a57ee66b6f54f9b" /><Relationship Type="http://schemas.openxmlformats.org/officeDocument/2006/relationships/notesMaster" Target="/ppt/notesMasters/notesMaster1.xml" Id="Rc599c4e80f5048b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fac8c30b598453d" /><Relationship Type="http://schemas.openxmlformats.org/officeDocument/2006/relationships/notesMaster" Target="/ppt/notesMasters/notesMaster1.xml" Id="R68a0a54d4a284c6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97147e4fe7f4b5f" /><Relationship Type="http://schemas.openxmlformats.org/officeDocument/2006/relationships/notesMaster" Target="/ppt/notesMasters/notesMaster1.xml" Id="R404e18b98c4840c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36b0c940fce4391" /><Relationship Type="http://schemas.openxmlformats.org/officeDocument/2006/relationships/notesMaster" Target="/ppt/notesMasters/notesMaster1.xml" Id="Rb597390ddd354df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bed5ac97d51466d" /><Relationship Type="http://schemas.openxmlformats.org/officeDocument/2006/relationships/notesMaster" Target="/ppt/notesMasters/notesMaster1.xml" Id="Ra01ba56919764c2c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e21993b89527456c" /><Relationship Type="http://schemas.openxmlformats.org/officeDocument/2006/relationships/notesMaster" Target="/ppt/notesMasters/notesMaster1.xml" Id="Rcfd3bfab0b0b49ed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b9d34547ff124a0e" /><Relationship Type="http://schemas.openxmlformats.org/officeDocument/2006/relationships/notesMaster" Target="/ppt/notesMasters/notesMaster1.xml" Id="R63c8dab99dbe425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project thesis: the value is not extraction alone; it is controlled information flow.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synthetic portfolio data, processed pipeline outputs, QA reports, risk outputs, and local Streamlit dashboard screenshots. All family-office data is synthetic.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why document fragmentation becomes a portfolio, liquidity, and governance problem.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synthetic portfolio data, processed pipeline outputs, QA reports, risk outputs, and local Streamlit dashboard screenshots. All family-office data is synthetic.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allocation chart to establish scale and the private-market dependency.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synthetic portfolio data, processed pipeline outputs, QA reports, risk outputs, and local Streamlit dashboard screenshots. All family-office data is synthetic.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Frame these as the direct output of the research, not generic technology principles.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synthetic portfolio data, processed pipeline outputs, QA reports, risk outputs, and local Streamlit dashboard screenshots. All family-office data is synthetic.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main workflow slide. Walk left to right and pause at the human review gate.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synthetic portfolio data, processed pipeline outputs, QA reports, risk outputs, and local Streamlit dashboard screenshots. All family-office data is synthetic.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Make personal contribution explicit across research, engineering, controls, dashboard and delivery.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synthetic portfolio data, processed pipeline outputs, QA reports, risk outputs, and local Streamlit dashboard screenshots. All family-office data is synthetic.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why the six documents are a controlled test set, not merely sample files.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synthetic portfolio data, processed pipeline outputs, QA reports, risk outputs, and local Streamlit dashboard screenshots. All family-office data is synthetic.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outcome is not a six-for-six automation rate. It is a controlled outcome: three applied, three blocked.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synthetic portfolio data, processed pipeline outputs, QA reports, risk outputs, and local Streamlit dashboard screenshots. All family-office data is synthetic.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Trace each approved and blocked document into the exact dashboard consequence.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synthetic portfolio data, processed pipeline outputs, QA reports, risk outputs, and local Streamlit dashboard screenshots. All family-office data is synthetic.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governance logic that prevents silent restatement.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synthetic portfolio data, processed pipeline outputs, QA reports, risk outputs, and local Streamlit dashboard screenshots. All family-office data is synthetic.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First explain the date and state boundary; then use allocation to orient the audience.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synthetic portfolio data, processed pipeline outputs, QA reports, risk outputs, and local Streamlit dashboard screenshots. All family-office data is synthetic.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stacked bars to show why capital calls and statements matter to liquidity and exposure.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synthetic portfolio data, processed pipeline outputs, QA reports, risk outputs, and local Streamlit dashboard screenshots. All family-office data is synthetic.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Connect PDF_003 to the projected inflow and the two capital calls to blocked obligations.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synthetic portfolio data, processed pipeline outputs, QA reports, risk outputs, and local Streamlit dashboard screenshots. All family-office data is synthetic.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State the model boundary explicitly: real proxy prices, synthetic holdings, directional risk.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synthetic portfolio data, processed pipeline outputs, QA reports, risk outputs, and local Streamlit dashboard screenshots. All family-office data is synthetic.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that the workflow page exposes evidence rather than hiding processing in the backend.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synthetic portfolio data, processed pipeline outputs, QA reports, risk outputs, and local Streamlit dashboard screenshots. All family-office data is synthetic.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Translate the same controlled data into three stakeholder decisions.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synthetic portfolio data, processed pipeline outputs, QA reports, risk outputs, and local Streamlit dashboard screenshots. All family-office data is synthetic.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Separate what is demonstrated from what a production deployment would still require.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synthetic portfolio data, processed pipeline outputs, QA reports, risk outputs, and local Streamlit dashboard screenshots. All family-office data is synthetic.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on the controlled information chain as the core project contribution.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synthetic portfolio data, processed pipeline outputs, QA reports, risk outputs, and local Streamlit dashboard screenshots. All family-office data is synthetic.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560e0213fe488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15b6bf582a46c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541fdcb2a5485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8f342ae52cb45e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423471c44574a9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0a0745ea0142de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661886f51e4eab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274e33b9f54f9d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5952d7a7ae43c7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8fad351b1e4b2e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59bb734f9d44ca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F13DCC3-1205-41E2-986A-3EDF0CA64E2D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CB594B47-9CDC-4E07-B057-83991E340EA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4C4932C8-4101-4D6F-8A69-59B86CBF645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5/27/26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20AFDB4-14AA-4711-920F-2006965D813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FF15037-8C09-4B42-8259-5BF4098E879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A4229B3-2ACC-4D35-BA9E-6BD26A5CC0F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41F9D8AB-7BD8-41B7-B92A-A0C93289415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7088F66-7A35-44B5-9896-F47ABFD8B08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5/27/26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9A82C84-8A74-4275-BE32-D4A58540F57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70E24BB-6B5C-46C1-AA1E-67CB863006B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4741E42-C40D-4C66-809B-EEB89EBFFCE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C42982AD-3733-469D-86BE-151C213A1FF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4FB978C0-0EE9-4E78-9FFA-9B0D76CB165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5/27/26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4B118E8-E348-4843-BBB9-9E6A42342F5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BD06BDF-D920-4943-80FF-86DC19E033B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AE07C3D-43BC-49BB-A63A-02D9FF22491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818360F-C74F-428E-AE26-4138394786A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3190EF7A-15A6-4F9C-B849-82224FB9EF1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5E2FE10D-5FC2-4C69-B2F4-F21B35DD004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5/27/26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B16F6BB6-716B-40EE-AB02-1C9D13E2914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4CCB6A4C-A008-43FF-870D-86468FDF43F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B30A5FB-7BA2-4251-BDFF-D380B63E20C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29DB67E-CFFC-46A9-8497-A636C4ED3F7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902469F1-1705-4DDA-B416-068E8D0357D9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F849A84D-8952-4490-B7B9-A8ED8D7161E1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E0A7D6AF-B756-4275-AA85-4AD33DFD16E1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1F9DB77E-CCD6-4CF8-99FA-18915297217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5/27/26</a:t>
            </a:fld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1320F1D0-4872-4455-AF4C-ED1CD65FF0E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9AD81FFA-359B-49D3-94D7-0C7BB17355F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B3A7A9B-1B38-4E6C-B5AB-355350578EF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AA816832-AF70-40D0-BC36-6CA23B2E8D1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5/27/26</a:t>
            </a:fld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78222BF1-C057-47B5-8B16-836C39566C3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66AD6A43-CB3A-4B0A-B1B1-B4BE2FAF8B4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37FA26CE-4819-485D-A513-7D758205FF0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5/27/26</a:t>
            </a:fld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85DAD066-5051-4761-A5EC-37E180DD8B7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7F2C82C3-D523-48EB-ABDC-B3DA25F7261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5519537-C658-4F03-A084-7CA84D22450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F436F35-1225-495F-BD4C-4F14EB31771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D24354F4-2D34-448E-8F71-7E7D368EB35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C6F1B1D4-53CC-471B-9F23-C7DD881270D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5/27/26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422FC1F1-42F9-4F3C-BF45-D7807EF7F6B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A92685C4-CA9A-4468-8684-F3D6BA1069D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7EECF56-6103-48BA-B22E-30A134A9DFF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776B0C55-85BA-426E-A417-3E8140C56647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FF70A2ED-615F-44B3-BC10-FD6AE61C6A1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3EA045C9-585E-4351-89C8-8288A9F4F62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5/27/26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3059679E-C1E7-4504-BB4E-EF0FC95481A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C2D09ECA-D33F-4DC7-B868-FF96523BF32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D0497AD-E084-456F-84CC-542394D5386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2A3B3948-D456-45D0-A02F-5FE1059DDA2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A391035-5B7C-4E8B-A899-5C404699BE9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5/27/26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AEAEAC6-1818-48BB-AF54-A2D71255926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914183B-1932-4C3C-B502-F713DA09057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CCE07A9D-691A-4F1D-9688-724DB114341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B697BE96-1500-44C2-8876-10F360919C3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51BDEB3-716C-486E-89BB-E21675AC2DF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5/27/26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1DB572E-E93E-4EB2-A102-4CA8947E1DE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CA330D7-7436-45E7-A05F-71DB153E022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175a7e8c38e4cd2" /><Relationship Type="http://schemas.openxmlformats.org/officeDocument/2006/relationships/slideLayout" Target="/ppt/slideLayouts/slideLayout1.xml" Id="Rb6d8c2b0875147c3" /><Relationship Type="http://schemas.openxmlformats.org/officeDocument/2006/relationships/slideLayout" Target="/ppt/slideLayouts/slideLayout2.xml" Id="R015561342fd84cf1" /><Relationship Type="http://schemas.openxmlformats.org/officeDocument/2006/relationships/slideLayout" Target="/ppt/slideLayouts/slideLayout3.xml" Id="R1649b09b8c44469f" /><Relationship Type="http://schemas.openxmlformats.org/officeDocument/2006/relationships/slideLayout" Target="/ppt/slideLayouts/slideLayout4.xml" Id="R72a3e77fc34a49a8" /><Relationship Type="http://schemas.openxmlformats.org/officeDocument/2006/relationships/slideLayout" Target="/ppt/slideLayouts/slideLayout5.xml" Id="R3266af1d57374a25" /><Relationship Type="http://schemas.openxmlformats.org/officeDocument/2006/relationships/slideLayout" Target="/ppt/slideLayouts/slideLayout6.xml" Id="R48b9c3bb6ca447c8" /><Relationship Type="http://schemas.openxmlformats.org/officeDocument/2006/relationships/slideLayout" Target="/ppt/slideLayouts/slideLayout7.xml" Id="R90581364cf8a4f9c" /><Relationship Type="http://schemas.openxmlformats.org/officeDocument/2006/relationships/slideLayout" Target="/ppt/slideLayouts/slideLayout8.xml" Id="R5105c1f6987845f0" /><Relationship Type="http://schemas.openxmlformats.org/officeDocument/2006/relationships/slideLayout" Target="/ppt/slideLayouts/slideLayout9.xml" Id="Ra780d33e57764733" /><Relationship Type="http://schemas.openxmlformats.org/officeDocument/2006/relationships/slideLayout" Target="/ppt/slideLayouts/slideLayout10.xml" Id="R085bb5cb3132436d" /><Relationship Type="http://schemas.openxmlformats.org/officeDocument/2006/relationships/slideLayout" Target="/ppt/slideLayouts/slideLayout11.xml" Id="Rd1bab65053154117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FA687CE0-E262-417E-9B19-4F8C927FC79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AEFA3495-1370-4782-B89F-D6D9CD68238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FB600C3-1759-4837-8E5D-A1D947BDBB42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1D8BD707-D9CF-40AE-B4C6-C98DA3205C09}" type="datetimeFigureOut">
              <a:t>5/27/26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D756F1A-F2CC-4652-ABD6-E4E8594C4F04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F008E2A-53A5-48D8-9A56-22814A8ACD4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B6F15528-21DE-4FAA-801E-634DDDAF4B2B}" type="slidenum"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6d8c2b0875147c3"/>
    <p:sldLayoutId xmlns:r="http://schemas.openxmlformats.org/officeDocument/2006/relationships" id="2147483650" r:id="R015561342fd84cf1"/>
    <p:sldLayoutId xmlns:r="http://schemas.openxmlformats.org/officeDocument/2006/relationships" id="2147483651" r:id="R1649b09b8c44469f"/>
    <p:sldLayoutId xmlns:r="http://schemas.openxmlformats.org/officeDocument/2006/relationships" id="2147483652" r:id="R72a3e77fc34a49a8"/>
    <p:sldLayoutId xmlns:r="http://schemas.openxmlformats.org/officeDocument/2006/relationships" id="2147483653" r:id="R3266af1d57374a25"/>
    <p:sldLayoutId xmlns:r="http://schemas.openxmlformats.org/officeDocument/2006/relationships" id="2147483654" r:id="R48b9c3bb6ca447c8"/>
    <p:sldLayoutId xmlns:r="http://schemas.openxmlformats.org/officeDocument/2006/relationships" id="2147483655" r:id="R90581364cf8a4f9c"/>
    <p:sldLayoutId xmlns:r="http://schemas.openxmlformats.org/officeDocument/2006/relationships" id="2147483656" r:id="R5105c1f6987845f0"/>
    <p:sldLayoutId xmlns:r="http://schemas.openxmlformats.org/officeDocument/2006/relationships" id="2147483657" r:id="Ra780d33e57764733"/>
    <p:sldLayoutId xmlns:r="http://schemas.openxmlformats.org/officeDocument/2006/relationships" id="2147483658" r:id="R085bb5cb3132436d"/>
    <p:sldLayoutId xmlns:r="http://schemas.openxmlformats.org/officeDocument/2006/relationships" id="2147483659" r:id="Rd1bab65053154117"/>
  </p:sldLayoutIdLst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58ffa4e6b0845fd" /><Relationship Type="http://schemas.openxmlformats.org/officeDocument/2006/relationships/notesSlide" Target="/ppt/notesSlides/notesSlide1.xml" Id="R08ae2e6606c34ce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ae573ed234c4062" /><Relationship Type="http://schemas.openxmlformats.org/officeDocument/2006/relationships/notesSlide" Target="/ppt/notesSlides/notesSlide2.xml" Id="R62bd4b72d87f4af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2805e57ad2f4e1b" /><Relationship Type="http://schemas.openxmlformats.org/officeDocument/2006/relationships/chart" Target="/ppt/slides/charts/chart1.xml" Id="R47505d42f15c4281" /><Relationship Type="http://schemas.openxmlformats.org/officeDocument/2006/relationships/notesSlide" Target="/ppt/notesSlides/notesSlide3.xml" Id="Re4d740b4cd2f427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f70b7e2a0ac4d50" /><Relationship Type="http://schemas.openxmlformats.org/officeDocument/2006/relationships/notesSlide" Target="/ppt/notesSlides/notesSlide4.xml" Id="Rdb55304363e74cf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b7b88dc8a9e4201" /><Relationship Type="http://schemas.openxmlformats.org/officeDocument/2006/relationships/notesSlide" Target="/ppt/notesSlides/notesSlide5.xml" Id="R927d64604b52426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6a38a43cc9a4108" /><Relationship Type="http://schemas.openxmlformats.org/officeDocument/2006/relationships/notesSlide" Target="/ppt/notesSlides/notesSlide6.xml" Id="Rbc85a012f4dd4fe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d5917f649b64565" /><Relationship Type="http://schemas.openxmlformats.org/officeDocument/2006/relationships/notesSlide" Target="/ppt/notesSlides/notesSlide7.xml" Id="Ra6cce232551e4c4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c0dbb38d29f4ada" /><Relationship Type="http://schemas.openxmlformats.org/officeDocument/2006/relationships/chart" Target="/ppt/slides/charts/chart2.xml" Id="R9c929dd21e4749b7" /><Relationship Type="http://schemas.openxmlformats.org/officeDocument/2006/relationships/notesSlide" Target="/ppt/notesSlides/notesSlide8.xml" Id="Ra24f3770c1a642f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f148d9db0d2483b" /><Relationship Type="http://schemas.openxmlformats.org/officeDocument/2006/relationships/notesSlide" Target="/ppt/notesSlides/notesSlide9.xml" Id="Re017ccd8c517412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1b627654f5d4a8e" /><Relationship Type="http://schemas.openxmlformats.org/officeDocument/2006/relationships/notesSlide" Target="/ppt/notesSlides/notesSlide10.xml" Id="R5614a3a2197141a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b864d8e3e6749a7" /><Relationship Type="http://schemas.openxmlformats.org/officeDocument/2006/relationships/image" Target="/ppt/media/image.jpeg" Id="Rd0a1b8842ff8470b" /><Relationship Type="http://schemas.openxmlformats.org/officeDocument/2006/relationships/chart" Target="/ppt/slides/charts/chart3.xml" Id="Rfaba87d8fe274be2" /><Relationship Type="http://schemas.openxmlformats.org/officeDocument/2006/relationships/notesSlide" Target="/ppt/notesSlides/notesSlide11.xml" Id="R3c8c86db7d6743e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b85de5cd4304b34" /><Relationship Type="http://schemas.openxmlformats.org/officeDocument/2006/relationships/chart" Target="/ppt/slides/charts/chart4.xml" Id="R7bac4f85ec5f48b7" /><Relationship Type="http://schemas.openxmlformats.org/officeDocument/2006/relationships/image" Target="/ppt/media/image2.jpeg" Id="R80eee6035cf04ee5" /><Relationship Type="http://schemas.openxmlformats.org/officeDocument/2006/relationships/notesSlide" Target="/ppt/notesSlides/notesSlide12.xml" Id="R1e7d770d30914d8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5e054c9bbab403a" /><Relationship Type="http://schemas.openxmlformats.org/officeDocument/2006/relationships/image" Target="/ppt/media/image3.jpeg" Id="R2e22fabf20d54a68" /><Relationship Type="http://schemas.openxmlformats.org/officeDocument/2006/relationships/notesSlide" Target="/ppt/notesSlides/notesSlide13.xml" Id="R48114a334ec4479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d5d0e28171b4554" /><Relationship Type="http://schemas.openxmlformats.org/officeDocument/2006/relationships/chart" Target="/ppt/slides/charts/chart5.xml" Id="Rce82e36850e34941" /><Relationship Type="http://schemas.openxmlformats.org/officeDocument/2006/relationships/image" Target="/ppt/media/image4.jpeg" Id="R47c5611fbd204eca" /><Relationship Type="http://schemas.openxmlformats.org/officeDocument/2006/relationships/notesSlide" Target="/ppt/notesSlides/notesSlide14.xml" Id="R6f3795d7ec5d47c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0be5577e5b143a3" /><Relationship Type="http://schemas.openxmlformats.org/officeDocument/2006/relationships/image" Target="/ppt/media/image5.jpeg" Id="Rc11dc7c4ecdd4e42" /><Relationship Type="http://schemas.openxmlformats.org/officeDocument/2006/relationships/notesSlide" Target="/ppt/notesSlides/notesSlide15.xml" Id="R836db360ec614ae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7090346e92b4f8b" /><Relationship Type="http://schemas.openxmlformats.org/officeDocument/2006/relationships/notesSlide" Target="/ppt/notesSlides/notesSlide16.xml" Id="R020419c72f234dc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747e82f3d40447f" /><Relationship Type="http://schemas.openxmlformats.org/officeDocument/2006/relationships/notesSlide" Target="/ppt/notesSlides/notesSlide17.xml" Id="R596af4a9685d4eb6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df54feeeeab41e6" /><Relationship Type="http://schemas.openxmlformats.org/officeDocument/2006/relationships/notesSlide" Target="/ppt/notesSlides/notesSlide18.xml" Id="Re125b4c7807947c3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USD m</c:v>
          </c:tx>
          <c:spPr>
            <a:solidFill xmlns:a="http://schemas.openxmlformats.org/drawingml/2006/main">
              <a:srgbClr val="21D52B"/>
            </a:solidFill>
          </c:spPr>
          <c:cat>
            <c:strLit>
              <c:ptCount val="9"/>
              <c:pt idx="0">
                <c:v>Public equities</c:v>
              </c:pt>
              <c:pt idx="1">
                <c:v>Private equity</c:v>
              </c:pt>
              <c:pt idx="2">
                <c:v>Fixed income</c:v>
              </c:pt>
              <c:pt idx="3">
                <c:v>Hedge funds</c:v>
              </c:pt>
              <c:pt idx="4">
                <c:v>Venture / growth</c:v>
              </c:pt>
              <c:pt idx="5">
                <c:v>Private credit</c:v>
              </c:pt>
              <c:pt idx="6">
                <c:v>Real estate</c:v>
              </c:pt>
              <c:pt idx="7">
                <c:v>Infrastructure</c:v>
              </c:pt>
              <c:pt idx="8">
                <c:v>Cash</c:v>
              </c:pt>
            </c:strLit>
          </c:cat>
          <c:val>
            <c:numLit>
              <c:formatCode>General</c:formatCode>
              <c:ptCount val="9"/>
              <c:pt idx="0">
                <c:v>209.5</c:v>
              </c:pt>
              <c:pt idx="1">
                <c:v>135</c:v>
              </c:pt>
              <c:pt idx="2">
                <c:v>83</c:v>
              </c:pt>
              <c:pt idx="3">
                <c:v>75</c:v>
              </c:pt>
              <c:pt idx="4">
                <c:v>75</c:v>
              </c:pt>
              <c:pt idx="5">
                <c:v>67.5</c:v>
              </c:pt>
              <c:pt idx="6">
                <c:v>52.5</c:v>
              </c:pt>
              <c:pt idx="7">
                <c:v>30</c:v>
              </c:pt>
              <c:pt idx="8">
                <c:v>22.5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majorGridlines>
          <c:spPr>
            <a:ln xmlns:a="http://schemas.openxmlformats.org/drawingml/2006/main" w="9525">
              <a:solidFill>
                <a:srgbClr val="29402E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charts/chart2.xml><?xml version="1.0" encoding="utf-8"?>
<c:chartSpace xmlns:c="http://schemas.openxmlformats.org/drawingml/2006/chart">
  <c:lang val="en-US"/>
  <c:chart>
    <c:plotArea>
      <c:doughnutChart>
        <c:ser>
          <c:idx val="0"/>
          <c:order val="0"/>
          <c:tx>
            <c:v>Documents</c:v>
          </c:tx>
          <c:cat>
            <c:strLit>
              <c:ptCount val="3"/>
              <c:pt idx="0">
                <c:v>Approved</c:v>
              </c:pt>
              <c:pt idx="1">
                <c:v>Needs review</c:v>
              </c:pt>
              <c:pt idx="2">
                <c:v>Rejected</c:v>
              </c:pt>
            </c:strLit>
          </c:cat>
          <c:val>
            <c:numLit>
              <c:formatCode>General</c:formatCode>
              <c:ptCount val="3"/>
              <c:pt idx="0">
                <c:v>3</c:v>
              </c:pt>
              <c:pt idx="1">
                <c:v>2</c:v>
              </c:pt>
              <c:pt idx="2">
                <c:v>1</c:v>
              </c:pt>
            </c:numLit>
          </c:val>
        </c:ser>
        <c:dLbls>
          <c:dLblPos val="outEnd"/>
          <c:showLegendKey val="0"/>
          <c:showVal val="1"/>
          <c:showCatName val="1"/>
          <c:showSerName val="0"/>
          <c:showPercent val="0"/>
          <c:showBubbleSize val="0"/>
          <c:showLeaderLines val="0"/>
        </c:dLbls>
      </c:doughnutChart>
    </c:plotArea>
    <c:legend>
      <c:legendPos val="b"/>
      <c:overlay val="0"/>
    </c:legend>
    <c:plotVisOnly val="1"/>
  </c:chart>
</c:chartSpace>
</file>

<file path=ppt/slides/charts/chart3.xml><?xml version="1.0" encoding="utf-8"?>
<c:chartSpace xmlns:c="http://schemas.openxmlformats.org/drawingml/2006/chart">
  <c:lang val="en-US"/>
  <c:chart>
    <c:plotArea>
      <c:doughnutChart>
        <c:ser>
          <c:idx val="0"/>
          <c:order val="0"/>
          <c:tx>
            <c:v>USD m</c:v>
          </c:tx>
          <c:cat>
            <c:strLit>
              <c:ptCount val="9"/>
              <c:pt idx="0">
                <c:v>Public equity</c:v>
              </c:pt>
              <c:pt idx="1">
                <c:v>Private equity</c:v>
              </c:pt>
              <c:pt idx="2">
                <c:v>Fixed income</c:v>
              </c:pt>
              <c:pt idx="3">
                <c:v>Hedge funds</c:v>
              </c:pt>
              <c:pt idx="4">
                <c:v>VC / growth</c:v>
              </c:pt>
              <c:pt idx="5">
                <c:v>Private credit</c:v>
              </c:pt>
              <c:pt idx="6">
                <c:v>Real estate</c:v>
              </c:pt>
              <c:pt idx="7">
                <c:v>Infrastructure</c:v>
              </c:pt>
              <c:pt idx="8">
                <c:v>Cash</c:v>
              </c:pt>
            </c:strLit>
          </c:cat>
          <c:val>
            <c:numLit>
              <c:formatCode>General</c:formatCode>
              <c:ptCount val="9"/>
              <c:pt idx="0">
                <c:v>209.5</c:v>
              </c:pt>
              <c:pt idx="1">
                <c:v>135</c:v>
              </c:pt>
              <c:pt idx="2">
                <c:v>83</c:v>
              </c:pt>
              <c:pt idx="3">
                <c:v>75</c:v>
              </c:pt>
              <c:pt idx="4">
                <c:v>75</c:v>
              </c:pt>
              <c:pt idx="5">
                <c:v>67.5</c:v>
              </c:pt>
              <c:pt idx="6">
                <c:v>52.5</c:v>
              </c:pt>
              <c:pt idx="7">
                <c:v>30</c:v>
              </c:pt>
              <c:pt idx="8">
                <c:v>22.5</c:v>
              </c:pt>
            </c:numLit>
          </c:val>
        </c:ser>
        <c:dLbls>
          <c:dLblPos val="bestFit"/>
          <c:showLegendKey val="0"/>
          <c:showVal val="0"/>
          <c:showCatName val="0"/>
          <c:showSerName val="0"/>
          <c:showPercent val="1"/>
          <c:showBubbleSize val="0"/>
          <c:showLeaderLines val="0"/>
        </c:dLbls>
      </c:doughnutChart>
    </c:plotArea>
    <c:legend>
      <c:legendPos val="r"/>
      <c:overlay val="0"/>
    </c:legend>
    <c:plotVisOnly val="1"/>
  </c:chart>
</c:chartSpace>
</file>

<file path=ppt/slides/charts/chart4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Paid-in</c:v>
          </c:tx>
          <c:spPr>
            <a:solidFill xmlns:a="http://schemas.openxmlformats.org/drawingml/2006/main">
              <a:srgbClr val="00A813"/>
            </a:solidFill>
          </c:spPr>
          <c:cat>
            <c:strLit>
              <c:ptCount val="5"/>
              <c:pt idx="0">
                <c:v>Private equity</c:v>
              </c:pt>
              <c:pt idx="1">
                <c:v>VC / growth</c:v>
              </c:pt>
              <c:pt idx="2">
                <c:v>Private credit</c:v>
              </c:pt>
              <c:pt idx="3">
                <c:v>Real estate</c:v>
              </c:pt>
              <c:pt idx="4">
                <c:v>Infrastructure</c:v>
              </c:pt>
            </c:strLit>
          </c:cat>
          <c:val>
            <c:numLit>
              <c:formatCode>General</c:formatCode>
              <c:ptCount val="5"/>
              <c:pt idx="0">
                <c:v>130</c:v>
              </c:pt>
              <c:pt idx="1">
                <c:v>75</c:v>
              </c:pt>
              <c:pt idx="2">
                <c:v>65</c:v>
              </c:pt>
              <c:pt idx="3">
                <c:v>60</c:v>
              </c:pt>
              <c:pt idx="4">
                <c:v>35</c:v>
              </c:pt>
            </c:numLit>
          </c:val>
        </c:ser>
        <c:ser>
          <c:idx val="1"/>
          <c:order val="1"/>
          <c:tx>
            <c:v>Unfunded</c:v>
          </c:tx>
          <c:spPr>
            <a:solidFill xmlns:a="http://schemas.openxmlformats.org/drawingml/2006/main">
              <a:srgbClr val="BFD8C1"/>
            </a:solidFill>
          </c:spPr>
          <c:cat>
            <c:strLit>
              <c:ptCount val="5"/>
              <c:pt idx="0">
                <c:v>Private equity</c:v>
              </c:pt>
              <c:pt idx="1">
                <c:v>VC / growth</c:v>
              </c:pt>
              <c:pt idx="2">
                <c:v>Private credit</c:v>
              </c:pt>
              <c:pt idx="3">
                <c:v>Real estate</c:v>
              </c:pt>
              <c:pt idx="4">
                <c:v>Infrastructure</c:v>
              </c:pt>
            </c:strLit>
          </c:cat>
          <c:val>
            <c:numLit>
              <c:formatCode>General</c:formatCode>
              <c:ptCount val="5"/>
              <c:pt idx="0">
                <c:v>50</c:v>
              </c:pt>
              <c:pt idx="1">
                <c:v>45</c:v>
              </c:pt>
              <c:pt idx="2">
                <c:v>20</c:v>
              </c:pt>
              <c:pt idx="3">
                <c:v>15</c:v>
              </c:pt>
              <c:pt idx="4">
                <c:v>5</c:v>
              </c:pt>
            </c:numLit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legend>
      <c:legendPos val="b"/>
      <c:overlay val="0"/>
    </c:legend>
    <c:plotVisOnly val="1"/>
  </c:chart>
</c:chartSpace>
</file>

<file path=ppt/slides/charts/chart5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Annualized volatility</c:v>
          </c:tx>
          <c:spPr>
            <a:solidFill xmlns:a="http://schemas.openxmlformats.org/drawingml/2006/main">
              <a:srgbClr val="4776D0"/>
            </a:solidFill>
          </c:spPr>
          <c:cat>
            <c:strLit>
              <c:ptCount val="8"/>
              <c:pt idx="0">
                <c:v>PDD</c:v>
              </c:pt>
              <c:pt idx="1">
                <c:v>NVDA</c:v>
              </c:pt>
              <c:pt idx="2">
                <c:v>JD</c:v>
              </c:pt>
              <c:pt idx="3">
                <c:v>BABA</c:v>
              </c:pt>
              <c:pt idx="4">
                <c:v>3067.HK</c:v>
              </c:pt>
              <c:pt idx="5">
                <c:v>EWY</c:v>
              </c:pt>
              <c:pt idx="6">
                <c:v>GOOGL</c:v>
              </c:pt>
              <c:pt idx="7">
                <c:v>CNYA</c:v>
              </c:pt>
            </c:strLit>
          </c:cat>
          <c:val>
            <c:numLit>
              <c:formatCode>General</c:formatCode>
              <c:ptCount val="8"/>
              <c:pt idx="0">
                <c:v>65.6</c:v>
              </c:pt>
              <c:pt idx="1">
                <c:v>46.9</c:v>
              </c:pt>
              <c:pt idx="2">
                <c:v>44</c:v>
              </c:pt>
              <c:pt idx="3">
                <c:v>41.8</c:v>
              </c:pt>
              <c:pt idx="4">
                <c:v>35</c:v>
              </c:pt>
              <c:pt idx="5">
                <c:v>29</c:v>
              </c:pt>
              <c:pt idx="6">
                <c:v>27</c:v>
              </c:pt>
              <c:pt idx="7">
                <c:v>21.4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3080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B7A970-7D5B-48CB-B509-7E3019D23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76300"/>
            <a:ext cx="666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1D52B"/>
                </a:solidFill>
              </a:defRPr>
            </a:pPr>
            <a:r>
              <a:rPr sz="1350" b="1">
                <a:solidFill>
                  <a:srgbClr val="21D52B"/>
                </a:solidFill>
              </a:rPr>
              <a:t>AI-POWERED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EA3549-533D-4F88-8F37-ED8DF6B61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24000"/>
            <a:ext cx="10287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FFFFFF"/>
                </a:solidFill>
              </a:defRPr>
            </a:pPr>
            <a:r>
              <a:rPr sz="5400" b="1">
                <a:solidFill>
                  <a:srgbClr val="FFFFFF"/>
                </a:solidFill>
              </a:rPr>
              <a:t>Family Office</a:t>
            </a:r>
          </a:p>
          <a:p xmlns:a="http://schemas.openxmlformats.org/drawingml/2006/main">
            <a:pPr algn="l">
              <a:defRPr sz="5400" b="1">
                <a:solidFill>
                  <a:srgbClr val="FFFFFF"/>
                </a:solidFill>
              </a:defRPr>
            </a:pPr>
            <a:r>
              <a:rPr sz="5400" b="1">
                <a:solidFill>
                  <a:srgbClr val="FFFFFF"/>
                </a:solidFill>
              </a:rPr>
              <a:t>Portfolio Dashboard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0DD651-3F69-4A13-A781-4E66801F5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91000"/>
            <a:ext cx="9048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DDE7DF"/>
                </a:solidFill>
              </a:defRPr>
            </a:pPr>
            <a:r>
              <a:rPr sz="2025" b="0">
                <a:solidFill>
                  <a:srgbClr val="DDE7DF"/>
                </a:solidFill>
              </a:rPr>
              <a:t>A controlled document-to-portfolio decision-support proof of concept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D36046-4192-46FB-AF21-93A139A95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1562100"/>
            <a:ext cx="171450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02016"/>
          </a:solidFill>
          <a:ln xmlns:a="http://schemas.openxmlformats.org/drawingml/2006/main" w="19050">
            <a:solidFill>
              <a:srgbClr val="21D52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PDF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71ACC3-5CEC-40A2-82EA-9D3A6DC3B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35125" y="1562100"/>
            <a:ext cx="257175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02016"/>
          </a:solidFill>
          <a:ln xmlns:a="http://schemas.openxmlformats.org/drawingml/2006/main" w="19050">
            <a:solidFill>
              <a:srgbClr val="21D52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AI EXTRACTION</a:t>
            </a:r>
          </a:p>
        </p:txBody>
      </p:sp>
      <p:cxnSp>
        <p:nvCxnSpPr>
          <p:cNvPr id="17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13716000" y="2000250"/>
            <a:ext cx="6191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1D52B"/>
            </a:solidFill>
            <a:prstDash val="solid"/>
            <a:headEnd type="arrow" w="med" len="me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0F1E54-FA8C-47FF-BCFA-5FCA69434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3143250"/>
            <a:ext cx="247650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02016"/>
          </a:solidFill>
          <a:ln xmlns:a="http://schemas.openxmlformats.org/drawingml/2006/main" w="19050">
            <a:solidFill>
              <a:srgbClr val="21D52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CONTROL GATE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D72696-DCEA-4C85-ADD2-0ACA7AD38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0" y="3143250"/>
            <a:ext cx="200025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21D52B"/>
          </a:solidFill>
          <a:ln xmlns:a="http://schemas.openxmlformats.org/drawingml/2006/main" w="19050">
            <a:solidFill>
              <a:srgbClr val="21D52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30806"/>
                </a:solidFill>
              </a:defRPr>
            </a:pPr>
            <a:r>
              <a:rPr sz="1800" b="1">
                <a:solidFill>
                  <a:srgbClr val="030806"/>
                </a:solidFill>
              </a:rPr>
              <a:t>DASHBOARD</a:t>
            </a:r>
          </a:p>
        </p:txBody>
      </p:sp>
      <p:cxnSp>
        <p:nvCxnSpPr>
          <p:cNvPr id="20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4478000" y="3581400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1D52B"/>
            </a:solidFill>
            <a:prstDash val="solid"/>
            <a:headEnd type="arrow" w="med" len="me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E6E994-D2F3-4695-9DE6-2FB4CAC8B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8763000"/>
            <a:ext cx="619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Yang Shu  ·  29 July 2026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1D486B-0B93-4C60-ABED-91D5E8CA9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7524750"/>
            <a:ext cx="5143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850" b="1">
                <a:solidFill>
                  <a:srgbClr val="21D52B"/>
                </a:solidFill>
              </a:defRPr>
            </a:pPr>
            <a:r>
              <a:rPr sz="2850" b="1">
                <a:solidFill>
                  <a:srgbClr val="21D52B"/>
                </a:solidFill>
              </a:rPr>
              <a:t>CONTROL THE FLOW</a:t>
            </a:r>
          </a:p>
        </p:txBody>
      </p:sp>
    </p:spTree>
    <p:extLst>
      <p:ext uri="{BB962C8B-B14F-4D97-AF65-F5344CB8AC3E}">
        <p14:creationId xmlns:p14="http://schemas.microsoft.com/office/powerpoint/2010/main" val="197026090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9404DC-C1E7-4BFB-BCEF-ACAD26776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815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A813"/>
                </a:solidFill>
              </a:defRPr>
            </a:pPr>
            <a:r>
              <a:rPr sz="1125" b="1">
                <a:solidFill>
                  <a:srgbClr val="00A813"/>
                </a:solidFill>
              </a:rPr>
              <a:t>1 · CORE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6BE703-15ED-4493-A775-A00EBF085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19150"/>
            <a:ext cx="166116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713"/>
                </a:solidFill>
              </a:defRPr>
            </a:pPr>
            <a:r>
              <a:rPr sz="3000" b="1">
                <a:solidFill>
                  <a:srgbClr val="111713"/>
                </a:solidFill>
              </a:rPr>
              <a:t>The reporting bottleneck is an uncontrolled data 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5A8ED8-8C16-46DF-99B6-08AFB7101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43075"/>
            <a:ext cx="16611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4E9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D44863-085B-4EE2-BA83-1A1C3FD4A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190875"/>
            <a:ext cx="3333750" cy="209550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9C5B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713"/>
                </a:solidFill>
              </a:defRPr>
            </a:pPr>
            <a:r>
              <a:rPr sz="1650" b="1">
                <a:solidFill>
                  <a:srgbClr val="111713"/>
                </a:solidFill>
              </a:rPr>
              <a:t>Manager PDFs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650" b="1">
                <a:solidFill>
                  <a:srgbClr val="111713"/>
                </a:solidFill>
              </a:defRPr>
            </a:pPr>
            <a:r>
              <a:rPr sz="1650" b="1">
                <a:solidFill>
                  <a:srgbClr val="111713"/>
                </a:solidFill>
              </a:rPr>
              <a:t>Different formats</a:t>
            </a:r>
          </a:p>
          <a:p xmlns:a="http://schemas.openxmlformats.org/drawingml/2006/main">
            <a:pPr algn="ctr">
              <a:defRPr sz="1650" b="1">
                <a:solidFill>
                  <a:srgbClr val="111713"/>
                </a:solidFill>
              </a:defRPr>
            </a:pPr>
            <a:r>
              <a:rPr sz="1650" b="1">
                <a:solidFill>
                  <a:srgbClr val="111713"/>
                </a:solidFill>
              </a:rPr>
              <a:t>Different schedules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39CE34-9CC4-49BE-98D9-6514ACEFB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190875"/>
            <a:ext cx="3333750" cy="209550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9C5B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713"/>
                </a:solidFill>
              </a:defRPr>
            </a:pPr>
            <a:r>
              <a:rPr sz="1650" b="1">
                <a:solidFill>
                  <a:srgbClr val="111713"/>
                </a:solidFill>
              </a:rPr>
              <a:t>Manual re-keying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650" b="1">
                <a:solidFill>
                  <a:srgbClr val="111713"/>
                </a:solidFill>
              </a:defRPr>
            </a:pPr>
            <a:r>
              <a:rPr sz="1650" b="1">
                <a:solidFill>
                  <a:srgbClr val="111713"/>
                </a:solidFill>
              </a:rPr>
              <a:t>Amounts · dates · NAV</a:t>
            </a:r>
          </a:p>
          <a:p xmlns:a="http://schemas.openxmlformats.org/drawingml/2006/main">
            <a:pPr algn="ctr">
              <a:defRPr sz="1650" b="1">
                <a:solidFill>
                  <a:srgbClr val="111713"/>
                </a:solidFill>
              </a:defRPr>
            </a:pPr>
            <a:r>
              <a:rPr sz="1650" b="1">
                <a:solidFill>
                  <a:srgbClr val="111713"/>
                </a:solidFill>
              </a:rPr>
              <a:t>Commitments · commentary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D2911C-6E86-49F0-8703-DCF789ABE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190875"/>
            <a:ext cx="3333750" cy="209550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9C5B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713"/>
                </a:solidFill>
              </a:defRPr>
            </a:pPr>
            <a:r>
              <a:rPr sz="1650" b="1">
                <a:solidFill>
                  <a:srgbClr val="111713"/>
                </a:solidFill>
              </a:rPr>
              <a:t>Spreadsheet reconciliation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650" b="1">
                <a:solidFill>
                  <a:srgbClr val="111713"/>
                </a:solidFill>
              </a:defRPr>
            </a:pPr>
            <a:r>
              <a:rPr sz="1650" b="1">
                <a:solidFill>
                  <a:srgbClr val="111713"/>
                </a:solidFill>
              </a:rPr>
              <a:t>Multiple versions</a:t>
            </a:r>
          </a:p>
          <a:p xmlns:a="http://schemas.openxmlformats.org/drawingml/2006/main">
            <a:pPr algn="ctr">
              <a:defRPr sz="1650" b="1">
                <a:solidFill>
                  <a:srgbClr val="111713"/>
                </a:solidFill>
              </a:defRPr>
            </a:pPr>
            <a:r>
              <a:rPr sz="1650" b="1">
                <a:solidFill>
                  <a:srgbClr val="111713"/>
                </a:solidFill>
              </a:rPr>
              <a:t>Weak lineage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D64392-C354-4984-9B09-1958E744D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6450" y="3190875"/>
            <a:ext cx="3333750" cy="209550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E8F7E9"/>
          </a:solidFill>
          <a:ln xmlns:a="http://schemas.openxmlformats.org/drawingml/2006/main" w="19050">
            <a:solidFill>
              <a:srgbClr val="00A81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713"/>
                </a:solidFill>
              </a:defRPr>
            </a:pPr>
            <a:r>
              <a:rPr sz="1650" b="1">
                <a:solidFill>
                  <a:srgbClr val="111713"/>
                </a:solidFill>
              </a:rPr>
              <a:t>Late decision views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650" b="1">
                <a:solidFill>
                  <a:srgbClr val="111713"/>
                </a:solidFill>
              </a:defRPr>
            </a:pPr>
            <a:r>
              <a:rPr sz="1650" b="1">
                <a:solidFill>
                  <a:srgbClr val="111713"/>
                </a:solidFill>
              </a:rPr>
              <a:t>Liquidity and risk</a:t>
            </a:r>
          </a:p>
          <a:p xmlns:a="http://schemas.openxmlformats.org/drawingml/2006/main">
            <a:pPr algn="ctr">
              <a:defRPr sz="1650" b="1">
                <a:solidFill>
                  <a:srgbClr val="111713"/>
                </a:solidFill>
              </a:defRPr>
            </a:pPr>
            <a:r>
              <a:rPr sz="1650" b="1">
                <a:solidFill>
                  <a:srgbClr val="111713"/>
                </a:solidFill>
              </a:rPr>
              <a:t>arrive after the fact</a:t>
            </a:r>
          </a:p>
        </p:txBody>
      </p:sp>
      <p:cxnSp>
        <p:nvCxnSpPr>
          <p:cNvPr id="22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4267200" y="4238625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8A968D"/>
            </a:solidFill>
            <a:prstDash val="solid"/>
            <a:headEnd type="arrow" w="med" len="med"/>
          </a:ln>
        </p:spPr>
      </p:cxnSp>
      <p:cxnSp>
        <p:nvCxnSpPr>
          <p:cNvPr id="23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8458200" y="4238625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8A968D"/>
            </a:solidFill>
            <a:prstDash val="solid"/>
            <a:headEnd type="arrow" w="med" len="med"/>
          </a:ln>
        </p:spPr>
      </p:cxnSp>
      <p:cxnSp>
        <p:nvCxnSpPr>
          <p:cNvPr id="24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12649200" y="4238625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C34B4B"/>
            </a:solidFill>
            <a:prstDash val="solid"/>
            <a:headEnd type="arrow" w="med" len="me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045D07-CC16-4D83-8C23-14D6E743D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6477000"/>
            <a:ext cx="7620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713"/>
                </a:solidFill>
              </a:defRPr>
            </a:pPr>
            <a:r>
              <a:rPr sz="2250" b="1">
                <a:solidFill>
                  <a:srgbClr val="111713"/>
                </a:solidFill>
              </a:rPr>
              <a:t>The failure is not that information is unavailable.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305BD3-D94C-4F88-BDA7-403F89A4A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7124700"/>
            <a:ext cx="1485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A813"/>
                </a:solidFill>
              </a:defRPr>
            </a:pPr>
            <a:r>
              <a:rPr sz="1950" b="1">
                <a:solidFill>
                  <a:srgbClr val="00A813"/>
                </a:solidFill>
              </a:rPr>
              <a:t>The failure is that fragmented evidence reaches portfolio decisions through a slow, manual and weakly controlled chain.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E2D491-93D7-4CFE-8BC4-8B90E74BC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73455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7817A"/>
                </a:solidFill>
              </a:defRPr>
            </a:pPr>
            <a:r>
              <a:rPr sz="825" b="1">
                <a:solidFill>
                  <a:srgbClr val="77817A"/>
                </a:solidFill>
              </a:rPr>
              <a:t>AI-POWERED FAMILY OFFICE PORTFOLIO DASHBOARD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AE8891-76E6-4471-A7E5-6F786E624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0" y="9696450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7817A"/>
                </a:solidFill>
              </a:defRPr>
            </a:pPr>
            <a:r>
              <a:rPr sz="900" b="1">
                <a:solidFill>
                  <a:srgbClr val="77817A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1581248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3080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0A3571-D4F7-4013-BD9E-E7143FCEC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815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1D52B"/>
                </a:solidFill>
              </a:defRPr>
            </a:pPr>
            <a:r>
              <a:rPr sz="1125" b="1">
                <a:solidFill>
                  <a:srgbClr val="21D52B"/>
                </a:solidFill>
              </a:rPr>
              <a:t>2 · PROJECT SETTING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BE2B6B-E1AE-49A8-86C1-B4251847E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19150"/>
            <a:ext cx="166116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A USD 750m synthetic portfolio reproduces real reporting dependencies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6DEA32-6D90-4F8A-8497-FA95BDAE6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43075"/>
            <a:ext cx="16611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3412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2CDDE0-167C-4AE5-A6A3-AAECBDF77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43125"/>
            <a:ext cx="723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Portfolio allocation (USD m)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876300" y="2667000"/>
          <a:ext xmlns:a="http://schemas.openxmlformats.org/drawingml/2006/main" cx="9810750" cy="5619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7505d42f15c4281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E5253D-79FF-4349-8636-44DC68C2E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2952750"/>
            <a:ext cx="4000500" cy="49530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21D52B"/>
          </a:solidFill>
          <a:ln xmlns:a="http://schemas.openxmlformats.org/drawingml/2006/main" w="9525">
            <a:solidFill>
              <a:srgbClr val="21D52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21 PRIVATE FUNDS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C1A17D-AAF0-4DE2-81D5-AD6B45653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3810000"/>
            <a:ext cx="4000500" cy="49530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124D1B"/>
          </a:solidFill>
          <a:ln xmlns:a="http://schemas.openxmlformats.org/drawingml/2006/main" w="9525">
            <a:solidFill>
              <a:srgbClr val="124D1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USD 500m COMMITMENTS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9A16B6-BA65-4222-B3FD-1DB1B65DF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4667250"/>
            <a:ext cx="4000500" cy="49530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124D1B"/>
          </a:solidFill>
          <a:ln xmlns:a="http://schemas.openxmlformats.org/drawingml/2006/main" w="9525">
            <a:solidFill>
              <a:srgbClr val="124D1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USD 135m UNFUNDED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854B80-1EFC-47D9-AA79-6A6121A09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5524500"/>
            <a:ext cx="4000500" cy="49530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124D1B"/>
          </a:solidFill>
          <a:ln xmlns:a="http://schemas.openxmlformats.org/drawingml/2006/main" w="9525">
            <a:solidFill>
              <a:srgbClr val="124D1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MULTI-ENTITY · MULTI-CURRENCY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62C1DC-AB5B-4AC8-8CE1-1AFC5EA2E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67627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1D52B"/>
                </a:solidFill>
              </a:defRPr>
            </a:pPr>
            <a:r>
              <a:rPr sz="1500" b="1">
                <a:solidFill>
                  <a:srgbClr val="21D52B"/>
                </a:solidFill>
              </a:rPr>
              <a:t>Why this matters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C3C70E-B58E-4B72-AC52-777F176B6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7219950"/>
            <a:ext cx="47625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A private-market document can alter NAV, commitments, future cash requirements, liquidity coverage and the information shown to decision-makers.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C09E0F-1D06-4564-A9E2-0BCC65684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73455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8A27E"/>
                </a:solidFill>
              </a:defRPr>
            </a:pPr>
            <a:r>
              <a:rPr sz="825" b="1">
                <a:solidFill>
                  <a:srgbClr val="78A27E"/>
                </a:solidFill>
              </a:rPr>
              <a:t>AI-POWERED FAMILY OFFICE PORTFOLIO DASHBOARD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D17EFC-BA57-43B7-94C8-0F57582B8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0" y="9696450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8A27E"/>
                </a:solidFill>
              </a:defRPr>
            </a:pPr>
            <a:r>
              <a:rPr sz="900" b="1">
                <a:solidFill>
                  <a:srgbClr val="78A27E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2998656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6CCD7D-E1B8-4496-A13B-30B39752E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815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A813"/>
                </a:solidFill>
              </a:defRPr>
            </a:pPr>
            <a:r>
              <a:rPr sz="1125" b="1">
                <a:solidFill>
                  <a:srgbClr val="00A813"/>
                </a:solidFill>
              </a:rPr>
              <a:t>3 · RESEARCH CONCLUSION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EEF3BE-79F1-4D96-82D4-D4506B90C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19150"/>
            <a:ext cx="166116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713"/>
                </a:solidFill>
              </a:defRPr>
            </a:pPr>
            <a:r>
              <a:rPr sz="3000" b="1">
                <a:solidFill>
                  <a:srgbClr val="111713"/>
                </a:solidFill>
              </a:rPr>
              <a:t>Research findings became three system design rules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456DFF-39EA-431B-98CB-DF5140CD6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43075"/>
            <a:ext cx="16611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4E9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F4C2F5-BAB4-40A6-BBC5-8F9A06C48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71750"/>
            <a:ext cx="114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E8F7E9"/>
                </a:solidFill>
              </a:defRPr>
            </a:pPr>
            <a:r>
              <a:rPr sz="3600" b="1">
                <a:solidFill>
                  <a:srgbClr val="E8F7E9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BD7250-B376-4F86-B6BE-DE2E8D89F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24250"/>
            <a:ext cx="438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A813"/>
                </a:solidFill>
              </a:defRPr>
            </a:pPr>
            <a:r>
              <a:rPr sz="2250" b="1">
                <a:solidFill>
                  <a:srgbClr val="00A813"/>
                </a:solidFill>
              </a:rPr>
              <a:t>STANDARDIZE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30512A-5353-4171-9F58-71CE60CFC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91000"/>
            <a:ext cx="4191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713"/>
                </a:solidFill>
              </a:defRPr>
            </a:pPr>
            <a:r>
              <a:rPr sz="1800" b="0">
                <a:solidFill>
                  <a:srgbClr val="111713"/>
                </a:solidFill>
              </a:rPr>
              <a:t>Classify each document and extract into a type-specific schema.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AE1ABE-2CF4-4E79-B386-57023F953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71750"/>
            <a:ext cx="114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E8F7E9"/>
                </a:solidFill>
              </a:defRPr>
            </a:pPr>
            <a:r>
              <a:rPr sz="3600" b="1">
                <a:solidFill>
                  <a:srgbClr val="E8F7E9"/>
                </a:solidFill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5F1FF3-0C3C-4448-BE97-FFE61E79D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524250"/>
            <a:ext cx="438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A813"/>
                </a:solidFill>
              </a:defRPr>
            </a:pPr>
            <a:r>
              <a:rPr sz="2250" b="1">
                <a:solidFill>
                  <a:srgbClr val="00A813"/>
                </a:solidFill>
              </a:rPr>
              <a:t>CONTROL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548B48-DF4C-4F5A-B8B2-7A6842208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191000"/>
            <a:ext cx="4191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713"/>
                </a:solidFill>
              </a:defRPr>
            </a:pPr>
            <a:r>
              <a:rPr sz="1800" b="0">
                <a:solidFill>
                  <a:srgbClr val="111713"/>
                </a:solidFill>
              </a:rPr>
              <a:t>Validation and human review must sit between AI output and financial state.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36AAE5-589B-4A96-8D7D-A79068F01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2571750"/>
            <a:ext cx="114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E8F7E9"/>
                </a:solidFill>
              </a:defRPr>
            </a:pPr>
            <a:r>
              <a:rPr sz="3600" b="1">
                <a:solidFill>
                  <a:srgbClr val="E8F7E9"/>
                </a:solidFill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9DE7D9-CB60-4BBA-BF82-415704DEE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3524250"/>
            <a:ext cx="438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A813"/>
                </a:solidFill>
              </a:defRPr>
            </a:pPr>
            <a:r>
              <a:rPr sz="2250" b="1">
                <a:solidFill>
                  <a:srgbClr val="00A813"/>
                </a:solidFill>
              </a:rPr>
              <a:t>TRACE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8AC8FA-FF13-42E3-AB98-8332673E4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4191000"/>
            <a:ext cx="4191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713"/>
                </a:solidFill>
              </a:defRPr>
            </a:pPr>
            <a:r>
              <a:rPr sz="1800" b="0">
                <a:solidFill>
                  <a:srgbClr val="111713"/>
                </a:solidFill>
              </a:rPr>
              <a:t>Every dashboard value must preserve source, status and update reason.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46A525-F591-4138-960E-23FB100D8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7143750"/>
            <a:ext cx="3429000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E8F7E9"/>
          </a:solidFill>
          <a:ln xmlns:a="http://schemas.openxmlformats.org/drawingml/2006/main" w="19050">
            <a:solidFill>
              <a:srgbClr val="00A81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713"/>
                </a:solidFill>
              </a:defRPr>
            </a:pPr>
            <a:r>
              <a:rPr sz="1350" b="1">
                <a:solidFill>
                  <a:srgbClr val="111713"/>
                </a:solidFill>
              </a:rPr>
              <a:t>PDF EVIDENCE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B38765-6162-4833-AC8E-866E9E7EF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7143750"/>
            <a:ext cx="3429000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E8F7E9"/>
          </a:solidFill>
          <a:ln xmlns:a="http://schemas.openxmlformats.org/drawingml/2006/main" w="19050">
            <a:solidFill>
              <a:srgbClr val="00A81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713"/>
                </a:solidFill>
              </a:defRPr>
            </a:pPr>
            <a:r>
              <a:rPr sz="1350" b="1">
                <a:solidFill>
                  <a:srgbClr val="111713"/>
                </a:solidFill>
              </a:rPr>
              <a:t>CONTROLLED DATA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138C50-C5E5-4D64-9948-8EBD098DA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0" y="7143750"/>
            <a:ext cx="3429000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21D52B"/>
          </a:solidFill>
          <a:ln xmlns:a="http://schemas.openxmlformats.org/drawingml/2006/main" w="19050">
            <a:solidFill>
              <a:srgbClr val="21D52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30806"/>
                </a:solidFill>
              </a:defRPr>
            </a:pPr>
            <a:r>
              <a:rPr sz="1350" b="1">
                <a:solidFill>
                  <a:srgbClr val="030806"/>
                </a:solidFill>
              </a:rPr>
              <a:t>DECISION VIEW</a:t>
            </a:r>
          </a:p>
        </p:txBody>
      </p:sp>
      <p:cxnSp>
        <p:nvCxnSpPr>
          <p:cNvPr id="35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143500" y="7553325"/>
            <a:ext cx="22860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0A813"/>
            </a:solidFill>
            <a:prstDash val="solid"/>
            <a:headEnd type="arrow" w="med" len="med"/>
          </a:ln>
        </p:spPr>
      </p:cxnSp>
      <p:cxnSp>
        <p:nvCxnSpPr>
          <p:cNvPr id="36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10858500" y="7553325"/>
            <a:ext cx="22860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0A813"/>
            </a:solidFill>
            <a:prstDash val="solid"/>
            <a:headEnd type="arrow" w="med" len="me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6E3788-3B97-41D9-AF3D-9188FD6B7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73455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7817A"/>
                </a:solidFill>
              </a:defRPr>
            </a:pPr>
            <a:r>
              <a:rPr sz="825" b="1">
                <a:solidFill>
                  <a:srgbClr val="77817A"/>
                </a:solidFill>
              </a:rPr>
              <a:t>AI-POWERED FAMILY OFFICE PORTFOLIO DASHBOARD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18821F-D776-4C5B-8FC2-3625FED9B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0" y="9696450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7817A"/>
                </a:solidFill>
              </a:defRPr>
            </a:pPr>
            <a:r>
              <a:rPr sz="900" b="1">
                <a:solidFill>
                  <a:srgbClr val="77817A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73601360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3080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A76CF40-9BF4-478C-8FF7-4E0CFD53A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815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1D52B"/>
                </a:solidFill>
              </a:defRPr>
            </a:pPr>
            <a:r>
              <a:rPr sz="1125" b="1">
                <a:solidFill>
                  <a:srgbClr val="21D52B"/>
                </a:solidFill>
              </a:rPr>
              <a:t>4 · END-TO-END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CD5A46-32BB-421A-B05E-138D9E153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19150"/>
            <a:ext cx="166116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The workflow prevents uncertain extraction from becoming portfolio truth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B99B07-ADB6-4995-89B2-319B136DC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43075"/>
            <a:ext cx="16611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3412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391522-011D-40C0-B2BD-F30432F1F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81375"/>
            <a:ext cx="2000250" cy="1809750"/>
          </a:xfrm>
          <a:prstGeom xmlns:a="http://schemas.openxmlformats.org/drawingml/2006/main" prst="roundRect">
            <a:avLst>
              <a:gd name="adj" fmla="val 9474"/>
            </a:avLst>
          </a:prstGeom>
          <a:solidFill xmlns:a="http://schemas.openxmlformats.org/drawingml/2006/main">
            <a:srgbClr val="0D1A11"/>
          </a:solidFill>
          <a:ln xmlns:a="http://schemas.openxmlformats.org/drawingml/2006/main" w="19050">
            <a:solidFill>
              <a:srgbClr val="35623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PDF INTAKE</a:t>
            </a:r>
          </a:p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6 documents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CD8E80-0AB6-4600-A82D-2FFD56A2C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381375"/>
            <a:ext cx="2000250" cy="1809750"/>
          </a:xfrm>
          <a:prstGeom xmlns:a="http://schemas.openxmlformats.org/drawingml/2006/main" prst="roundRect">
            <a:avLst>
              <a:gd name="adj" fmla="val 9474"/>
            </a:avLst>
          </a:prstGeom>
          <a:solidFill xmlns:a="http://schemas.openxmlformats.org/drawingml/2006/main">
            <a:srgbClr val="0D1A11"/>
          </a:solidFill>
          <a:ln xmlns:a="http://schemas.openxmlformats.org/drawingml/2006/main" w="19050">
            <a:solidFill>
              <a:srgbClr val="35623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2</a:t>
            </a:r>
          </a:p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CLASSIFY</a:t>
            </a:r>
          </a:p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type + fund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EFCD62-6A8A-4CC6-848F-82AE44C20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381375"/>
            <a:ext cx="2000250" cy="1809750"/>
          </a:xfrm>
          <a:prstGeom xmlns:a="http://schemas.openxmlformats.org/drawingml/2006/main" prst="roundRect">
            <a:avLst>
              <a:gd name="adj" fmla="val 9474"/>
            </a:avLst>
          </a:prstGeom>
          <a:solidFill xmlns:a="http://schemas.openxmlformats.org/drawingml/2006/main">
            <a:srgbClr val="0D1A11"/>
          </a:solidFill>
          <a:ln xmlns:a="http://schemas.openxmlformats.org/drawingml/2006/main" w="19050">
            <a:solidFill>
              <a:srgbClr val="35623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3</a:t>
            </a:r>
          </a:p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EXTRACT</a:t>
            </a:r>
          </a:p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schema JSON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65C38D-FC61-458C-88F7-20D2EDE9D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381375"/>
            <a:ext cx="2000250" cy="1809750"/>
          </a:xfrm>
          <a:prstGeom xmlns:a="http://schemas.openxmlformats.org/drawingml/2006/main" prst="roundRect">
            <a:avLst>
              <a:gd name="adj" fmla="val 9474"/>
            </a:avLst>
          </a:prstGeom>
          <a:solidFill xmlns:a="http://schemas.openxmlformats.org/drawingml/2006/main">
            <a:srgbClr val="0D1A11"/>
          </a:solidFill>
          <a:ln xmlns:a="http://schemas.openxmlformats.org/drawingml/2006/main" w="19050">
            <a:solidFill>
              <a:srgbClr val="35623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4</a:t>
            </a:r>
          </a:p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VALIDATE</a:t>
            </a:r>
          </a:p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rules + confidence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C60401-0607-4B70-A651-A87D9EB1B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381375"/>
            <a:ext cx="2000250" cy="1809750"/>
          </a:xfrm>
          <a:prstGeom xmlns:a="http://schemas.openxmlformats.org/drawingml/2006/main" prst="roundRect">
            <a:avLst>
              <a:gd name="adj" fmla="val 9474"/>
            </a:avLst>
          </a:prstGeom>
          <a:solidFill xmlns:a="http://schemas.openxmlformats.org/drawingml/2006/main">
            <a:srgbClr val="14351B"/>
          </a:solidFill>
          <a:ln xmlns:a="http://schemas.openxmlformats.org/drawingml/2006/main" w="19050">
            <a:solidFill>
              <a:srgbClr val="21D52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5</a:t>
            </a:r>
          </a:p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HUMAN REVIEW</a:t>
            </a:r>
          </a:p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maker-checker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498664-E308-4922-B0DF-5DD40966C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3381375"/>
            <a:ext cx="2000250" cy="1809750"/>
          </a:xfrm>
          <a:prstGeom xmlns:a="http://schemas.openxmlformats.org/drawingml/2006/main" prst="roundRect">
            <a:avLst>
              <a:gd name="adj" fmla="val 9474"/>
            </a:avLst>
          </a:prstGeom>
          <a:solidFill xmlns:a="http://schemas.openxmlformats.org/drawingml/2006/main">
            <a:srgbClr val="0D1A11"/>
          </a:solidFill>
          <a:ln xmlns:a="http://schemas.openxmlformats.org/drawingml/2006/main" w="19050">
            <a:solidFill>
              <a:srgbClr val="35623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6</a:t>
            </a:r>
          </a:p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APPLY</a:t>
            </a:r>
          </a:p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approved only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9FEA15-29EB-4EF0-8737-CB7489287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3381375"/>
            <a:ext cx="2000250" cy="1809750"/>
          </a:xfrm>
          <a:prstGeom xmlns:a="http://schemas.openxmlformats.org/drawingml/2006/main" prst="roundRect">
            <a:avLst>
              <a:gd name="adj" fmla="val 9474"/>
            </a:avLst>
          </a:prstGeom>
          <a:solidFill xmlns:a="http://schemas.openxmlformats.org/drawingml/2006/main">
            <a:srgbClr val="0D1A11"/>
          </a:solidFill>
          <a:ln xmlns:a="http://schemas.openxmlformats.org/drawingml/2006/main" w="19050">
            <a:solidFill>
              <a:srgbClr val="35623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7</a:t>
            </a:r>
          </a:p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DASHBOARD</a:t>
            </a:r>
          </a:p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state + lineage</a:t>
            </a:r>
          </a:p>
        </p:txBody>
      </p:sp>
      <p:cxnSp>
        <p:nvCxnSpPr>
          <p:cNvPr id="32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667000" y="42862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1D52B"/>
            </a:solidFill>
            <a:prstDash val="solid"/>
            <a:headEnd type="arrow" w="med" len="med"/>
          </a:ln>
        </p:spPr>
      </p:cxnSp>
      <p:cxnSp>
        <p:nvCxnSpPr>
          <p:cNvPr id="33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5143500" y="42862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1D52B"/>
            </a:solidFill>
            <a:prstDash val="solid"/>
            <a:headEnd type="arrow" w="med" len="med"/>
          </a:ln>
        </p:spPr>
      </p:cxnSp>
      <p:cxnSp>
        <p:nvCxnSpPr>
          <p:cNvPr id="34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620000" y="42862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1D52B"/>
            </a:solidFill>
            <a:prstDash val="solid"/>
            <a:headEnd type="arrow" w="med" len="med"/>
          </a:ln>
        </p:spPr>
      </p:cxnSp>
      <p:cxnSp>
        <p:nvCxnSpPr>
          <p:cNvPr id="35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0096500" y="42862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1D52B"/>
            </a:solidFill>
            <a:prstDash val="solid"/>
            <a:headEnd type="arrow" w="med" len="med"/>
          </a:ln>
        </p:spPr>
      </p:cxnSp>
      <p:cxnSp>
        <p:nvCxnSpPr>
          <p:cNvPr id="36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12573000" y="42862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1D52B"/>
            </a:solidFill>
            <a:prstDash val="solid"/>
            <a:headEnd type="arrow" w="med" len="med"/>
          </a:ln>
        </p:spPr>
      </p:cxnSp>
      <p:cxnSp>
        <p:nvCxnSpPr>
          <p:cNvPr id="37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15049500" y="42862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1D52B"/>
            </a:solidFill>
            <a:prstDash val="solid"/>
            <a:headEnd type="arrow" w="med" len="me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B5BB1F-DFBD-4D11-8782-2A24A4BDA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1D52B"/>
                </a:solidFill>
              </a:defRPr>
            </a:pPr>
            <a:r>
              <a:rPr sz="1350" b="1">
                <a:solidFill>
                  <a:srgbClr val="21D52B"/>
                </a:solidFill>
              </a:rPr>
              <a:t>CONTROL GATE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ADEA9F-915A-4941-A079-1A9D268BB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6477000"/>
            <a:ext cx="14382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Evidence persists at every stage: source PDF → extracted JSON → validation result → review status → update log → dashboard.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274233B-8D40-4D48-9928-0E34B7E3C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7762875"/>
            <a:ext cx="5905500" cy="49530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21D52B"/>
          </a:solidFill>
          <a:ln xmlns:a="http://schemas.openxmlformats.org/drawingml/2006/main" w="9525">
            <a:solidFill>
              <a:srgbClr val="21D52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30806"/>
                </a:solidFill>
              </a:defRPr>
            </a:pPr>
            <a:r>
              <a:rPr sz="1200" b="1">
                <a:solidFill>
                  <a:srgbClr val="030806"/>
                </a:solidFill>
              </a:rPr>
              <a:t>NO APPROVAL = NO PORTFOLIO UPDATE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84CF68-6EFD-4F33-B7DC-D0C53609A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73455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8A27E"/>
                </a:solidFill>
              </a:defRPr>
            </a:pPr>
            <a:r>
              <a:rPr sz="825" b="1">
                <a:solidFill>
                  <a:srgbClr val="78A27E"/>
                </a:solidFill>
              </a:rPr>
              <a:t>AI-POWERED FAMILY OFFICE PORTFOLIO DASHBOARD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4405096-317C-4B9A-ABE0-10C599D32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0" y="9696450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8A27E"/>
                </a:solidFill>
              </a:defRPr>
            </a:pPr>
            <a:r>
              <a:rPr sz="900" b="1">
                <a:solidFill>
                  <a:srgbClr val="78A27E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69872203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F26A32-BE27-4268-AAD3-916043BBD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815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A813"/>
                </a:solidFill>
              </a:defRPr>
            </a:pPr>
            <a:r>
              <a:rPr sz="1125" b="1">
                <a:solidFill>
                  <a:srgbClr val="00A813"/>
                </a:solidFill>
              </a:rPr>
              <a:t>5 · WHAT I BUILT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89539E-7EB8-4017-BA5C-E9712ACD4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19150"/>
            <a:ext cx="166116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713"/>
                </a:solidFill>
              </a:defRPr>
            </a:pPr>
            <a:r>
              <a:rPr sz="3000" b="1">
                <a:solidFill>
                  <a:srgbClr val="111713"/>
                </a:solidFill>
              </a:rPr>
              <a:t>I designed and completed the full information chain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7F4029-BB46-4422-BB67-E78146619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43075"/>
            <a:ext cx="16611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4E9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4560AD-0F1F-4666-ABD7-E5E7F302E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86000"/>
            <a:ext cx="15811500" cy="1143000"/>
          </a:xfrm>
          <a:prstGeom xmlns:a="http://schemas.openxmlformats.org/drawingml/2006/main" prst="roundRect">
            <a:avLst>
              <a:gd name="adj" fmla="val 11667"/>
            </a:avLst>
          </a:prstGeom>
          <a:solidFill xmlns:a="http://schemas.openxmlformats.org/drawingml/2006/main">
            <a:srgbClr val="F7F9F7"/>
          </a:solidFill>
          <a:ln xmlns:a="http://schemas.openxmlformats.org/drawingml/2006/main" w="19050">
            <a:solidFill>
              <a:srgbClr val="E4E9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5503F5-C07D-499A-AE8A-D0D89CFEC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571750"/>
            <a:ext cx="3714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A813"/>
                </a:solidFill>
              </a:defRPr>
            </a:pPr>
            <a:r>
              <a:rPr sz="1875" b="1">
                <a:solidFill>
                  <a:srgbClr val="00A813"/>
                </a:solidFill>
              </a:rPr>
              <a:t>RESEARCH &amp; SETTING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522A6D-A6B0-44F5-AD55-76D74FAE8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5336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713"/>
                </a:solidFill>
              </a:defRPr>
            </a:pPr>
            <a:r>
              <a:rPr sz="1725" b="0">
                <a:solidFill>
                  <a:srgbClr val="111713"/>
                </a:solidFill>
              </a:rPr>
              <a:t>Problem definition · synthetic portfolio · reporting dates · success criteria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06E278-23ED-40DE-83F3-EAC426FAD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05250"/>
            <a:ext cx="15811500" cy="1143000"/>
          </a:xfrm>
          <a:prstGeom xmlns:a="http://schemas.openxmlformats.org/drawingml/2006/main" prst="roundRect">
            <a:avLst>
              <a:gd name="adj" fmla="val 11667"/>
            </a:avLst>
          </a:prstGeom>
          <a:solidFill xmlns:a="http://schemas.openxmlformats.org/drawingml/2006/main">
            <a:srgbClr val="E8F7E9"/>
          </a:solidFill>
          <a:ln xmlns:a="http://schemas.openxmlformats.org/drawingml/2006/main" w="19050">
            <a:solidFill>
              <a:srgbClr val="E4E9E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E15DBC-0F27-42B2-9F48-0282F850A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4191000"/>
            <a:ext cx="3714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A813"/>
                </a:solidFill>
              </a:defRPr>
            </a:pPr>
            <a:r>
              <a:rPr sz="1875" b="1">
                <a:solidFill>
                  <a:srgbClr val="00A813"/>
                </a:solidFill>
              </a:rPr>
              <a:t>DOCUMENT PIPELINE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2C9A3C-3F6A-42E3-A547-F1F4C267D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1529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713"/>
                </a:solidFill>
              </a:defRPr>
            </a:pPr>
            <a:r>
              <a:rPr sz="1725" b="0">
                <a:solidFill>
                  <a:srgbClr val="111713"/>
                </a:solidFill>
              </a:rPr>
              <a:t>Classification · extraction schemas · validation rules · review decisions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CCA61A-5B22-4389-B8D5-C7D40465B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524500"/>
            <a:ext cx="15811500" cy="1143000"/>
          </a:xfrm>
          <a:prstGeom xmlns:a="http://schemas.openxmlformats.org/drawingml/2006/main" prst="roundRect">
            <a:avLst>
              <a:gd name="adj" fmla="val 11667"/>
            </a:avLst>
          </a:prstGeom>
          <a:solidFill xmlns:a="http://schemas.openxmlformats.org/drawingml/2006/main">
            <a:srgbClr val="F7F9F7"/>
          </a:solidFill>
          <a:ln xmlns:a="http://schemas.openxmlformats.org/drawingml/2006/main" w="19050">
            <a:solidFill>
              <a:srgbClr val="E4E9E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902F7E-3B7E-45ED-ABAE-F6B08400C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5810250"/>
            <a:ext cx="3714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A813"/>
                </a:solidFill>
              </a:defRPr>
            </a:pPr>
            <a:r>
              <a:rPr sz="1875" b="1">
                <a:solidFill>
                  <a:srgbClr val="00A813"/>
                </a:solidFill>
              </a:rPr>
              <a:t>PORTFOLIO UPDATES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000768-5133-4E23-B89B-9654F4F64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7721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713"/>
                </a:solidFill>
              </a:defRPr>
            </a:pPr>
            <a:r>
              <a:rPr sz="1725" b="0">
                <a:solidFill>
                  <a:srgbClr val="111713"/>
                </a:solidFill>
              </a:rPr>
              <a:t>Approved-only logic · processed datasets · booked/projected separation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B9B47A-4518-44EF-B0B6-3F4472D5C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7143750"/>
            <a:ext cx="15811500" cy="1143000"/>
          </a:xfrm>
          <a:prstGeom xmlns:a="http://schemas.openxmlformats.org/drawingml/2006/main" prst="roundRect">
            <a:avLst>
              <a:gd name="adj" fmla="val 11667"/>
            </a:avLst>
          </a:prstGeom>
          <a:solidFill xmlns:a="http://schemas.openxmlformats.org/drawingml/2006/main">
            <a:srgbClr val="E8F7E9"/>
          </a:solidFill>
          <a:ln xmlns:a="http://schemas.openxmlformats.org/drawingml/2006/main" w="19050">
            <a:solidFill>
              <a:srgbClr val="00A81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830BA2-E5DB-4D64-9D50-50D4BC9F3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7429500"/>
            <a:ext cx="3714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A813"/>
                </a:solidFill>
              </a:defRPr>
            </a:pPr>
            <a:r>
              <a:rPr sz="1875" b="1">
                <a:solidFill>
                  <a:srgbClr val="00A813"/>
                </a:solidFill>
              </a:rPr>
              <a:t>DECISION PRODUCT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EB9D76-FC63-4DC3-B14C-5A513406B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73914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713"/>
                </a:solidFill>
              </a:defRPr>
            </a:pPr>
            <a:r>
              <a:rPr sz="1725" b="0">
                <a:solidFill>
                  <a:srgbClr val="111713"/>
                </a:solidFill>
              </a:rPr>
              <a:t>Streamlit dashboard · public-proxy risk · QA · tests · instructions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87959E-424F-43E6-ACDF-8C8610D10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73455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7817A"/>
                </a:solidFill>
              </a:defRPr>
            </a:pPr>
            <a:r>
              <a:rPr sz="825" b="1">
                <a:solidFill>
                  <a:srgbClr val="77817A"/>
                </a:solidFill>
              </a:rPr>
              <a:t>AI-POWERED FAMILY OFFICE PORTFOLIO DASHBOARD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F906E3-4EC5-449F-A6B0-5A5B9FDEC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0" y="9696450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7817A"/>
                </a:solidFill>
              </a:defRPr>
            </a:pPr>
            <a:r>
              <a:rPr sz="900" b="1">
                <a:solidFill>
                  <a:srgbClr val="77817A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86364360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3080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A6A1E5-31D7-4655-B0DE-4ADADFD8C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815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1D52B"/>
                </a:solidFill>
              </a:defRPr>
            </a:pPr>
            <a:r>
              <a:rPr sz="1125" b="1">
                <a:solidFill>
                  <a:srgbClr val="21D52B"/>
                </a:solidFill>
              </a:rPr>
              <a:t>6 · TEST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F254EC-B9DF-49FA-A23E-FE7E7F960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19150"/>
            <a:ext cx="166116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Six PDFs were designed to test different business effects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D2DD32-E6A0-4FA6-AF68-7BC706111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43075"/>
            <a:ext cx="16611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3412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935559-73F6-4049-A768-63110AB37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81250"/>
            <a:ext cx="4953000" cy="2333625"/>
          </a:xfrm>
          <a:prstGeom xmlns:a="http://schemas.openxmlformats.org/drawingml/2006/main" prst="roundRect">
            <a:avLst>
              <a:gd name="adj" fmla="val 6531"/>
            </a:avLst>
          </a:prstGeom>
          <a:solidFill xmlns:a="http://schemas.openxmlformats.org/drawingml/2006/main">
            <a:srgbClr val="111A13"/>
          </a:solidFill>
          <a:ln xmlns:a="http://schemas.openxmlformats.org/drawingml/2006/main" w="19050">
            <a:solidFill>
              <a:srgbClr val="00A81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PDF_001</a:t>
            </a:r>
          </a:p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Capital call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Northstar</a:t>
            </a:r>
          </a:p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Commitment / liquidity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EC0709-253B-43AE-81CB-5516E6F74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81250"/>
            <a:ext cx="4953000" cy="2333625"/>
          </a:xfrm>
          <a:prstGeom xmlns:a="http://schemas.openxmlformats.org/drawingml/2006/main" prst="roundRect">
            <a:avLst>
              <a:gd name="adj" fmla="val 6531"/>
            </a:avLst>
          </a:prstGeom>
          <a:solidFill xmlns:a="http://schemas.openxmlformats.org/drawingml/2006/main">
            <a:srgbClr val="111A13"/>
          </a:solidFill>
          <a:ln xmlns:a="http://schemas.openxmlformats.org/drawingml/2006/main" w="19050">
            <a:solidFill>
              <a:srgbClr val="00A81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PDF_002</a:t>
            </a:r>
          </a:p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Capital call exception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SeedSpring</a:t>
            </a:r>
          </a:p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Alias + missing context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074DA2-DAB8-4F91-A10C-6907E6C5F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2381250"/>
            <a:ext cx="4953000" cy="2333625"/>
          </a:xfrm>
          <a:prstGeom xmlns:a="http://schemas.openxmlformats.org/drawingml/2006/main" prst="roundRect">
            <a:avLst>
              <a:gd name="adj" fmla="val 6531"/>
            </a:avLst>
          </a:prstGeom>
          <a:solidFill xmlns:a="http://schemas.openxmlformats.org/drawingml/2006/main">
            <a:srgbClr val="102716"/>
          </a:solidFill>
          <a:ln xmlns:a="http://schemas.openxmlformats.org/drawingml/2006/main" w="19050">
            <a:solidFill>
              <a:srgbClr val="00A81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PDF_003</a:t>
            </a:r>
          </a:p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Distribution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Harbor Peak</a:t>
            </a:r>
          </a:p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Cash inflow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ADC6FB-7F32-4A45-9F71-D67626BD8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24500"/>
            <a:ext cx="4953000" cy="2333625"/>
          </a:xfrm>
          <a:prstGeom xmlns:a="http://schemas.openxmlformats.org/drawingml/2006/main" prst="roundRect">
            <a:avLst>
              <a:gd name="adj" fmla="val 6531"/>
            </a:avLst>
          </a:prstGeom>
          <a:solidFill xmlns:a="http://schemas.openxmlformats.org/drawingml/2006/main">
            <a:srgbClr val="102716"/>
          </a:solidFill>
          <a:ln xmlns:a="http://schemas.openxmlformats.org/drawingml/2006/main" w="19050">
            <a:solidFill>
              <a:srgbClr val="00A81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PDF_004</a:t>
            </a:r>
          </a:p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PCAP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Northstar</a:t>
            </a:r>
          </a:p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NAV / commitment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F6257B-993D-483C-AA77-1B25DAF2C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524500"/>
            <a:ext cx="4953000" cy="2333625"/>
          </a:xfrm>
          <a:prstGeom xmlns:a="http://schemas.openxmlformats.org/drawingml/2006/main" prst="roundRect">
            <a:avLst>
              <a:gd name="adj" fmla="val 6531"/>
            </a:avLst>
          </a:prstGeom>
          <a:solidFill xmlns:a="http://schemas.openxmlformats.org/drawingml/2006/main">
            <a:srgbClr val="111A13"/>
          </a:solidFill>
          <a:ln xmlns:a="http://schemas.openxmlformats.org/drawingml/2006/main" w="19050">
            <a:solidFill>
              <a:srgbClr val="C34B4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PDF_005</a:t>
            </a:r>
          </a:p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PCAP exception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LionRock</a:t>
            </a:r>
          </a:p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Roll-forward mismatch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E0DD76-3889-4073-818B-DE7075500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5524500"/>
            <a:ext cx="4953000" cy="2333625"/>
          </a:xfrm>
          <a:prstGeom xmlns:a="http://schemas.openxmlformats.org/drawingml/2006/main" prst="roundRect">
            <a:avLst>
              <a:gd name="adj" fmla="val 6531"/>
            </a:avLst>
          </a:prstGeom>
          <a:solidFill xmlns:a="http://schemas.openxmlformats.org/drawingml/2006/main">
            <a:srgbClr val="102716"/>
          </a:solidFill>
          <a:ln xmlns:a="http://schemas.openxmlformats.org/drawingml/2006/main" w="19050">
            <a:solidFill>
              <a:srgbClr val="00A81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PDF_006</a:t>
            </a:r>
          </a:p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Newsletter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Blue Horizon</a:t>
            </a:r>
          </a:p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Qualitative update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1C69CE-D920-4F22-B38B-C400311B2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73455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8A27E"/>
                </a:solidFill>
              </a:defRPr>
            </a:pPr>
            <a:r>
              <a:rPr sz="825" b="1">
                <a:solidFill>
                  <a:srgbClr val="78A27E"/>
                </a:solidFill>
              </a:rPr>
              <a:t>AI-POWERED FAMILY OFFICE PORTFOLIO DASHBOARD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AE3682-41CE-4EAE-8FAC-6A7885AB8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0" y="9696450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8A27E"/>
                </a:solidFill>
              </a:defRPr>
            </a:pPr>
            <a:r>
              <a:rPr sz="900" b="1">
                <a:solidFill>
                  <a:srgbClr val="78A27E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36264133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7D34CB-F710-4DA0-8939-A56E0908F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815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A813"/>
                </a:solidFill>
              </a:defRPr>
            </a:pPr>
            <a:r>
              <a:rPr sz="1125" b="1">
                <a:solidFill>
                  <a:srgbClr val="00A813"/>
                </a:solidFill>
              </a:rPr>
              <a:t>7 · VALIDATION RESULT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05977E-A712-4AE4-B6BA-FC65585B1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19150"/>
            <a:ext cx="166116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713"/>
                </a:solidFill>
              </a:defRPr>
            </a:pPr>
            <a:r>
              <a:rPr sz="3000" b="1">
                <a:solidFill>
                  <a:srgbClr val="111713"/>
                </a:solidFill>
              </a:rPr>
              <a:t>The control gate applied 3 updates and blocked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D43B33-7802-4921-BF12-E16122F1D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43075"/>
            <a:ext cx="16611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4E9E5"/>
            </a:solidFill>
            <a:prstDash val="solid"/>
          </a:ln>
        </p:spPr>
      </p:sp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1047750" y="2333625"/>
          <a:ext xmlns:a="http://schemas.openxmlformats.org/drawingml/2006/main" cx="6858000" cy="5905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c929dd21e4749b7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0AA28D-4115-4D88-B851-E303E8D4F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0"/>
            <a:ext cx="5143500" cy="49530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21D52B"/>
          </a:solidFill>
          <a:ln xmlns:a="http://schemas.openxmlformats.org/drawingml/2006/main" w="9525">
            <a:solidFill>
              <a:srgbClr val="21D52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30806"/>
                </a:solidFill>
              </a:defRPr>
            </a:pPr>
            <a:r>
              <a:rPr sz="1200" b="1">
                <a:solidFill>
                  <a:srgbClr val="030806"/>
                </a:solidFill>
              </a:rPr>
              <a:t>3 APPROVED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D4EDFE-9F2A-4F2A-BB7A-95D4CDB84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54330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713"/>
                </a:solidFill>
              </a:defRPr>
            </a:pPr>
            <a:r>
              <a:rPr sz="1650" b="0">
                <a:solidFill>
                  <a:srgbClr val="111713"/>
                </a:solidFill>
              </a:rPr>
              <a:t>PDF_003 distribution · PDF_004 PCAP · PDF_006 newsletter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C23BCE-B0C8-4C80-88E4-84F8BF797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619625"/>
            <a:ext cx="5143500" cy="49530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E0A21A"/>
          </a:solidFill>
          <a:ln xmlns:a="http://schemas.openxmlformats.org/drawingml/2006/main" w="9525">
            <a:solidFill>
              <a:srgbClr val="E0A21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30806"/>
                </a:solidFill>
              </a:defRPr>
            </a:pPr>
            <a:r>
              <a:rPr sz="1200" b="1">
                <a:solidFill>
                  <a:srgbClr val="030806"/>
                </a:solidFill>
              </a:rPr>
              <a:t>2 NEEDS REVIEW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425C2E-722D-4349-A2DC-12F23BC39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5305425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713"/>
                </a:solidFill>
              </a:defRPr>
            </a:pPr>
            <a:r>
              <a:rPr sz="1650" b="0">
                <a:solidFill>
                  <a:srgbClr val="111713"/>
                </a:solidFill>
              </a:rPr>
              <a:t>PDF_001 and PDF_002 capital calls remain blocked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BFCEA3-3707-4513-AFEB-95D6994AB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6381750"/>
            <a:ext cx="5143500" cy="49530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C34B4B"/>
          </a:solidFill>
          <a:ln xmlns:a="http://schemas.openxmlformats.org/drawingml/2006/main" w="9525">
            <a:solidFill>
              <a:srgbClr val="C34B4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1 REJECTED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1537F9-2B06-4F5C-A047-8FF9089D8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7067550"/>
            <a:ext cx="685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713"/>
                </a:solidFill>
              </a:defRPr>
            </a:pPr>
            <a:r>
              <a:rPr sz="1650" b="0">
                <a:solidFill>
                  <a:srgbClr val="111713"/>
                </a:solidFill>
              </a:rPr>
              <a:t>PDF_005 fails commitment and NAV roll-forward checks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65AB02-DE21-4C57-8CF9-C3AD4AA76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73455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7817A"/>
                </a:solidFill>
              </a:defRPr>
            </a:pPr>
            <a:r>
              <a:rPr sz="825" b="1">
                <a:solidFill>
                  <a:srgbClr val="77817A"/>
                </a:solidFill>
              </a:rPr>
              <a:t>AI-POWERED FAMILY OFFICE PORTFOLIO DASHBOARD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8F740A-86BB-4514-AB06-F31C17476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0" y="9696450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7817A"/>
                </a:solidFill>
              </a:defRPr>
            </a:pPr>
            <a:r>
              <a:rPr sz="900" b="1">
                <a:solidFill>
                  <a:srgbClr val="77817A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95228052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3080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9129092-FE0A-44A6-8197-CD64CBB2D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815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1D52B"/>
                </a:solidFill>
              </a:defRPr>
            </a:pPr>
            <a:r>
              <a:rPr sz="1125" b="1">
                <a:solidFill>
                  <a:srgbClr val="21D52B"/>
                </a:solidFill>
              </a:rPr>
              <a:t>8 · DOCUMENT IMPACT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6A6E23-39D2-4A6D-AAA2-90013A316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19150"/>
            <a:ext cx="166116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Each document follows a visible path to portfolio, liquidity or commentary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63D9A3-E3C0-4622-B706-067374CC7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43075"/>
            <a:ext cx="16611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3412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FC42F3-55F6-4EB2-9319-4FF5B3867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76500"/>
            <a:ext cx="2476500" cy="104775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102716"/>
          </a:solidFill>
          <a:ln xmlns:a="http://schemas.openxmlformats.org/drawingml/2006/main" w="19050">
            <a:solidFill>
              <a:srgbClr val="21D52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PDF_003</a:t>
            </a:r>
          </a:p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Distribution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3937EE-1FA1-463D-B5AD-C5A37D43C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00500"/>
            <a:ext cx="2476500" cy="104775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102716"/>
          </a:solidFill>
          <a:ln xmlns:a="http://schemas.openxmlformats.org/drawingml/2006/main" w="19050">
            <a:solidFill>
              <a:srgbClr val="21D52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PDF_004</a:t>
            </a:r>
          </a:p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PCAP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49E067-B245-48B6-9D49-A2DB35305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24500"/>
            <a:ext cx="2476500" cy="104775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102716"/>
          </a:solidFill>
          <a:ln xmlns:a="http://schemas.openxmlformats.org/drawingml/2006/main" w="19050">
            <a:solidFill>
              <a:srgbClr val="21D52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PDF_006</a:t>
            </a:r>
          </a:p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Newsletter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706337-B2B1-4106-9135-40478348F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048500"/>
            <a:ext cx="2476500" cy="104775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291315"/>
          </a:solidFill>
          <a:ln xmlns:a="http://schemas.openxmlformats.org/drawingml/2006/main" w="19050">
            <a:solidFill>
              <a:srgbClr val="C34B4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PDF_001 / 002 / 005</a:t>
            </a:r>
          </a:p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Blocked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DCC68A-75FC-450A-BBB2-622B2A2C4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476500"/>
            <a:ext cx="3143250" cy="104775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12351A"/>
          </a:solidFill>
          <a:ln xmlns:a="http://schemas.openxmlformats.org/drawingml/2006/main" w="19050">
            <a:solidFill>
              <a:srgbClr val="21D52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+ USD 3.1m</a:t>
            </a:r>
          </a:p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projected inflow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19CAC2-9CE9-4D04-87DA-E8B46AC35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000500"/>
            <a:ext cx="3143250" cy="104775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12351A"/>
          </a:solidFill>
          <a:ln xmlns:a="http://schemas.openxmlformats.org/drawingml/2006/main" w="19050">
            <a:solidFill>
              <a:srgbClr val="21D52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Northstar NAV /</a:t>
            </a:r>
          </a:p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commitment update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E42B3B-9B38-4EB4-9DDD-4EC45B62C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524500"/>
            <a:ext cx="3143250" cy="104775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12351A"/>
          </a:solidFill>
          <a:ln xmlns:a="http://schemas.openxmlformats.org/drawingml/2006/main" w="19050">
            <a:solidFill>
              <a:srgbClr val="21D52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Approved manager</a:t>
            </a:r>
          </a:p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commentary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159A5B-61E3-4313-AEA5-A78CA743C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7048500"/>
            <a:ext cx="3143250" cy="104775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291315"/>
          </a:solidFill>
          <a:ln xmlns:a="http://schemas.openxmlformats.org/drawingml/2006/main" w="19050">
            <a:solidFill>
              <a:srgbClr val="C34B4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Review queue /</a:t>
            </a:r>
          </a:p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blocked reason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34F8E9-D31F-4EC8-9DFB-BA86D293D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2857500"/>
            <a:ext cx="4095750" cy="104775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21D52B"/>
          </a:solidFill>
          <a:ln xmlns:a="http://schemas.openxmlformats.org/drawingml/2006/main" w="19050">
            <a:solidFill>
              <a:srgbClr val="21D52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30806"/>
                </a:solidFill>
              </a:defRPr>
            </a:pPr>
            <a:r>
              <a:rPr sz="1350" b="1">
                <a:solidFill>
                  <a:srgbClr val="030806"/>
                </a:solidFill>
              </a:rPr>
              <a:t>LIQUIDITY 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02DB67-36B3-4D8E-897A-2F00D9A3C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4476750"/>
            <a:ext cx="4095750" cy="104775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21D52B"/>
          </a:solidFill>
          <a:ln xmlns:a="http://schemas.openxmlformats.org/drawingml/2006/main" w="19050">
            <a:solidFill>
              <a:srgbClr val="21D52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30806"/>
                </a:solidFill>
              </a:defRPr>
            </a:pPr>
            <a:r>
              <a:rPr sz="1350" b="1">
                <a:solidFill>
                  <a:srgbClr val="030806"/>
                </a:solidFill>
              </a:rPr>
              <a:t>PRIVATE-MARKET 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5A212C-B603-46E1-BA79-0C22E538C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6096000"/>
            <a:ext cx="4095750" cy="104775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21D52B"/>
          </a:solidFill>
          <a:ln xmlns:a="http://schemas.openxmlformats.org/drawingml/2006/main" w="19050">
            <a:solidFill>
              <a:srgbClr val="21D52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30806"/>
                </a:solidFill>
              </a:defRPr>
            </a:pPr>
            <a:r>
              <a:rPr sz="1350" b="1">
                <a:solidFill>
                  <a:srgbClr val="030806"/>
                </a:solidFill>
              </a:rPr>
              <a:t>WORKFLOW &amp; COMMENTARY</a:t>
            </a:r>
          </a:p>
        </p:txBody>
      </p:sp>
      <p:cxnSp>
        <p:nvCxnSpPr>
          <p:cNvPr id="39" name=""/>
          <p:cNvCxnSpPr>
            <a:stCxn xmlns:a="http://schemas.openxmlformats.org/drawingml/2006/main" id="4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333750" y="3000375"/>
            <a:ext cx="2381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0A813"/>
            </a:solidFill>
            <a:prstDash val="solid"/>
            <a:headEnd type="arrow" w="med" len="med"/>
          </a:ln>
        </p:spPr>
      </p:cxnSp>
      <p:cxnSp>
        <p:nvCxnSpPr>
          <p:cNvPr id="40" name=""/>
          <p:cNvCxnSpPr>
            <a:stCxn xmlns:a="http://schemas.openxmlformats.org/drawingml/2006/main" id="8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8858250" y="3000375"/>
            <a:ext cx="3143250" cy="3810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0A813"/>
            </a:solidFill>
            <a:prstDash val="solid"/>
            <a:headEnd type="arrow" w="med" len="med"/>
          </a:ln>
        </p:spPr>
      </p:cxnSp>
      <p:cxnSp>
        <p:nvCxnSpPr>
          <p:cNvPr id="41" name=""/>
          <p:cNvCxnSpPr>
            <a:stCxn xmlns:a="http://schemas.openxmlformats.org/drawingml/2006/main" id="5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333750" y="4524375"/>
            <a:ext cx="2381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0A813"/>
            </a:solidFill>
            <a:prstDash val="solid"/>
            <a:headEnd type="arrow" w="med" len="med"/>
          </a:ln>
        </p:spPr>
      </p:cxnSp>
      <p:cxnSp>
        <p:nvCxnSpPr>
          <p:cNvPr id="42" name=""/>
          <p:cNvCxnSpPr>
            <a:stCxn xmlns:a="http://schemas.openxmlformats.org/drawingml/2006/main" id="9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8858250" y="4524375"/>
            <a:ext cx="3143250" cy="4762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0A813"/>
            </a:solidFill>
            <a:prstDash val="solid"/>
            <a:headEnd type="arrow" w="med" len="med"/>
          </a:ln>
        </p:spPr>
      </p:cxnSp>
      <p:cxnSp>
        <p:nvCxnSpPr>
          <p:cNvPr id="43" name=""/>
          <p:cNvCxnSpPr>
            <a:stCxn xmlns:a="http://schemas.openxmlformats.org/drawingml/2006/main" id="6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3333750" y="6048375"/>
            <a:ext cx="2381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0A813"/>
            </a:solidFill>
            <a:prstDash val="solid"/>
            <a:headEnd type="arrow" w="med" len="med"/>
          </a:ln>
        </p:spPr>
      </p:cxnSp>
      <p:cxnSp>
        <p:nvCxnSpPr>
          <p:cNvPr id="44" name=""/>
          <p:cNvCxnSpPr>
            <a:stCxn xmlns:a="http://schemas.openxmlformats.org/drawingml/2006/main" id="10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8858250" y="6048375"/>
            <a:ext cx="3143250" cy="5715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0A813"/>
            </a:solidFill>
            <a:prstDash val="solid"/>
            <a:headEnd type="arrow" w="med" len="med"/>
          </a:ln>
        </p:spPr>
      </p:cxnSp>
      <p:cxnSp>
        <p:nvCxnSpPr>
          <p:cNvPr id="45" name=""/>
          <p:cNvCxnSpPr>
            <a:stCxn xmlns:a="http://schemas.openxmlformats.org/drawingml/2006/main" id="7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3333750" y="7572375"/>
            <a:ext cx="2381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C34B4B"/>
            </a:solidFill>
            <a:prstDash val="solid"/>
            <a:headEnd type="arrow" w="med" len="med"/>
          </a:ln>
        </p:spPr>
      </p:cxnSp>
      <p:cxnSp>
        <p:nvCxnSpPr>
          <p:cNvPr id="46" name=""/>
          <p:cNvCxnSpPr>
            <a:stCxn xmlns:a="http://schemas.openxmlformats.org/drawingml/2006/main" id="11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 flipV="1">
            <a:off x="8858250" y="6619875"/>
            <a:ext cx="3143250" cy="9525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C34B4B"/>
            </a:solidFill>
            <a:prstDash val="solid"/>
            <a:headEnd type="arrow" w="med" len="med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580D570-2DDA-42A6-9812-7A11913D6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73455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8A27E"/>
                </a:solidFill>
              </a:defRPr>
            </a:pPr>
            <a:r>
              <a:rPr sz="825" b="1">
                <a:solidFill>
                  <a:srgbClr val="78A27E"/>
                </a:solidFill>
              </a:rPr>
              <a:t>AI-POWERED FAMILY OFFICE PORTFOLIO DASHBOARD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2B6C83A-1D2E-4866-8968-577AC4F62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0" y="9696450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8A27E"/>
                </a:solidFill>
              </a:defRPr>
            </a:pPr>
            <a:r>
              <a:rPr sz="900" b="1">
                <a:solidFill>
                  <a:srgbClr val="78A27E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95228052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B69230-74BE-45A3-840B-A5D58B9AE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815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A813"/>
                </a:solidFill>
              </a:defRPr>
            </a:pPr>
            <a:r>
              <a:rPr sz="1125" b="1">
                <a:solidFill>
                  <a:srgbClr val="00A813"/>
                </a:solidFill>
              </a:rPr>
              <a:t>9 · STATE BOUNDARIES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84A375-A08B-47DC-8772-E60AAF813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19150"/>
            <a:ext cx="166116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713"/>
                </a:solidFill>
              </a:defRPr>
            </a:pPr>
            <a:r>
              <a:rPr sz="3000" b="1">
                <a:solidFill>
                  <a:srgbClr val="111713"/>
                </a:solidFill>
              </a:rPr>
              <a:t>The dashboard separates official state, approved overlay and uncertainty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CE2948-F678-4098-9E15-8F1610F24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43075"/>
            <a:ext cx="16611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4E9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820EB8-4F69-4470-A778-5CF382417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48000"/>
            <a:ext cx="4095750" cy="247650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4F6F4"/>
          </a:solidFill>
          <a:ln xmlns:a="http://schemas.openxmlformats.org/drawingml/2006/main" w="19050">
            <a:solidFill>
              <a:srgbClr val="8E9A9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1713"/>
                </a:solidFill>
              </a:defRPr>
            </a:pPr>
            <a:r>
              <a:rPr sz="1875" b="1">
                <a:solidFill>
                  <a:srgbClr val="111713"/>
                </a:solidFill>
              </a:rPr>
              <a:t>30 APRIL</a:t>
            </a:r>
          </a:p>
          <a:p xmlns:a="http://schemas.openxmlformats.org/drawingml/2006/main">
            <a:pPr algn="ctr">
              <a:defRPr sz="1875" b="1">
                <a:solidFill>
                  <a:srgbClr val="111713"/>
                </a:solidFill>
              </a:defRPr>
            </a:pPr>
            <a:r>
              <a:rPr sz="1875" b="1">
                <a:solidFill>
                  <a:srgbClr val="111713"/>
                </a:solidFill>
              </a:rPr>
              <a:t>OFFICIAL BASELINE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875" b="1">
                <a:solidFill>
                  <a:srgbClr val="111713"/>
                </a:solidFill>
              </a:defRPr>
            </a:pPr>
            <a:r>
              <a:rPr sz="1875" b="1">
                <a:solidFill>
                  <a:srgbClr val="111713"/>
                </a:solidFill>
              </a:rPr>
              <a:t>Booked portfolio + cash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33813E-85A8-4EB3-ADB4-EE3AD73A4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048000"/>
            <a:ext cx="4095750" cy="247650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E8F7E9"/>
          </a:solidFill>
          <a:ln xmlns:a="http://schemas.openxmlformats.org/drawingml/2006/main" w="19050">
            <a:solidFill>
              <a:srgbClr val="00A81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1713"/>
                </a:solidFill>
              </a:defRPr>
            </a:pPr>
            <a:r>
              <a:rPr sz="1875" b="1">
                <a:solidFill>
                  <a:srgbClr val="111713"/>
                </a:solidFill>
              </a:rPr>
              <a:t>31 MAY</a:t>
            </a:r>
          </a:p>
          <a:p xmlns:a="http://schemas.openxmlformats.org/drawingml/2006/main">
            <a:pPr algn="ctr">
              <a:defRPr sz="1875" b="1">
                <a:solidFill>
                  <a:srgbClr val="111713"/>
                </a:solidFill>
              </a:defRPr>
            </a:pPr>
            <a:r>
              <a:rPr sz="1875" b="1">
                <a:solidFill>
                  <a:srgbClr val="111713"/>
                </a:solidFill>
              </a:rPr>
              <a:t>APPROVED OVERLAY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875" b="1">
                <a:solidFill>
                  <a:srgbClr val="111713"/>
                </a:solidFill>
              </a:defRPr>
            </a:pPr>
            <a:r>
              <a:rPr sz="1875" b="1">
                <a:solidFill>
                  <a:srgbClr val="111713"/>
                </a:solidFill>
              </a:rPr>
              <a:t>3 applied documents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93EF8A-473E-4D5C-ABE9-558317CF0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3048000"/>
            <a:ext cx="4095750" cy="247650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1E9"/>
          </a:solidFill>
          <a:ln xmlns:a="http://schemas.openxmlformats.org/drawingml/2006/main" w="19050">
            <a:solidFill>
              <a:srgbClr val="C34B4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1713"/>
                </a:solidFill>
              </a:defRPr>
            </a:pPr>
            <a:r>
              <a:rPr sz="1875" b="1">
                <a:solidFill>
                  <a:srgbClr val="111713"/>
                </a:solidFill>
              </a:rPr>
              <a:t>BLOCKED STATE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875" b="1">
                <a:solidFill>
                  <a:srgbClr val="111713"/>
                </a:solidFill>
              </a:defRPr>
            </a:pPr>
            <a:r>
              <a:rPr sz="1875" b="1">
                <a:solidFill>
                  <a:srgbClr val="111713"/>
                </a:solidFill>
              </a:rPr>
              <a:t>2 needs review</a:t>
            </a:r>
          </a:p>
          <a:p xmlns:a="http://schemas.openxmlformats.org/drawingml/2006/main">
            <a:pPr algn="ctr">
              <a:defRPr sz="1875" b="1">
                <a:solidFill>
                  <a:srgbClr val="111713"/>
                </a:solidFill>
              </a:defRPr>
            </a:pPr>
            <a:r>
              <a:rPr sz="1875" b="1">
                <a:solidFill>
                  <a:srgbClr val="111713"/>
                </a:solidFill>
              </a:rPr>
              <a:t>1 rejected</a:t>
            </a:r>
          </a:p>
        </p:txBody>
      </p:sp>
      <p:cxnSp>
        <p:nvCxnSpPr>
          <p:cNvPr id="21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5238750" y="4286250"/>
            <a:ext cx="18573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0A813"/>
            </a:solidFill>
            <a:prstDash val="solid"/>
            <a:headEnd type="arrow" w="med" len="med"/>
          </a:ln>
        </p:spPr>
      </p:cxnSp>
      <p:cxnSp>
        <p:nvCxnSpPr>
          <p:cNvPr id="22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11191875" y="4286250"/>
            <a:ext cx="18573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9DA69F"/>
            </a:solidFill>
            <a:prstDash val="solid"/>
            <a:headEnd type="arrow" w="med" len="me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78242D-EC37-4958-BF63-1F56607F7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6096000"/>
            <a:ext cx="133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8736B"/>
                </a:solidFill>
              </a:defRPr>
            </a:pPr>
            <a:r>
              <a:rPr sz="1500" b="1">
                <a:solidFill>
                  <a:srgbClr val="68736B"/>
                </a:solidFill>
              </a:rPr>
              <a:t>Locked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1DF223-5359-4602-8B56-37187A335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609600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A813"/>
                </a:solidFill>
              </a:defRPr>
            </a:pPr>
            <a:r>
              <a:rPr sz="1500" b="1">
                <a:solidFill>
                  <a:srgbClr val="00A813"/>
                </a:solidFill>
              </a:rPr>
              <a:t>Visible + applied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390B6A-2B76-45BC-BCA4-71FE03EEE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4125" y="609600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34B4B"/>
                </a:solidFill>
              </a:defRPr>
            </a:pPr>
            <a:r>
              <a:rPr sz="1500" b="1">
                <a:solidFill>
                  <a:srgbClr val="C34B4B"/>
                </a:solidFill>
              </a:rPr>
              <a:t>Visible + not applied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F62C5A-896B-488F-8752-BBAD93DDA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7477125"/>
            <a:ext cx="1333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11713"/>
                </a:solidFill>
              </a:defRPr>
            </a:pPr>
            <a:r>
              <a:rPr sz="2550" b="1">
                <a:solidFill>
                  <a:srgbClr val="111713"/>
                </a:solidFill>
              </a:rPr>
              <a:t>The dashboard never collapses these states into one number.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C64937-1C8C-4EBF-B19B-592782E68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73455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7817A"/>
                </a:solidFill>
              </a:defRPr>
            </a:pPr>
            <a:r>
              <a:rPr sz="825" b="1">
                <a:solidFill>
                  <a:srgbClr val="77817A"/>
                </a:solidFill>
              </a:rPr>
              <a:t>AI-POWERED FAMILY OFFICE PORTFOLIO DASHBOARD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51A927-2E9F-4092-B344-73D759AA2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0" y="9696450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7817A"/>
                </a:solidFill>
              </a:defRPr>
            </a:pPr>
            <a:r>
              <a:rPr sz="900" b="1">
                <a:solidFill>
                  <a:srgbClr val="77817A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2565205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3080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2C753A-F27E-49F7-8B9B-BA732B316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815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1D52B"/>
                </a:solidFill>
              </a:defRPr>
            </a:pPr>
            <a:r>
              <a:rPr sz="1125" b="1">
                <a:solidFill>
                  <a:srgbClr val="21D52B"/>
                </a:solidFill>
              </a:rPr>
              <a:t>10 · DASHBOARD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FBD83C-DCCE-4251-B518-1D818F115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19150"/>
            <a:ext cx="166116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The overview establishes what is official before showing performance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C0A119-26D7-4654-BCF9-2F6977272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43075"/>
            <a:ext cx="16611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34128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a1b8842ff8470b"/>
          <a:stretch xmlns:a="http://schemas.openxmlformats.org/drawingml/2006/main"/>
        </p:blipFill>
        <p:spPr>
          <a:xfrm xmlns:a="http://schemas.openxmlformats.org/drawingml/2006/main">
            <a:off x="1959173" y="2143125"/>
            <a:ext cx="7625953" cy="5810250"/>
          </a:xfrm>
          <a:prstGeom xmlns:a="http://schemas.openxmlformats.org/drawingml/2006/main" prst="roundRect">
            <a:avLst>
              <a:gd name="adj" fmla="val 2951"/>
            </a:avLst>
          </a:prstGeom>
        </p:spPr>
      </p:pic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11572875" y="2524125"/>
          <a:ext xmlns:a="http://schemas.openxmlformats.org/drawingml/2006/main" cx="5334000" cy="4476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aba87d8fe274be2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96A56C-9F78-4184-B0A6-5828C48D3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2095500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2029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Portfolio mix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439F4F-C6AE-4BDE-8185-EFBBE58FA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7524750"/>
            <a:ext cx="3714750" cy="49530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21D52B"/>
          </a:solidFill>
          <a:ln xmlns:a="http://schemas.openxmlformats.org/drawingml/2006/main" w="9525">
            <a:solidFill>
              <a:srgbClr val="21D52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30806"/>
                </a:solidFill>
              </a:defRPr>
            </a:pPr>
            <a:r>
              <a:rPr sz="1200" b="1">
                <a:solidFill>
                  <a:srgbClr val="030806"/>
                </a:solidFill>
              </a:rPr>
              <a:t>USD 750m AUM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E4F44D-D37E-4B4A-9C53-FD11CDEC6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73455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8A27E"/>
                </a:solidFill>
              </a:defRPr>
            </a:pPr>
            <a:r>
              <a:rPr sz="825" b="1">
                <a:solidFill>
                  <a:srgbClr val="78A27E"/>
                </a:solidFill>
              </a:rPr>
              <a:t>AI-POWERED FAMILY OFFICE PORTFOLIO DASHBOARD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434866-23C4-4358-8FF5-8B1FDDE31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0" y="9696450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8A27E"/>
                </a:solidFill>
              </a:defRPr>
            </a:pPr>
            <a:r>
              <a:rPr sz="900" b="1">
                <a:solidFill>
                  <a:srgbClr val="78A27E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4063067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AD8C3E-449A-4240-8BDA-6F988FE49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815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A813"/>
                </a:solidFill>
              </a:defRPr>
            </a:pPr>
            <a:r>
              <a:rPr sz="1125" b="1">
                <a:solidFill>
                  <a:srgbClr val="00A813"/>
                </a:solidFill>
              </a:rPr>
              <a:t>11 · PRIVATE MARKETS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C5E97C-8AE1-4682-B0B0-0F6CE4087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19150"/>
            <a:ext cx="166116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713"/>
                </a:solidFill>
              </a:defRPr>
            </a:pPr>
            <a:r>
              <a:rPr sz="3000" b="1">
                <a:solidFill>
                  <a:srgbClr val="111713"/>
                </a:solidFill>
              </a:rPr>
              <a:t>Private-market commitments create the largest document dependency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E3E121-47EC-409F-B0BF-DA8E6264A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43075"/>
            <a:ext cx="16611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4E9E5"/>
            </a:solidFill>
            <a:prstDash val="solid"/>
          </a:ln>
        </p:spPr>
      </p:sp>
      <p:graphicFrame>
        <p:nvGraphicFramePr>
          <p:cNvPr id="13" name="Chart"/>
          <p:cNvGraphicFramePr/>
          <p:nvPr/>
        </p:nvGraphicFramePr>
        <p:xfrm>
          <a:off xmlns:a="http://schemas.openxmlformats.org/drawingml/2006/main" x="762000" y="2333625"/>
          <a:ext xmlns:a="http://schemas.openxmlformats.org/drawingml/2006/main" cx="9048750" cy="5810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bac4f85ec5f48b7"/>
          </a:graphicData>
        </a:graphic>
      </p:graphicFrame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eee6035cf04ee5"/>
          <a:stretch xmlns:a="http://schemas.openxmlformats.org/drawingml/2006/main"/>
        </p:blipFill>
        <p:spPr>
          <a:xfrm xmlns:a="http://schemas.openxmlformats.org/drawingml/2006/main">
            <a:off x="10781109" y="2381250"/>
            <a:ext cx="6250781" cy="4762500"/>
          </a:xfrm>
          <a:prstGeom xmlns:a="http://schemas.openxmlformats.org/drawingml/2006/main" prst="roundRect">
            <a:avLst>
              <a:gd name="adj" fmla="val 3600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38DF58-3722-488E-9032-1F66CD510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7524750"/>
            <a:ext cx="676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A813"/>
                </a:solidFill>
              </a:defRPr>
            </a:pPr>
            <a:r>
              <a:rPr sz="2250" b="1">
                <a:solidFill>
                  <a:srgbClr val="00A813"/>
                </a:solidFill>
              </a:rPr>
              <a:t>USD 500m commitments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FEA26C-FDF1-4736-97FD-B8C0FAF7C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8048625"/>
            <a:ext cx="676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713"/>
                </a:solidFill>
              </a:defRPr>
            </a:pPr>
            <a:r>
              <a:rPr sz="1725" b="0">
                <a:solidFill>
                  <a:srgbClr val="111713"/>
                </a:solidFill>
              </a:rPr>
              <a:t>USD 365m paid-in  ·  USD 135m unfunded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CF8AD0-9046-48AB-8B2F-1F8E23F65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73455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7817A"/>
                </a:solidFill>
              </a:defRPr>
            </a:pPr>
            <a:r>
              <a:rPr sz="825" b="1">
                <a:solidFill>
                  <a:srgbClr val="77817A"/>
                </a:solidFill>
              </a:rPr>
              <a:t>AI-POWERED FAMILY OFFICE PORTFOLIO DASHBOARD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3D5CE3-7DF4-412E-954A-52B573B1A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0" y="9696450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7817A"/>
                </a:solidFill>
              </a:defRPr>
            </a:pPr>
            <a:r>
              <a:rPr sz="900" b="1">
                <a:solidFill>
                  <a:srgbClr val="77817A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86364360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3080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2E77D3-FE34-48C5-A851-A7EAB4897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815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1D52B"/>
                </a:solidFill>
              </a:defRPr>
            </a:pPr>
            <a:r>
              <a:rPr sz="1125" b="1">
                <a:solidFill>
                  <a:srgbClr val="21D52B"/>
                </a:solidFill>
              </a:rPr>
              <a:t>12 · LIQUIDITY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375065-674D-4785-9B20-E84CBA677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19150"/>
            <a:ext cx="166116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Approved and blocked cash events lead to different liquidity decisions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C74C61-6F47-47B4-9224-67C12AF07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43075"/>
            <a:ext cx="16611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34128"/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22fabf20d54a68"/>
          <a:stretch xmlns:a="http://schemas.openxmlformats.org/drawingml/2006/main"/>
        </p:blipFill>
        <p:spPr>
          <a:xfrm xmlns:a="http://schemas.openxmlformats.org/drawingml/2006/main">
            <a:off x="1806773" y="2238375"/>
            <a:ext cx="7625953" cy="5810250"/>
          </a:xfrm>
          <a:prstGeom xmlns:a="http://schemas.openxmlformats.org/drawingml/2006/main" prst="roundRect">
            <a:avLst>
              <a:gd name="adj" fmla="val 2951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D5EE9D-F7BC-4722-A6A9-2855E4A5A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2952750"/>
            <a:ext cx="438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94A89A"/>
                </a:solidFill>
              </a:defRPr>
            </a:pPr>
            <a:r>
              <a:rPr sz="1350" b="1">
                <a:solidFill>
                  <a:srgbClr val="94A89A"/>
                </a:solidFill>
              </a:rPr>
              <a:t>BOOKED CASH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8F008D-05F1-4749-8146-8B625849D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3381375"/>
            <a:ext cx="4953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</a:defRPr>
            </a:pPr>
            <a:r>
              <a:rPr sz="3300" b="1">
                <a:solidFill>
                  <a:srgbClr val="FFFFFF"/>
                </a:solidFill>
              </a:rPr>
              <a:t>USD 22.5m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A0EDC1-FCE2-45A6-AF4C-95DBE3B2B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4572000"/>
            <a:ext cx="4953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1D52B"/>
                </a:solidFill>
              </a:defRPr>
            </a:pPr>
            <a:r>
              <a:rPr sz="1350" b="1">
                <a:solidFill>
                  <a:srgbClr val="21D52B"/>
                </a:solidFill>
              </a:rPr>
              <a:t>APPROVED PROJECTED INFLOW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7C294C-7A12-4206-B376-30FA699B0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5000625"/>
            <a:ext cx="4953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21D52B"/>
                </a:solidFill>
              </a:defRPr>
            </a:pPr>
            <a:r>
              <a:rPr sz="3300" b="1">
                <a:solidFill>
                  <a:srgbClr val="21D52B"/>
                </a:solidFill>
              </a:rPr>
              <a:t>+ USD 3.1m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90C132-17FF-4821-874B-0B2051214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191250"/>
            <a:ext cx="4953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49A9A"/>
                </a:solidFill>
              </a:defRPr>
            </a:pPr>
            <a:r>
              <a:rPr sz="1350" b="1">
                <a:solidFill>
                  <a:srgbClr val="E49A9A"/>
                </a:solidFill>
              </a:rPr>
              <a:t>BLOCKED CAPITAL CALLS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34A486-CBD5-4DBA-ADDD-187CDD5A1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619875"/>
            <a:ext cx="4953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E49A9A"/>
                </a:solidFill>
              </a:defRPr>
            </a:pPr>
            <a:r>
              <a:rPr sz="2850" b="1">
                <a:solidFill>
                  <a:srgbClr val="E49A9A"/>
                </a:solidFill>
              </a:rPr>
              <a:t>USD 7.0m not applied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AF9A7B-2520-4367-B386-2BA4469B5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7620000"/>
            <a:ext cx="5334000" cy="49530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12351A"/>
          </a:solidFill>
          <a:ln xmlns:a="http://schemas.openxmlformats.org/drawingml/2006/main" w="9525">
            <a:solidFill>
              <a:srgbClr val="12351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BOOKED ≠ PROJECTED ≠ BLOCKED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4A2BDE-7CAB-4A1B-9EFF-15D4B19AE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73455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8A27E"/>
                </a:solidFill>
              </a:defRPr>
            </a:pPr>
            <a:r>
              <a:rPr sz="825" b="1">
                <a:solidFill>
                  <a:srgbClr val="78A27E"/>
                </a:solidFill>
              </a:rPr>
              <a:t>AI-POWERED FAMILY OFFICE PORTFOLIO DASHBOARD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911EDF-B832-4CB8-95CA-A7D6A91F2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0" y="9696450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8A27E"/>
                </a:solidFill>
              </a:defRPr>
            </a:pPr>
            <a:r>
              <a:rPr sz="900" b="1">
                <a:solidFill>
                  <a:srgbClr val="78A27E"/>
                </a:solidFill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86364360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8AA54C-9C30-44AD-B365-C15C0EB5B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815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A813"/>
                </a:solidFill>
              </a:defRPr>
            </a:pPr>
            <a:r>
              <a:rPr sz="1125" b="1">
                <a:solidFill>
                  <a:srgbClr val="00A813"/>
                </a:solidFill>
              </a:rPr>
              <a:t>13 · RISK OVERLAY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B9C559-B4F4-4A12-8315-5B283C850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19150"/>
            <a:ext cx="166116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713"/>
                </a:solidFill>
              </a:defRPr>
            </a:pPr>
            <a:r>
              <a:rPr sz="3000" b="1">
                <a:solidFill>
                  <a:srgbClr val="111713"/>
                </a:solidFill>
              </a:rPr>
              <a:t>Public-proxy risk adds market context without overstating precision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0D6974-D217-481C-84AB-EA17FD6EF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43075"/>
            <a:ext cx="16611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4E9E5"/>
            </a:solidFill>
            <a:prstDash val="solid"/>
          </a:ln>
        </p:spPr>
      </p:sp>
      <p:graphicFrame>
        <p:nvGraphicFramePr>
          <p:cNvPr id="13" name="Chart"/>
          <p:cNvGraphicFramePr/>
          <p:nvPr/>
        </p:nvGraphicFramePr>
        <p:xfrm>
          <a:off xmlns:a="http://schemas.openxmlformats.org/drawingml/2006/main" x="857250" y="2381250"/>
          <a:ext xmlns:a="http://schemas.openxmlformats.org/drawingml/2006/main" cx="8096250" cy="5619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e82e36850e34941"/>
          </a:graphicData>
        </a:graphic>
      </p:graphicFrame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c5611fbd204eca"/>
          <a:stretch xmlns:a="http://schemas.openxmlformats.org/drawingml/2006/main"/>
        </p:blipFill>
        <p:spPr>
          <a:xfrm xmlns:a="http://schemas.openxmlformats.org/drawingml/2006/main">
            <a:off x="10400109" y="2381250"/>
            <a:ext cx="6250781" cy="4762500"/>
          </a:xfrm>
          <a:prstGeom xmlns:a="http://schemas.openxmlformats.org/drawingml/2006/main" prst="roundRect">
            <a:avLst>
              <a:gd name="adj" fmla="val 3600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35D516-9BBB-4CFF-8B1D-AE0F50502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7524750"/>
            <a:ext cx="4762500" cy="49530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00A813"/>
          </a:solidFill>
          <a:ln xmlns:a="http://schemas.openxmlformats.org/drawingml/2006/main" w="9525">
            <a:solidFill>
              <a:srgbClr val="00A81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30 REAL PROXY TICKERS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F08FE5-B102-44C0-BCE1-C572DD37F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8239125"/>
            <a:ext cx="714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6711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713"/>
                </a:solidFill>
              </a:defRPr>
            </a:pPr>
            <a:r>
              <a:rPr sz="1650" b="1">
                <a:solidFill>
                  <a:srgbClr val="111713"/>
                </a:solidFill>
              </a:rPr>
              <a:t>Directional monitoring only — not a production family-office risk engine.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946969-A37E-4EA7-A54F-F44F98D58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73455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7817A"/>
                </a:solidFill>
              </a:defRPr>
            </a:pPr>
            <a:r>
              <a:rPr sz="825" b="1">
                <a:solidFill>
                  <a:srgbClr val="77817A"/>
                </a:solidFill>
              </a:rPr>
              <a:t>AI-POWERED FAMILY OFFICE PORTFOLIO DASHBOARD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CBB457-1B53-4659-85AF-A99B5BF70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0" y="9696450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7817A"/>
                </a:solidFill>
              </a:defRPr>
            </a:pPr>
            <a:r>
              <a:rPr sz="900" b="1">
                <a:solidFill>
                  <a:srgbClr val="77817A"/>
                </a:solidFill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24063067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3080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39E574-58F9-4FF8-8C9A-5693D66BC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815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1D52B"/>
                </a:solidFill>
              </a:defRPr>
            </a:pPr>
            <a:r>
              <a:rPr sz="1125" b="1">
                <a:solidFill>
                  <a:srgbClr val="21D52B"/>
                </a:solidFill>
              </a:rPr>
              <a:t>14 · DASHBOARD CONTROLS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04F710-BF87-4C20-BAF5-C146FC73F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19150"/>
            <a:ext cx="166116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Workflow controls turn processing history into audit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C89823-3795-4E28-B20B-B958D17A4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43075"/>
            <a:ext cx="16611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34128"/>
            </a:solidFill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1dc7c4ecdd4e42"/>
          <a:stretch xmlns:a="http://schemas.openxmlformats.org/drawingml/2006/main"/>
        </p:blipFill>
        <p:spPr>
          <a:xfrm xmlns:a="http://schemas.openxmlformats.org/drawingml/2006/main">
            <a:off x="1937742" y="2143125"/>
            <a:ext cx="8126016" cy="6191250"/>
          </a:xfrm>
          <a:prstGeom xmlns:a="http://schemas.openxmlformats.org/drawingml/2006/main" prst="roundRect">
            <a:avLst>
              <a:gd name="adj" fmla="val 2769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6E9270-484F-487F-B663-1E5E8CAA1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2571750"/>
            <a:ext cx="400050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02716"/>
          </a:solidFill>
          <a:ln xmlns:a="http://schemas.openxmlformats.org/drawingml/2006/main" w="19050">
            <a:solidFill>
              <a:srgbClr val="21D52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6</a:t>
            </a:r>
          </a:p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INGESTED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40F978-694A-4903-932F-0736DC697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4286250"/>
            <a:ext cx="400050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21D52B"/>
          </a:solidFill>
          <a:ln xmlns:a="http://schemas.openxmlformats.org/drawingml/2006/main" w="19050">
            <a:solidFill>
              <a:srgbClr val="21D52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30806"/>
                </a:solidFill>
              </a:defRPr>
            </a:pPr>
            <a:r>
              <a:rPr sz="1350" b="1">
                <a:solidFill>
                  <a:srgbClr val="030806"/>
                </a:solidFill>
              </a:rPr>
              <a:t>3</a:t>
            </a:r>
          </a:p>
          <a:p xmlns:a="http://schemas.openxmlformats.org/drawingml/2006/main">
            <a:pPr algn="ctr">
              <a:defRPr sz="1350" b="1">
                <a:solidFill>
                  <a:srgbClr val="030806"/>
                </a:solidFill>
              </a:defRPr>
            </a:pPr>
            <a:r>
              <a:rPr sz="1350" b="1">
                <a:solidFill>
                  <a:srgbClr val="030806"/>
                </a:solidFill>
              </a:rPr>
              <a:t>APPLIED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522C46-9F3B-42A1-B75F-49677F54E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6000750"/>
            <a:ext cx="400050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291315"/>
          </a:solidFill>
          <a:ln xmlns:a="http://schemas.openxmlformats.org/drawingml/2006/main" w="19050">
            <a:solidFill>
              <a:srgbClr val="C34B4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3</a:t>
            </a:r>
          </a:p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BLOCKED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44DFD5-AE43-4F31-9A6F-2FB8ACA33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7762875"/>
            <a:ext cx="533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Source ID · validation rule · status · reviewer note · update reason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D789A4-C58F-4D40-A54B-226A5D8B2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73455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8A27E"/>
                </a:solidFill>
              </a:defRPr>
            </a:pPr>
            <a:r>
              <a:rPr sz="825" b="1">
                <a:solidFill>
                  <a:srgbClr val="78A27E"/>
                </a:solidFill>
              </a:rPr>
              <a:t>AI-POWERED FAMILY OFFICE PORTFOLIO DASHBOARD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4BE6F5-D715-4326-A1E3-8BFD6DA2D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0" y="9696450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8A27E"/>
                </a:solidFill>
              </a:defRPr>
            </a:pPr>
            <a:r>
              <a:rPr sz="900" b="1">
                <a:solidFill>
                  <a:srgbClr val="78A27E"/>
                </a:solidFill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24063067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86CC61-D90E-4158-8CC0-045BBA32F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815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A813"/>
                </a:solidFill>
              </a:defRPr>
            </a:pPr>
            <a:r>
              <a:rPr sz="1125" b="1">
                <a:solidFill>
                  <a:srgbClr val="00A813"/>
                </a:solidFill>
              </a:rPr>
              <a:t>15 · STAKEHOLDER VALUE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67B405-76A6-4F0A-9BDA-21492AEB5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19150"/>
            <a:ext cx="166116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713"/>
                </a:solidFill>
              </a:defRPr>
            </a:pPr>
            <a:r>
              <a:rPr sz="3000" b="1">
                <a:solidFill>
                  <a:srgbClr val="111713"/>
                </a:solidFill>
              </a:rPr>
              <a:t>One controlled information chain supports three different decisions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AF3E7B-F524-480D-94E8-76F5FE57C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43075"/>
            <a:ext cx="16611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4E9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783B34-8F2A-457D-8D37-EDC1A75BE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905250"/>
            <a:ext cx="3810000" cy="161925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21D52B"/>
          </a:solidFill>
          <a:ln xmlns:a="http://schemas.openxmlformats.org/drawingml/2006/main" w="19050">
            <a:solidFill>
              <a:srgbClr val="21D52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30806"/>
                </a:solidFill>
              </a:defRPr>
            </a:pPr>
            <a:r>
              <a:rPr sz="2250" b="1">
                <a:solidFill>
                  <a:srgbClr val="030806"/>
                </a:solidFill>
              </a:rPr>
              <a:t>CONTROLLED</a:t>
            </a:r>
          </a:p>
          <a:p xmlns:a="http://schemas.openxmlformats.org/drawingml/2006/main">
            <a:pPr algn="ctr">
              <a:defRPr sz="2250" b="1">
                <a:solidFill>
                  <a:srgbClr val="030806"/>
                </a:solidFill>
              </a:defRPr>
            </a:pPr>
            <a:r>
              <a:rPr sz="2250" b="1">
                <a:solidFill>
                  <a:srgbClr val="030806"/>
                </a:solidFill>
              </a:rPr>
              <a:t>PORTFOLIO STATE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FD3215-9C2B-4E63-98AF-801A37085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48000"/>
            <a:ext cx="4191000" cy="247650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E8F7E9"/>
          </a:solidFill>
          <a:ln xmlns:a="http://schemas.openxmlformats.org/drawingml/2006/main" w="19050">
            <a:solidFill>
              <a:srgbClr val="00A81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11713"/>
                </a:solidFill>
              </a:defRPr>
            </a:pPr>
            <a:r>
              <a:rPr sz="1725" b="1">
                <a:solidFill>
                  <a:srgbClr val="111713"/>
                </a:solidFill>
              </a:rPr>
              <a:t>CIO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725" b="1">
                <a:solidFill>
                  <a:srgbClr val="111713"/>
                </a:solidFill>
              </a:defRPr>
            </a:pPr>
            <a:r>
              <a:rPr sz="1725" b="1">
                <a:solidFill>
                  <a:srgbClr val="111713"/>
                </a:solidFill>
              </a:rPr>
              <a:t>Allocation · liquidity coverage</a:t>
            </a:r>
          </a:p>
          <a:p xmlns:a="http://schemas.openxmlformats.org/drawingml/2006/main">
            <a:pPr algn="ctr">
              <a:defRPr sz="1725" b="1">
                <a:solidFill>
                  <a:srgbClr val="111713"/>
                </a:solidFill>
              </a:defRPr>
            </a:pPr>
            <a:r>
              <a:rPr sz="1725" b="1">
                <a:solidFill>
                  <a:srgbClr val="111713"/>
                </a:solidFill>
              </a:rPr>
              <a:t>concentration · uncertainty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2BEB25-8095-46CB-8BE2-83B605EE0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572250"/>
            <a:ext cx="5334000" cy="209550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E8F7E9"/>
          </a:solidFill>
          <a:ln xmlns:a="http://schemas.openxmlformats.org/drawingml/2006/main" w="19050">
            <a:solidFill>
              <a:srgbClr val="00A81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11713"/>
                </a:solidFill>
              </a:defRPr>
            </a:pPr>
            <a:r>
              <a:rPr sz="1725" b="1">
                <a:solidFill>
                  <a:srgbClr val="111713"/>
                </a:solidFill>
              </a:rPr>
              <a:t>INVESTMENT ANALYST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725" b="1">
                <a:solidFill>
                  <a:srgbClr val="111713"/>
                </a:solidFill>
              </a:defRPr>
            </a:pPr>
            <a:r>
              <a:rPr sz="1725" b="1">
                <a:solidFill>
                  <a:srgbClr val="111713"/>
                </a:solidFill>
              </a:rPr>
              <a:t>Fund NAV · commitments</a:t>
            </a:r>
          </a:p>
          <a:p xmlns:a="http://schemas.openxmlformats.org/drawingml/2006/main">
            <a:pPr algn="ctr">
              <a:defRPr sz="1725" b="1">
                <a:solidFill>
                  <a:srgbClr val="111713"/>
                </a:solidFill>
              </a:defRPr>
            </a:pPr>
            <a:r>
              <a:rPr sz="1725" b="1">
                <a:solidFill>
                  <a:srgbClr val="111713"/>
                </a:solidFill>
              </a:rPr>
              <a:t>cash flows · source evidence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7543EA-89EA-4E47-B702-A94068583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3048000"/>
            <a:ext cx="4191000" cy="247650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E8F7E9"/>
          </a:solidFill>
          <a:ln xmlns:a="http://schemas.openxmlformats.org/drawingml/2006/main" w="19050">
            <a:solidFill>
              <a:srgbClr val="00A81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11713"/>
                </a:solidFill>
              </a:defRPr>
            </a:pPr>
            <a:r>
              <a:rPr sz="1725" b="1">
                <a:solidFill>
                  <a:srgbClr val="111713"/>
                </a:solidFill>
              </a:rPr>
              <a:t>OPERATIONS / FINANCE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725" b="1">
                <a:solidFill>
                  <a:srgbClr val="111713"/>
                </a:solidFill>
              </a:defRPr>
            </a:pPr>
            <a:r>
              <a:rPr sz="1725" b="1">
                <a:solidFill>
                  <a:srgbClr val="111713"/>
                </a:solidFill>
              </a:rPr>
              <a:t>Intake · exceptions · approvals</a:t>
            </a:r>
          </a:p>
          <a:p xmlns:a="http://schemas.openxmlformats.org/drawingml/2006/main">
            <a:pPr algn="ctr">
              <a:defRPr sz="1725" b="1">
                <a:solidFill>
                  <a:srgbClr val="111713"/>
                </a:solidFill>
              </a:defRPr>
            </a:pPr>
            <a:r>
              <a:rPr sz="1725" b="1">
                <a:solidFill>
                  <a:srgbClr val="111713"/>
                </a:solidFill>
              </a:rPr>
              <a:t>booked vs projected cash</a:t>
            </a:r>
          </a:p>
        </p:txBody>
      </p:sp>
      <p:cxnSp>
        <p:nvCxnSpPr>
          <p:cNvPr id="20" name=""/>
          <p:cNvCxnSpPr>
            <a:stCxn xmlns:a="http://schemas.openxmlformats.org/drawingml/2006/main" id="5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5334000" y="4286250"/>
            <a:ext cx="1905000" cy="4286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0A813"/>
            </a:solidFill>
            <a:prstDash val="solid"/>
            <a:headEnd type="arrow" w="med" len="med"/>
          </a:ln>
        </p:spPr>
      </p:cxnSp>
      <p:cxnSp>
        <p:nvCxnSpPr>
          <p:cNvPr id="21" name=""/>
          <p:cNvCxnSpPr>
            <a:stCxn xmlns:a="http://schemas.openxmlformats.org/drawingml/2006/main" id="4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11049000" y="4286250"/>
            <a:ext cx="1905000" cy="4286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0A813"/>
            </a:solidFill>
            <a:prstDash val="solid"/>
            <a:headEnd type="arrow" w="med" len="med"/>
          </a:ln>
        </p:spPr>
      </p:cxnSp>
      <p:cxnSp>
        <p:nvCxnSpPr>
          <p:cNvPr id="22" name=""/>
          <p:cNvCxnSpPr>
            <a:stCxn xmlns:a="http://schemas.openxmlformats.org/drawingml/2006/main" id="4" idx="2"/>
            <a:endCxn xmlns:a="http://schemas.openxmlformats.org/drawingml/2006/main" id="6" idx="0"/>
          </p:cNvCxnSpPr>
          <p:nvPr/>
        </p:nvCxnSpPr>
        <p:spPr>
          <a:xfrm xmlns:a="http://schemas.openxmlformats.org/drawingml/2006/main">
            <a:off x="9144000" y="5524500"/>
            <a:ext cx="0" cy="10477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0A813"/>
            </a:solidFill>
            <a:prstDash val="solid"/>
            <a:headEnd type="arrow" w="med" len="me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6782B9-0A46-471F-9F61-23DB9A794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73455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7817A"/>
                </a:solidFill>
              </a:defRPr>
            </a:pPr>
            <a:r>
              <a:rPr sz="825" b="1">
                <a:solidFill>
                  <a:srgbClr val="77817A"/>
                </a:solidFill>
              </a:rPr>
              <a:t>AI-POWERED FAMILY OFFICE PORTFOLIO DASHBOARD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706338-9B66-41AB-961A-1622374B9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0" y="9696450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7817A"/>
                </a:solidFill>
              </a:defRPr>
            </a:pPr>
            <a:r>
              <a:rPr sz="900" b="1">
                <a:solidFill>
                  <a:srgbClr val="77817A"/>
                </a:solidFill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95228052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3080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F12348-0F4C-4B39-972B-9A2C99861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815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1D52B"/>
                </a:solidFill>
              </a:defRPr>
            </a:pPr>
            <a:r>
              <a:rPr sz="1125" b="1">
                <a:solidFill>
                  <a:srgbClr val="21D52B"/>
                </a:solidFill>
              </a:rPr>
              <a:t>16 · RESULTS AND NEXT STEP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8A1BAC-FBF0-4EAC-A0D3-21C4071D9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19150"/>
            <a:ext cx="166116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The proof of concept demonstrates control; production requires hardening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C6D011-CCB9-4326-966C-73D0E9C72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43075"/>
            <a:ext cx="16611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3412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559A21-5ADA-495A-A398-A5914ED72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81250"/>
            <a:ext cx="4000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21D52B"/>
                </a:solidFill>
              </a:defRPr>
            </a:pPr>
            <a:r>
              <a:rPr sz="4050" b="1">
                <a:solidFill>
                  <a:srgbClr val="21D52B"/>
                </a:solidFill>
              </a:rPr>
              <a:t>26 / 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627AD4-5485-49FE-85C0-37E8810AD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190875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DATA QA CHECKS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040A61-0787-4912-84AE-1BF463820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81250"/>
            <a:ext cx="4000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21D52B"/>
                </a:solidFill>
              </a:defRPr>
            </a:pPr>
            <a:r>
              <a:rPr sz="4050" b="1">
                <a:solidFill>
                  <a:srgbClr val="21D52B"/>
                </a:solidFill>
              </a:rPr>
              <a:t>129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A143BA-62C9-48CB-A743-9108D962F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190875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AUTOMATED TESTS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52F673-36EE-4999-B9EE-215A07648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2381250"/>
            <a:ext cx="4000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21D52B"/>
                </a:solidFill>
              </a:defRPr>
            </a:pPr>
            <a:r>
              <a:rPr sz="4050" b="1">
                <a:solidFill>
                  <a:srgbClr val="21D52B"/>
                </a:solidFill>
              </a:rPr>
              <a:t>3 / 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86D948-29DA-4621-A0B2-D9625C2AF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625" y="3190875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APPLIED / BLOCKED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251243-CF09-47F5-9A24-9AA305188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4476750" cy="209550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102716"/>
          </a:solidFill>
          <a:ln xmlns:a="http://schemas.openxmlformats.org/drawingml/2006/main" w="19050">
            <a:solidFill>
              <a:srgbClr val="21D52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PILOT</a:t>
            </a:r>
          </a:p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Owners · review roles</a:t>
            </a:r>
          </a:p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thresholds · benchmarks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6D9E77-06C3-4068-BD0B-58C21D404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953000"/>
            <a:ext cx="4476750" cy="209550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102716"/>
          </a:solidFill>
          <a:ln xmlns:a="http://schemas.openxmlformats.org/drawingml/2006/main" w="19050">
            <a:solidFill>
              <a:srgbClr val="21D52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HARDEN</a:t>
            </a:r>
          </a:p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Integrations · permissions</a:t>
            </a:r>
          </a:p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monitoring · audit retention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994825-582E-4762-82FE-572C9D812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4953000"/>
            <a:ext cx="4476750" cy="209550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102716"/>
          </a:solidFill>
          <a:ln xmlns:a="http://schemas.openxmlformats.org/drawingml/2006/main" w="19050">
            <a:solidFill>
              <a:srgbClr val="21D52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EXPAND</a:t>
            </a:r>
          </a:p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More documents · forecasts</a:t>
            </a:r>
          </a:p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look-through · approvals</a:t>
            </a:r>
          </a:p>
        </p:txBody>
      </p:sp>
      <p:cxnSp>
        <p:nvCxnSpPr>
          <p:cNvPr id="30" name=""/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5429250" y="6000750"/>
            <a:ext cx="14763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0A813"/>
            </a:solidFill>
            <a:prstDash val="solid"/>
            <a:headEnd type="arrow" w="med" len="med"/>
          </a:ln>
        </p:spPr>
      </p:cxnSp>
      <p:cxnSp>
        <p:nvCxnSpPr>
          <p:cNvPr id="31" name=""/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11382375" y="6000750"/>
            <a:ext cx="14763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0A813"/>
            </a:solidFill>
            <a:prstDash val="solid"/>
            <a:headEnd type="arrow" w="med" len="me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9340FF-3A23-4B94-B931-4098CFEF7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7905750"/>
            <a:ext cx="13525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6038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Most valuable outcome: a traceable and governed route from document evidence to decision support.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44AD74-B0E0-44A4-B5ED-0F018CF86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73455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8A27E"/>
                </a:solidFill>
              </a:defRPr>
            </a:pPr>
            <a:r>
              <a:rPr sz="825" b="1">
                <a:solidFill>
                  <a:srgbClr val="78A27E"/>
                </a:solidFill>
              </a:rPr>
              <a:t>AI-POWERED FAMILY OFFICE PORTFOLIO DASHBOARD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69A35B-4A39-4089-A1A1-846A1DEB6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0" y="9696450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8A27E"/>
                </a:solidFill>
              </a:defRPr>
            </a:pPr>
            <a:r>
              <a:rPr sz="900" b="1">
                <a:solidFill>
                  <a:srgbClr val="78A27E"/>
                </a:solidFill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95228052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3080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148DFA-E530-4AD3-B233-EFBDA779E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95250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1D52B"/>
                </a:solidFill>
              </a:defRPr>
            </a:pPr>
            <a:r>
              <a:rPr sz="1350" b="1">
                <a:solidFill>
                  <a:srgbClr val="21D52B"/>
                </a:solidFill>
              </a:rPr>
              <a:t>THE PROJECT ANSWERS THE OPENING QUESTION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558B16-CC3F-4FC4-BFB0-DE58D629B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43125"/>
            <a:ext cx="10477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FFFFFF"/>
                </a:solidFill>
              </a:defRPr>
            </a:pPr>
            <a:r>
              <a:rPr sz="4500" b="1">
                <a:solidFill>
                  <a:srgbClr val="FFFFFF"/>
                </a:solidFill>
              </a:rPr>
              <a:t>Automate preparation.</a:t>
            </a:r>
          </a:p>
          <a:p xmlns:a="http://schemas.openxmlformats.org/drawingml/2006/main">
            <a:pPr algn="l">
              <a:defRPr sz="4500" b="1">
                <a:solidFill>
                  <a:srgbClr val="FFFFFF"/>
                </a:solidFill>
              </a:defRPr>
            </a:pPr>
            <a:r>
              <a:rPr sz="4500" b="1">
                <a:solidFill>
                  <a:srgbClr val="FFFFFF"/>
                </a:solidFill>
              </a:rPr>
              <a:t>Preserve human authority.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41484E-7685-4B2F-8FEF-27EB1EC75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905500"/>
            <a:ext cx="3143250" cy="9525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02716"/>
          </a:solidFill>
          <a:ln xmlns:a="http://schemas.openxmlformats.org/drawingml/2006/main" w="19050">
            <a:solidFill>
              <a:srgbClr val="21D52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DOCUMENT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FF39A7-1350-4D20-9140-5363C983F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5905500"/>
            <a:ext cx="3143250" cy="9525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21D52B"/>
          </a:solidFill>
          <a:ln xmlns:a="http://schemas.openxmlformats.org/drawingml/2006/main" w="19050">
            <a:solidFill>
              <a:srgbClr val="21D52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30806"/>
                </a:solidFill>
              </a:defRPr>
            </a:pPr>
            <a:r>
              <a:rPr sz="1350" b="1">
                <a:solidFill>
                  <a:srgbClr val="030806"/>
                </a:solidFill>
              </a:rPr>
              <a:t>CONTROL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C9DE88-31F4-4DE6-80C6-7265B6611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68375" y="5905500"/>
            <a:ext cx="3143250" cy="9525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02716"/>
          </a:solidFill>
          <a:ln xmlns:a="http://schemas.openxmlformats.org/drawingml/2006/main" w="19050">
            <a:solidFill>
              <a:srgbClr val="21D52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DECISION</a:t>
            </a:r>
          </a:p>
        </p:txBody>
      </p:sp>
      <p:cxnSp>
        <p:nvCxnSpPr>
          <p:cNvPr id="14" name=""/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4619625" y="6381750"/>
            <a:ext cx="29527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0A813"/>
            </a:solidFill>
            <a:prstDash val="solid"/>
            <a:headEnd type="arrow" w="med" len="med"/>
          </a:ln>
        </p:spPr>
      </p:cxnSp>
      <p:cxnSp>
        <p:nvCxnSpPr>
          <p:cNvPr id="15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10715625" y="6381750"/>
            <a:ext cx="29527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0A813"/>
            </a:solidFill>
            <a:prstDash val="solid"/>
            <a:headEnd type="arrow" w="med" len="med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88A0C9-E6DE-4D25-A725-29BDF82AA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8239125"/>
            <a:ext cx="666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3450" b="1">
                <a:solidFill>
                  <a:srgbClr val="21D52B"/>
                </a:solidFill>
              </a:defRPr>
            </a:pPr>
            <a:r>
              <a:rPr sz="3450" b="1">
                <a:solidFill>
                  <a:srgbClr val="21D52B"/>
                </a:solidFill>
              </a:rPr>
              <a:t>CONTROL THE FLOW</a:t>
            </a:r>
          </a:p>
        </p:txBody>
      </p:sp>
    </p:spTree>
    <p:extLst>
      <p:ext uri="{BB962C8B-B14F-4D97-AF65-F5344CB8AC3E}">
        <p14:creationId xmlns:p14="http://schemas.microsoft.com/office/powerpoint/2010/main" val="286388694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2026-07-29T09:53:35.0500000Z</dcterms:created>
  <dcterms:modified xsi:type="dcterms:W3CDTF">2026-07-29T09:53:35.0500000Z</dcterms:modified>
</coreProperties>
</file>