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svg" ContentType="image/svg+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dffef89b4f148e5" /><Relationship Type="http://schemas.openxmlformats.org/officeDocument/2006/relationships/extended-properties" Target="/docProps/app.xml" Id="R0672f0400b6442df" /><Relationship Type="http://schemas.openxmlformats.org/officeDocument/2006/relationships/officeDocument" Target="/ppt/presentation.xml" Id="Rd9b98bce872c48d0"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84b4065bdf434dd8"/>
  </p:sldMasterIdLst>
  <p:notesMasterIdLst>
    <p:notesMasterId xmlns:r="http://schemas.openxmlformats.org/officeDocument/2006/relationships" r:id="R51c2809c8e474982"/>
  </p:notesMasterIdLst>
  <p:sldIdLst>
    <p:sldId xmlns:r="http://schemas.openxmlformats.org/officeDocument/2006/relationships" id="256" r:id="R5dd7cf2b1d854044"/>
    <p:sldId xmlns:r="http://schemas.openxmlformats.org/officeDocument/2006/relationships" id="257" r:id="R13e0728d74f94021"/>
    <p:sldId xmlns:r="http://schemas.openxmlformats.org/officeDocument/2006/relationships" id="258" r:id="R41d7d190e394432b"/>
    <p:sldId xmlns:r="http://schemas.openxmlformats.org/officeDocument/2006/relationships" id="259" r:id="Rce5038a43fb54c90"/>
    <p:sldId xmlns:r="http://schemas.openxmlformats.org/officeDocument/2006/relationships" id="260" r:id="R004111041bda4c03"/>
    <p:sldId xmlns:r="http://schemas.openxmlformats.org/officeDocument/2006/relationships" id="261" r:id="R3f830d1d3250445a"/>
    <p:sldId xmlns:r="http://schemas.openxmlformats.org/officeDocument/2006/relationships" id="262" r:id="R2e688cb30c3743eb"/>
    <p:sldId xmlns:r="http://schemas.openxmlformats.org/officeDocument/2006/relationships" id="263" r:id="R4a445ad0a5ab4072"/>
    <p:sldId xmlns:r="http://schemas.openxmlformats.org/officeDocument/2006/relationships" id="264" r:id="Rf606a60bcd8d4d5c"/>
    <p:sldId xmlns:r="http://schemas.openxmlformats.org/officeDocument/2006/relationships" id="265" r:id="Rc365efb8b4f94c18"/>
    <p:sldId xmlns:r="http://schemas.openxmlformats.org/officeDocument/2006/relationships" id="266" r:id="R854f5df1d2564a90"/>
    <p:sldId xmlns:r="http://schemas.openxmlformats.org/officeDocument/2006/relationships" id="267" r:id="R4d329a5ad21f424c"/>
    <p:sldId xmlns:r="http://schemas.openxmlformats.org/officeDocument/2006/relationships" id="268" r:id="R3be3fc5bbf134a17"/>
    <p:sldId xmlns:r="http://schemas.openxmlformats.org/officeDocument/2006/relationships" id="269" r:id="Rbeac482684e549db"/>
    <p:sldId xmlns:r="http://schemas.openxmlformats.org/officeDocument/2006/relationships" id="270" r:id="R92ebe7c3558845da"/>
    <p:sldId xmlns:r="http://schemas.openxmlformats.org/officeDocument/2006/relationships" id="271" r:id="R542ead29a84b4f35"/>
    <p:sldId xmlns:r="http://schemas.openxmlformats.org/officeDocument/2006/relationships" id="272" r:id="Rcbc4bde55c1f49ad"/>
    <p:sldId xmlns:r="http://schemas.openxmlformats.org/officeDocument/2006/relationships" id="273" r:id="R6edd22f872ce4c35"/>
  </p:sldIdLst>
  <p:sldSz cx="18288000" cy="10287000"/>
  <p:notesSz cx="6858000" cy="9144000"/>
  <p:embeddedFontLst>
    <p:embeddedFont>
      <p:font typeface="Garet"/>
      <p:regular xmlns:r="http://schemas.openxmlformats.org/officeDocument/2006/relationships" r:id="R1d6a6da343dd4c07"/>
    </p:embeddedFont>
    <p:embeddedFont>
      <p:font typeface="Garet Bold"/>
      <p:regular xmlns:r="http://schemas.openxmlformats.org/officeDocument/2006/relationships" r:id="R35d67f973d514669"/>
      <p:bold xmlns:r="http://schemas.openxmlformats.org/officeDocument/2006/relationships" r:id="Re97986661ce34d12"/>
    </p:embeddedFont>
  </p:embeddedFontLst>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e26db66d8d84698" /><Relationship Type="http://schemas.openxmlformats.org/officeDocument/2006/relationships/slideMaster" Target="/ppt/slideMasters/slideMaster1.xml" Id="R84b4065bdf434dd8" /><Relationship Type="http://schemas.openxmlformats.org/officeDocument/2006/relationships/notesMaster" Target="/ppt/notesMasters/notesMaster1.xml" Id="R51c2809c8e474982" /><Relationship Type="http://schemas.openxmlformats.org/officeDocument/2006/relationships/presProps" Target="/ppt/presProps.xml" Id="Raa80ededd3e745ea" /><Relationship Type="http://schemas.openxmlformats.org/officeDocument/2006/relationships/viewProps" Target="/ppt/viewProps.xml" Id="R19dd818831ee4674" /><Relationship Type="http://schemas.openxmlformats.org/officeDocument/2006/relationships/tableStyles" Target="/ppt/tableStyles.xml" Id="Rfbdadeeb4b924560" /><Relationship Type="http://schemas.openxmlformats.org/officeDocument/2006/relationships/font" Target="/ppt/fonts/font.dat" Id="R1d6a6da343dd4c07" /><Relationship Type="http://schemas.openxmlformats.org/officeDocument/2006/relationships/font" Target="/ppt/fonts/font2.dat" Id="R35d67f973d514669" /><Relationship Type="http://schemas.openxmlformats.org/officeDocument/2006/relationships/font" Target="/ppt/fonts/font3.dat" Id="Re97986661ce34d12" /><Relationship Type="http://schemas.openxmlformats.org/officeDocument/2006/relationships/slide" Target="/ppt/slides/slide1.xml" Id="R5dd7cf2b1d854044" /><Relationship Type="http://schemas.openxmlformats.org/officeDocument/2006/relationships/slide" Target="/ppt/slides/slide2.xml" Id="R13e0728d74f94021" /><Relationship Type="http://schemas.openxmlformats.org/officeDocument/2006/relationships/slide" Target="/ppt/slides/slide3.xml" Id="R41d7d190e394432b" /><Relationship Type="http://schemas.openxmlformats.org/officeDocument/2006/relationships/slide" Target="/ppt/slides/slide4.xml" Id="Rce5038a43fb54c90" /><Relationship Type="http://schemas.openxmlformats.org/officeDocument/2006/relationships/slide" Target="/ppt/slides/slide5.xml" Id="R004111041bda4c03" /><Relationship Type="http://schemas.openxmlformats.org/officeDocument/2006/relationships/slide" Target="/ppt/slides/slide6.xml" Id="R3f830d1d3250445a" /><Relationship Type="http://schemas.openxmlformats.org/officeDocument/2006/relationships/slide" Target="/ppt/slides/slide7.xml" Id="R2e688cb30c3743eb" /><Relationship Type="http://schemas.openxmlformats.org/officeDocument/2006/relationships/slide" Target="/ppt/slides/slide8.xml" Id="R4a445ad0a5ab4072" /><Relationship Type="http://schemas.openxmlformats.org/officeDocument/2006/relationships/slide" Target="/ppt/slides/slide9.xml" Id="Rf606a60bcd8d4d5c" /><Relationship Type="http://schemas.openxmlformats.org/officeDocument/2006/relationships/slide" Target="/ppt/slides/slide10.xml" Id="Rc365efb8b4f94c18" /><Relationship Type="http://schemas.openxmlformats.org/officeDocument/2006/relationships/slide" Target="/ppt/slides/slide11.xml" Id="R854f5df1d2564a90" /><Relationship Type="http://schemas.openxmlformats.org/officeDocument/2006/relationships/slide" Target="/ppt/slides/slide12.xml" Id="R4d329a5ad21f424c" /><Relationship Type="http://schemas.openxmlformats.org/officeDocument/2006/relationships/slide" Target="/ppt/slides/slide13.xml" Id="R3be3fc5bbf134a17" /><Relationship Type="http://schemas.openxmlformats.org/officeDocument/2006/relationships/slide" Target="/ppt/slides/slide14.xml" Id="Rbeac482684e549db" /><Relationship Type="http://schemas.openxmlformats.org/officeDocument/2006/relationships/slide" Target="/ppt/slides/slide15.xml" Id="R92ebe7c3558845da" /><Relationship Type="http://schemas.openxmlformats.org/officeDocument/2006/relationships/slide" Target="/ppt/slides/slide16.xml" Id="R542ead29a84b4f35" /><Relationship Type="http://schemas.openxmlformats.org/officeDocument/2006/relationships/slide" Target="/ppt/slides/slide17.xml" Id="Rcbc4bde55c1f49ad" /><Relationship Type="http://schemas.openxmlformats.org/officeDocument/2006/relationships/slide" Target="/ppt/slides/slide18.xml" Id="R6edd22f872ce4c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f54c1407194f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98f059b7214bab" /><Relationship Type="http://schemas.openxmlformats.org/officeDocument/2006/relationships/notesMaster" Target="/ppt/notesMasters/notesMaster1.xml" Id="R387ae397c78d46e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b511f612a4414d" /><Relationship Type="http://schemas.openxmlformats.org/officeDocument/2006/relationships/notesMaster" Target="/ppt/notesMasters/notesMaster1.xml" Id="R79b3e1e40fa74a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3ea3e759b54fe9" /><Relationship Type="http://schemas.openxmlformats.org/officeDocument/2006/relationships/notesMaster" Target="/ppt/notesMasters/notesMaster1.xml" Id="Rd6f27fa06fbc4f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5a5a3a8c4a465a" /><Relationship Type="http://schemas.openxmlformats.org/officeDocument/2006/relationships/notesMaster" Target="/ppt/notesMasters/notesMaster1.xml" Id="Re6ca007eeba842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c062ce6f854725" /><Relationship Type="http://schemas.openxmlformats.org/officeDocument/2006/relationships/notesMaster" Target="/ppt/notesMasters/notesMaster1.xml" Id="R91fe831b26be45c5"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b03ddd1a8347fb" /><Relationship Type="http://schemas.openxmlformats.org/officeDocument/2006/relationships/notesMaster" Target="/ppt/notesMasters/notesMaster1.xml" Id="Rb3c0cce7ce5647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d13e16dbb37e4135" /><Relationship Type="http://schemas.openxmlformats.org/officeDocument/2006/relationships/notesMaster" Target="/ppt/notesMasters/notesMaster1.xml" Id="R8731e738f97a46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2530a814c74909" /><Relationship Type="http://schemas.openxmlformats.org/officeDocument/2006/relationships/notesMaster" Target="/ppt/notesMasters/notesMaster1.xml" Id="R9de1ec441a0f4b1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fce64b0a78e462c" /><Relationship Type="http://schemas.openxmlformats.org/officeDocument/2006/relationships/notesMaster" Target="/ppt/notesMasters/notesMaster1.xml" Id="R78ce3e1d421a4c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734ae8a70cf4682" /><Relationship Type="http://schemas.openxmlformats.org/officeDocument/2006/relationships/notesMaster" Target="/ppt/notesMasters/notesMaster1.xml" Id="R8e21ac8d78184b1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e7d6555fa5d4250" /><Relationship Type="http://schemas.openxmlformats.org/officeDocument/2006/relationships/notesMaster" Target="/ppt/notesMasters/notesMaster1.xml" Id="R4b122433554b463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29dafaa7b8d40e8" /><Relationship Type="http://schemas.openxmlformats.org/officeDocument/2006/relationships/notesMaster" Target="/ppt/notesMasters/notesMaster1.xml" Id="R6be1537def4340f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21e84bf1ca640e5" /><Relationship Type="http://schemas.openxmlformats.org/officeDocument/2006/relationships/notesMaster" Target="/ppt/notesMasters/notesMaster1.xml" Id="R66fa3f92d1384ad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a8172aa11ce4d41" /><Relationship Type="http://schemas.openxmlformats.org/officeDocument/2006/relationships/notesMaster" Target="/ppt/notesMasters/notesMaster1.xml" Id="Ra4fbf9323033484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c9b83f0d1f6493b" /><Relationship Type="http://schemas.openxmlformats.org/officeDocument/2006/relationships/notesMaster" Target="/ppt/notesMasters/notesMaster1.xml" Id="R3688f3d7c7114ab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0acd324a73c4b37" /><Relationship Type="http://schemas.openxmlformats.org/officeDocument/2006/relationships/notesMaster" Target="/ppt/notesMasters/notesMaster1.xml" Id="R864509322bd4464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6e49c73a02c44a2" /><Relationship Type="http://schemas.openxmlformats.org/officeDocument/2006/relationships/notesMaster" Target="/ppt/notesMasters/notesMaster1.xml" Id="R8acf272df9eb48d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abd54e0bb074a0f" /><Relationship Type="http://schemas.openxmlformats.org/officeDocument/2006/relationships/notesMaster" Target="/ppt/notesMasters/notesMaster1.xml" Id="R56fd43ceed7d4b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08cdc5a4804ae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f421a64705d433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2c387876959462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e76c9f758d8449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02b92533f944b1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1664ad10eee4fd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847e534d4e84b9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bf8a53c689b4bc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8cd8b535ab14dd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dd41489027747a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666deba22484a64"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13DCC3-1205-41E2-986A-3EDF0CA64E2D}"/>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B594B47-9CDC-4E07-B057-83991E340EA0}"/>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4C4932C8-4101-4D6F-8A69-59B86CBF645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5/27/26</a:t>
            </a:fld>
          </a:p>
        </p:txBody>
      </p:sp>
      <p:sp>
        <p:nvSpPr>
          <p:cNvPr id="5" name="Footer Placeholder 4">
            <a:extLst xmlns:a="http://schemas.openxmlformats.org/drawingml/2006/main">
              <a:ext uri="{FF2B5EF4-FFF2-40B4-BE49-F238E27FC236}">
                <a16:creationId xmlns:a16="http://schemas.microsoft.com/office/drawing/2014/main" id="{520AFDB4-14AA-4711-920F-2006965D813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FFF15037-8C09-4B42-8259-5BF4098E879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A4229B3-2ACC-4D35-BA9E-6BD26A5CC0F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41F9D8AB-7BD8-41B7-B92A-A0C932894156}"/>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37088F66-7A35-44B5-9896-F47ABFD8B08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5/27/26</a:t>
            </a:fld>
          </a:p>
        </p:txBody>
      </p:sp>
      <p:sp>
        <p:nvSpPr>
          <p:cNvPr id="5" name="Footer Placeholder 4">
            <a:extLst xmlns:a="http://schemas.openxmlformats.org/drawingml/2006/main">
              <a:ext uri="{FF2B5EF4-FFF2-40B4-BE49-F238E27FC236}">
                <a16:creationId xmlns:a16="http://schemas.microsoft.com/office/drawing/2014/main" id="{F9A82C84-8A74-4275-BE32-D4A58540F57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670E24BB-6B5C-46C1-AA1E-67CB863006B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741E42-C40D-4C66-809B-EEB89EBFFCED}"/>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42982AD-3733-469D-86BE-151C213A1FFF}"/>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4FB978C0-0EE9-4E78-9FFA-9B0D76CB165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5/27/26</a:t>
            </a:fld>
          </a:p>
        </p:txBody>
      </p:sp>
      <p:sp>
        <p:nvSpPr>
          <p:cNvPr id="5" name="Footer Placeholder 4">
            <a:extLst xmlns:a="http://schemas.openxmlformats.org/drawingml/2006/main">
              <a:ext uri="{FF2B5EF4-FFF2-40B4-BE49-F238E27FC236}">
                <a16:creationId xmlns:a16="http://schemas.microsoft.com/office/drawing/2014/main" id="{C4B118E8-E348-4843-BBB9-9E6A42342F5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2BD06BDF-D920-4943-80FF-86DC19E033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AE07C3D-43BC-49BB-A63A-02D9FF22491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818360F-C74F-428E-AE26-4138394786A4}"/>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Content Placeholder 3">
            <a:extLst xmlns:a="http://schemas.openxmlformats.org/drawingml/2006/main">
              <a:ext uri="{FF2B5EF4-FFF2-40B4-BE49-F238E27FC236}">
                <a16:creationId xmlns:a16="http://schemas.microsoft.com/office/drawing/2014/main" id="{3190EF7A-15A6-4F9C-B849-82224FB9EF17}"/>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Date Placeholder 4">
            <a:extLst xmlns:a="http://schemas.openxmlformats.org/drawingml/2006/main">
              <a:ext uri="{FF2B5EF4-FFF2-40B4-BE49-F238E27FC236}">
                <a16:creationId xmlns:a16="http://schemas.microsoft.com/office/drawing/2014/main" id="{5E2FE10D-5FC2-4C69-B2F4-F21B35DD004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5/27/26</a:t>
            </a:fld>
          </a:p>
        </p:txBody>
      </p:sp>
      <p:sp>
        <p:nvSpPr>
          <p:cNvPr id="6" name="Footer Placeholder 5">
            <a:extLst xmlns:a="http://schemas.openxmlformats.org/drawingml/2006/main">
              <a:ext uri="{FF2B5EF4-FFF2-40B4-BE49-F238E27FC236}">
                <a16:creationId xmlns:a16="http://schemas.microsoft.com/office/drawing/2014/main" id="{B16F6BB6-716B-40EE-AB02-1C9D13E2914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4CCB6A4C-A008-43FF-870D-86468FDF43F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B30A5FB-7BA2-4251-BDFF-D380B63E20C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29DB67E-CFFC-46A9-8497-A636C4ED3F73}"/>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902469F1-1705-4DDA-B416-068E8D0357D9}"/>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Text Placeholder 4">
            <a:extLst xmlns:a="http://schemas.openxmlformats.org/drawingml/2006/main">
              <a:ext uri="{FF2B5EF4-FFF2-40B4-BE49-F238E27FC236}">
                <a16:creationId xmlns:a16="http://schemas.microsoft.com/office/drawing/2014/main" id="{F849A84D-8952-4490-B7B9-A8ED8D7161E1}"/>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E0A7D6AF-B756-4275-AA85-4AD33DFD16E1}"/>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7" name="Date Placeholder 6">
            <a:extLst xmlns:a="http://schemas.openxmlformats.org/drawingml/2006/main">
              <a:ext uri="{FF2B5EF4-FFF2-40B4-BE49-F238E27FC236}">
                <a16:creationId xmlns:a16="http://schemas.microsoft.com/office/drawing/2014/main" id="{1F9DB77E-CCD6-4CF8-99FA-18915297217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5/27/26</a:t>
            </a:fld>
          </a:p>
        </p:txBody>
      </p:sp>
      <p:sp>
        <p:nvSpPr>
          <p:cNvPr id="8" name="Footer Placeholder 7">
            <a:extLst xmlns:a="http://schemas.openxmlformats.org/drawingml/2006/main">
              <a:ext uri="{FF2B5EF4-FFF2-40B4-BE49-F238E27FC236}">
                <a16:creationId xmlns:a16="http://schemas.microsoft.com/office/drawing/2014/main" id="{1320F1D0-4872-4455-AF4C-ED1CD65FF0E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9AD81FFA-359B-49D3-94D7-0C7BB17355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B3A7A9B-1B38-4E6C-B5AB-355350578EF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AA816832-AF70-40D0-BC36-6CA23B2E8D1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5/27/26</a:t>
            </a:fld>
          </a:p>
        </p:txBody>
      </p:sp>
      <p:sp>
        <p:nvSpPr>
          <p:cNvPr id="4" name="Footer Placeholder 3">
            <a:extLst xmlns:a="http://schemas.openxmlformats.org/drawingml/2006/main">
              <a:ext uri="{FF2B5EF4-FFF2-40B4-BE49-F238E27FC236}">
                <a16:creationId xmlns:a16="http://schemas.microsoft.com/office/drawing/2014/main" id="{78222BF1-C057-47B5-8B16-836C39566C3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66AD6A43-CB3A-4B0A-B1B1-B4BE2FAF8B4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37FA26CE-4819-485D-A513-7D758205FF0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5/27/26</a:t>
            </a:fld>
          </a:p>
        </p:txBody>
      </p:sp>
      <p:sp>
        <p:nvSpPr>
          <p:cNvPr id="3" name="Footer Placeholder 2">
            <a:extLst xmlns:a="http://schemas.openxmlformats.org/drawingml/2006/main">
              <a:ext uri="{FF2B5EF4-FFF2-40B4-BE49-F238E27FC236}">
                <a16:creationId xmlns:a16="http://schemas.microsoft.com/office/drawing/2014/main" id="{85DAD066-5051-4761-A5EC-37E180DD8B7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7F2C82C3-D523-48EB-ABDC-B3DA25F7261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5519537-C658-4F03-A084-7CA84D22450F}"/>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CF436F35-1225-495F-BD4C-4F14EB317715}"/>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Text Placeholder 3">
            <a:extLst xmlns:a="http://schemas.openxmlformats.org/drawingml/2006/main">
              <a:ext uri="{FF2B5EF4-FFF2-40B4-BE49-F238E27FC236}">
                <a16:creationId xmlns:a16="http://schemas.microsoft.com/office/drawing/2014/main" id="{D24354F4-2D34-448E-8F71-7E7D368EB35D}"/>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C6F1B1D4-53CC-471B-9F23-C7DD881270D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5/27/26</a:t>
            </a:fld>
          </a:p>
        </p:txBody>
      </p:sp>
      <p:sp>
        <p:nvSpPr>
          <p:cNvPr id="6" name="Footer Placeholder 5">
            <a:extLst xmlns:a="http://schemas.openxmlformats.org/drawingml/2006/main">
              <a:ext uri="{FF2B5EF4-FFF2-40B4-BE49-F238E27FC236}">
                <a16:creationId xmlns:a16="http://schemas.microsoft.com/office/drawing/2014/main" id="{422FC1F1-42F9-4F3C-BF45-D7807EF7F6B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A92685C4-CA9A-4468-8684-F3D6BA1069D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7EECF56-6103-48BA-B22E-30A134A9DFFE}"/>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776B0C55-85BA-426E-A417-3E8140C56647}"/>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FF70A2ED-615F-44B3-BC10-FD6AE61C6A19}"/>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3EA045C9-585E-4351-89C8-8288A9F4F62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5/27/26</a:t>
            </a:fld>
          </a:p>
        </p:txBody>
      </p:sp>
      <p:sp>
        <p:nvSpPr>
          <p:cNvPr id="6" name="Footer Placeholder 5">
            <a:extLst xmlns:a="http://schemas.openxmlformats.org/drawingml/2006/main">
              <a:ext uri="{FF2B5EF4-FFF2-40B4-BE49-F238E27FC236}">
                <a16:creationId xmlns:a16="http://schemas.microsoft.com/office/drawing/2014/main" id="{3059679E-C1E7-4504-BB4E-EF0FC95481A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C2D09ECA-D33F-4DC7-B868-FF96523BF32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D0497AD-E084-456F-84CC-542394D5386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2A3B3948-D456-45D0-A02F-5FE1059DDA26}"/>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DA391035-5B7C-4E8B-A899-5C404699BE9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5/27/26</a:t>
            </a:fld>
          </a:p>
        </p:txBody>
      </p:sp>
      <p:sp>
        <p:nvSpPr>
          <p:cNvPr id="5" name="Footer Placeholder 4">
            <a:extLst xmlns:a="http://schemas.openxmlformats.org/drawingml/2006/main">
              <a:ext uri="{FF2B5EF4-FFF2-40B4-BE49-F238E27FC236}">
                <a16:creationId xmlns:a16="http://schemas.microsoft.com/office/drawing/2014/main" id="{EAEAEAC6-1818-48BB-AF54-A2D71255926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B914183B-1932-4C3C-B502-F713DA09057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CCE07A9D-691A-4F1D-9688-724DB1143419}"/>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B697BE96-1500-44C2-8876-10F360919C3E}"/>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151BDEB3-716C-486E-89BB-E21675AC2D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5/27/26</a:t>
            </a:fld>
          </a:p>
        </p:txBody>
      </p:sp>
      <p:sp>
        <p:nvSpPr>
          <p:cNvPr id="5" name="Footer Placeholder 4">
            <a:extLst xmlns:a="http://schemas.openxmlformats.org/drawingml/2006/main">
              <a:ext uri="{FF2B5EF4-FFF2-40B4-BE49-F238E27FC236}">
                <a16:creationId xmlns:a16="http://schemas.microsoft.com/office/drawing/2014/main" id="{21DB572E-E93E-4EB2-A102-4CA8947E1DE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ACA330D7-7436-45E7-A05F-71DB153E022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0bafbd20394f77" /><Relationship Type="http://schemas.openxmlformats.org/officeDocument/2006/relationships/slideLayout" Target="/ppt/slideLayouts/slideLayout1.xml" Id="Rff8daa2bc3f347c5" /><Relationship Type="http://schemas.openxmlformats.org/officeDocument/2006/relationships/slideLayout" Target="/ppt/slideLayouts/slideLayout2.xml" Id="R611bee54cda341b0" /><Relationship Type="http://schemas.openxmlformats.org/officeDocument/2006/relationships/slideLayout" Target="/ppt/slideLayouts/slideLayout3.xml" Id="R92d2f0b6ef944452" /><Relationship Type="http://schemas.openxmlformats.org/officeDocument/2006/relationships/slideLayout" Target="/ppt/slideLayouts/slideLayout4.xml" Id="Re8627d4a979047d4" /><Relationship Type="http://schemas.openxmlformats.org/officeDocument/2006/relationships/slideLayout" Target="/ppt/slideLayouts/slideLayout5.xml" Id="Rf251133b94014166" /><Relationship Type="http://schemas.openxmlformats.org/officeDocument/2006/relationships/slideLayout" Target="/ppt/slideLayouts/slideLayout6.xml" Id="R19d5fdefa05243bf" /><Relationship Type="http://schemas.openxmlformats.org/officeDocument/2006/relationships/slideLayout" Target="/ppt/slideLayouts/slideLayout7.xml" Id="Ra41c23be95cd45eb" /><Relationship Type="http://schemas.openxmlformats.org/officeDocument/2006/relationships/slideLayout" Target="/ppt/slideLayouts/slideLayout8.xml" Id="Rdec801a5271b4ff9" /><Relationship Type="http://schemas.openxmlformats.org/officeDocument/2006/relationships/slideLayout" Target="/ppt/slideLayouts/slideLayout9.xml" Id="R40ef4da59bae4918" /><Relationship Type="http://schemas.openxmlformats.org/officeDocument/2006/relationships/slideLayout" Target="/ppt/slideLayouts/slideLayout10.xml" Id="R891952daad63458b" /><Relationship Type="http://schemas.openxmlformats.org/officeDocument/2006/relationships/slideLayout" Target="/ppt/slideLayouts/slideLayout11.xml" Id="R5cabe9e524e14d2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FA687CE0-E262-417E-9B19-4F8C927FC798}"/>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AEFA3495-1370-4782-B89F-D6D9CD682383}"/>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CFB600C3-1759-4837-8E5D-A1D947BDBB42}"/>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5/27/26</a:t>
            </a:fld>
          </a:p>
        </p:txBody>
      </p:sp>
      <p:sp>
        <p:nvSpPr>
          <p:cNvPr id="5" name="Footer Placeholder 4">
            <a:extLst xmlns:a="http://schemas.openxmlformats.org/drawingml/2006/main">
              <a:ext uri="{FF2B5EF4-FFF2-40B4-BE49-F238E27FC236}">
                <a16:creationId xmlns:a16="http://schemas.microsoft.com/office/drawing/2014/main" id="{FD756F1A-F2CC-4652-ABD6-E4E8594C4F04}"/>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4F008E2A-53A5-48D8-9A56-22814A8ACD48}"/>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8daa2bc3f347c5"/>
    <p:sldLayoutId xmlns:r="http://schemas.openxmlformats.org/officeDocument/2006/relationships" id="2147483650" r:id="R611bee54cda341b0"/>
    <p:sldLayoutId xmlns:r="http://schemas.openxmlformats.org/officeDocument/2006/relationships" id="2147483651" r:id="R92d2f0b6ef944452"/>
    <p:sldLayoutId xmlns:r="http://schemas.openxmlformats.org/officeDocument/2006/relationships" id="2147483652" r:id="Re8627d4a979047d4"/>
    <p:sldLayoutId xmlns:r="http://schemas.openxmlformats.org/officeDocument/2006/relationships" id="2147483653" r:id="Rf251133b94014166"/>
    <p:sldLayoutId xmlns:r="http://schemas.openxmlformats.org/officeDocument/2006/relationships" id="2147483654" r:id="R19d5fdefa05243bf"/>
    <p:sldLayoutId xmlns:r="http://schemas.openxmlformats.org/officeDocument/2006/relationships" id="2147483655" r:id="Ra41c23be95cd45eb"/>
    <p:sldLayoutId xmlns:r="http://schemas.openxmlformats.org/officeDocument/2006/relationships" id="2147483656" r:id="Rdec801a5271b4ff9"/>
    <p:sldLayoutId xmlns:r="http://schemas.openxmlformats.org/officeDocument/2006/relationships" id="2147483657" r:id="R40ef4da59bae4918"/>
    <p:sldLayoutId xmlns:r="http://schemas.openxmlformats.org/officeDocument/2006/relationships" id="2147483658" r:id="R891952daad63458b"/>
    <p:sldLayoutId xmlns:r="http://schemas.openxmlformats.org/officeDocument/2006/relationships" id="2147483659" r:id="R5cabe9e524e14d24"/>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9a42389bf32d4697" /><Relationship Type="http://schemas.openxmlformats.org/officeDocument/2006/relationships/image" Target="/ppt/media/image.jpeg" Id="R018e795dad724171" /><Relationship Type="http://schemas.openxmlformats.org/officeDocument/2006/relationships/image" Target="/ppt/media/image.svg" Id="R467038c31ba24944" /><Relationship Type="http://schemas.openxmlformats.org/officeDocument/2006/relationships/image" Target="/ppt/media/image.png" Id="Ra34fc2158ed34b4b" /><Relationship Type="http://schemas.openxmlformats.org/officeDocument/2006/relationships/image" Target="/ppt/media/image2.svg" Id="Rf841c4b63dd240a9" /><Relationship Type="http://schemas.openxmlformats.org/officeDocument/2006/relationships/image" Target="/ppt/media/image2.png" Id="R661845e469bb469f" /><Relationship Type="http://schemas.openxmlformats.org/officeDocument/2006/relationships/image" Target="/ppt/media/image3.svg" Id="R971f3123caf4434e" /><Relationship Type="http://schemas.openxmlformats.org/officeDocument/2006/relationships/notesSlide" Target="/ppt/notesSlides/notesSlide1.xml" Id="Re72cbf48b3f345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c0dc79447c104068" /><Relationship Type="http://schemas.openxmlformats.org/officeDocument/2006/relationships/image" Target="/ppt/media/image3.png" Id="R5e90c38b53924d38" /><Relationship Type="http://schemas.openxmlformats.org/officeDocument/2006/relationships/image" Target="/ppt/media/image4.svg" Id="R31216b478dcc42bc" /><Relationship Type="http://schemas.openxmlformats.org/officeDocument/2006/relationships/notesSlide" Target="/ppt/notesSlides/notesSlide2.xml" Id="R14a5872eb88c43f9"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523b5ea93d634e49" /><Relationship Type="http://schemas.openxmlformats.org/officeDocument/2006/relationships/image" Target="/ppt/media/image4.png" Id="R139342686bc34380" /><Relationship Type="http://schemas.openxmlformats.org/officeDocument/2006/relationships/notesSlide" Target="/ppt/notesSlides/notesSlide3.xml" Id="R2cfcc27526d345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a8e85b02b98d4ada" /><Relationship Type="http://schemas.openxmlformats.org/officeDocument/2006/relationships/notesSlide" Target="/ppt/notesSlides/notesSlide4.xml" Id="R4c6fc35f7bf74f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ae60c568aa67405d" /><Relationship Type="http://schemas.openxmlformats.org/officeDocument/2006/relationships/image" Target="/ppt/media/image.jpeg" Id="R3aa9a7974daf4e09" /><Relationship Type="http://schemas.openxmlformats.org/officeDocument/2006/relationships/notesSlide" Target="/ppt/notesSlides/notesSlide5.xml" Id="R8922a3d7494041a1"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1c41836b5e964515" /><Relationship Type="http://schemas.openxmlformats.org/officeDocument/2006/relationships/image" Target="/ppt/media/image.jpeg" Id="R1f88fcd6caa04bb8" /><Relationship Type="http://schemas.openxmlformats.org/officeDocument/2006/relationships/notesSlide" Target="/ppt/notesSlides/notesSlide6.xml" Id="R8117793c81e84b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9d8e77793823452f" /><Relationship Type="http://schemas.openxmlformats.org/officeDocument/2006/relationships/image" Target="/ppt/media/image.jpeg" Id="R32e9511cd9644e8e" /><Relationship Type="http://schemas.openxmlformats.org/officeDocument/2006/relationships/notesSlide" Target="/ppt/notesSlides/notesSlide7.xml" Id="Rb4b8fb7441e54dc1"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68a0267adf774fdf" /><Relationship Type="http://schemas.openxmlformats.org/officeDocument/2006/relationships/notesSlide" Target="/ppt/notesSlides/notesSlide8.xml" Id="R07a7539b89434efa"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b6a874eaa5324d1e" /><Relationship Type="http://schemas.openxmlformats.org/officeDocument/2006/relationships/notesSlide" Target="/ppt/notesSlides/notesSlide9.xml" Id="R881182d001ed484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1017863d8e034543" /><Relationship Type="http://schemas.openxmlformats.org/officeDocument/2006/relationships/image" Target="/ppt/media/image5.svg" Id="R1f7d504aacee463d" /><Relationship Type="http://schemas.openxmlformats.org/officeDocument/2006/relationships/image" Target="/ppt/media/image4.png" Id="R5e92a18a38b0476f" /><Relationship Type="http://schemas.openxmlformats.org/officeDocument/2006/relationships/notesSlide" Target="/ppt/notesSlides/notesSlide10.xml" Id="Rc1cbe1f09d1745c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2c485d87076f4cb5" /><Relationship Type="http://schemas.openxmlformats.org/officeDocument/2006/relationships/image" Target="/ppt/media/image2.jpeg" Id="R3a1113ac700543f2" /><Relationship Type="http://schemas.openxmlformats.org/officeDocument/2006/relationships/notesSlide" Target="/ppt/notesSlides/notesSlide11.xml" Id="R0197e8dd838f4e2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22f2e700d0794d1a" /><Relationship Type="http://schemas.openxmlformats.org/officeDocument/2006/relationships/image" Target="/ppt/media/image3.jpeg" Id="Rce2ddb762f634b3a" /><Relationship Type="http://schemas.openxmlformats.org/officeDocument/2006/relationships/image" Target="/ppt/media/image4.jpeg" Id="R83fd00f34701443e" /><Relationship Type="http://schemas.openxmlformats.org/officeDocument/2006/relationships/notesSlide" Target="/ppt/notesSlides/notesSlide12.xml" Id="Rd09f0552176a456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2620593356b349bf" /><Relationship Type="http://schemas.openxmlformats.org/officeDocument/2006/relationships/image" Target="/ppt/media/image5.jpeg" Id="Rf0a092ba6ef84e74" /><Relationship Type="http://schemas.openxmlformats.org/officeDocument/2006/relationships/image" Target="/ppt/media/image6.jpeg" Id="R889459c3fee54ed7" /><Relationship Type="http://schemas.openxmlformats.org/officeDocument/2006/relationships/notesSlide" Target="/ppt/notesSlides/notesSlide13.xml" Id="Ra8cb7eb6f563481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12625d53de3d4cc0" /><Relationship Type="http://schemas.openxmlformats.org/officeDocument/2006/relationships/image" Target="/ppt/media/image7.jpeg" Id="R8f61fb1261484aec" /><Relationship Type="http://schemas.openxmlformats.org/officeDocument/2006/relationships/notesSlide" Target="/ppt/notesSlides/notesSlide14.xml" Id="R8fac1b6e39b54a3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7480210333ab40c1" /><Relationship Type="http://schemas.openxmlformats.org/officeDocument/2006/relationships/image" Target="/ppt/media/image8.jpeg" Id="R9b700c2277854bd1" /><Relationship Type="http://schemas.openxmlformats.org/officeDocument/2006/relationships/notesSlide" Target="/ppt/notesSlides/notesSlide15.xml" Id="R063ba427af1c43a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cd67a92d6e484c7d" /><Relationship Type="http://schemas.openxmlformats.org/officeDocument/2006/relationships/notesSlide" Target="/ppt/notesSlides/notesSlide16.xml" Id="Re93baf13c7f54d1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697970d0e7f04856" /><Relationship Type="http://schemas.openxmlformats.org/officeDocument/2006/relationships/notesSlide" Target="/ppt/notesSlides/notesSlide17.xml" Id="R1078cf0e26754c3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57524a05965b45ca" /><Relationship Type="http://schemas.openxmlformats.org/officeDocument/2006/relationships/image" Target="/ppt/media/image2.png" Id="R8887ab5fe8024cef" /><Relationship Type="http://schemas.openxmlformats.org/officeDocument/2006/relationships/image" Target="/ppt/media/image3.svg" Id="R10af5b41463a46af" /><Relationship Type="http://schemas.openxmlformats.org/officeDocument/2006/relationships/image" Target="/ppt/media/image5.png" Id="R38da7bb1e02e4680" /><Relationship Type="http://schemas.openxmlformats.org/officeDocument/2006/relationships/image" Target="/ppt/media/image6.svg" Id="R5842aaf08c704af3" /><Relationship Type="http://schemas.openxmlformats.org/officeDocument/2006/relationships/notesSlide" Target="/ppt/notesSlides/notesSlide18.xml" Id="R567a555ff3c846ec" /></Relationships>
</file>

<file path=ppt/slides/slide1.xml><?xml version="1.0" encoding="utf-8"?>
<p:sld xmlns:p="http://schemas.openxmlformats.org/presentationml/2006/main">
  <p:cSld>
    <p:bg>
      <p:bgPr>
        <a:gradFill xmlns:a="http://schemas.openxmlformats.org/drawingml/2006/main" rotWithShape="1">
          <a:gsLst>
            <a:gs pos="0">
              <a:srgbClr val="000000">
                <a:alpha val="100000"/>
              </a:srgbClr>
            </a:gs>
            <a:gs pos="100000">
              <a:srgbClr val="011000">
                <a:alpha val="100000"/>
              </a:srgbClr>
            </a:gs>
          </a:gsLst>
          <a:path path="circle">
            <a:fillToRect l="0" t="0" r="100000" b="100000"/>
          </a:path>
          <a:tileRect l="-100000" t="-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1E4219D4-61D4-402D-98C2-699ED31F822A}"/>
              </a:ext>
            </a:extLst>
          </p:cNvPr>
          <p:cNvSpPr>
            <a:spLocks xmlns:a="http://schemas.openxmlformats.org/drawingml/2006/main" noGrp="1"/>
          </p:cNvSpPr>
          <p:nvPr/>
        </p:nvSpPr>
        <p:spPr>
          <a:xfrm xmlns:a="http://schemas.openxmlformats.org/drawingml/2006/main" rot="243621">
            <a:off x="8935019" y="-1381196"/>
            <a:ext cx="13049392" cy="13049392"/>
          </a:xfrm>
          <a:custGeom xmlns:a="http://schemas.openxmlformats.org/drawingml/2006/main">
            <a:rect l="l" t="t" r="r" b="b"/>
            <a:pathLst>
              <a:path w="13049392" h="13049392">
                <a:moveTo>
                  <a:pt x="0" y="0"/>
                </a:moveTo>
                <a:lnTo>
                  <a:pt x="13049392" y="0"/>
                </a:lnTo>
                <a:lnTo>
                  <a:pt x="13049392" y="13049392"/>
                </a:lnTo>
                <a:lnTo>
                  <a:pt x="0" y="13049392"/>
                </a:lnTo>
                <a:lnTo>
                  <a:pt x="0" y="0"/>
                </a:lnTo>
                <a:close/>
              </a:path>
            </a:pathLst>
          </a:custGeom>
          <a:blipFill xmlns:a="http://schemas.openxmlformats.org/drawingml/2006/main">
            <a:blip xmlns:r="http://schemas.openxmlformats.org/officeDocument/2006/relationships" r:embed="R018e795dad724171">
              <a:alphaModFix amt="4000"/>
              <a:extLst>
                <a:ext uri="{96DAC541-7B7A-43D3-8B79-37D633B846F1}">
                  <asvg:svgBlip xmlns:asvg="http://schemas.microsoft.com/office/drawing/2016/SVG/main" r:embed="R467038c31ba24944"/>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 name="Freeform 3">
            <a:extLst xmlns:a="http://schemas.openxmlformats.org/drawingml/2006/main">
              <a:ext uri="{FF2B5EF4-FFF2-40B4-BE49-F238E27FC236}">
                <a16:creationId xmlns:a16="http://schemas.microsoft.com/office/drawing/2014/main" id="{8C2ED51E-45DA-426C-B3D9-D7494EBD7AE9}"/>
              </a:ext>
            </a:extLst>
          </p:cNvPr>
          <p:cNvSpPr>
            <a:spLocks xmlns:a="http://schemas.openxmlformats.org/drawingml/2006/main" noGrp="1"/>
          </p:cNvSpPr>
          <p:nvPr/>
        </p:nvSpPr>
        <p:spPr>
          <a:xfrm xmlns:a="http://schemas.openxmlformats.org/drawingml/2006/main" rot="243621">
            <a:off x="6803252" y="-978563"/>
            <a:ext cx="11656973" cy="12244127"/>
          </a:xfrm>
          <a:custGeom xmlns:a="http://schemas.openxmlformats.org/drawingml/2006/main">
            <a:rect l="l" t="t" r="r" b="b"/>
            <a:pathLst>
              <a:path w="11656973" h="12244127">
                <a:moveTo>
                  <a:pt x="0" y="0"/>
                </a:moveTo>
                <a:lnTo>
                  <a:pt x="11656973" y="0"/>
                </a:lnTo>
                <a:lnTo>
                  <a:pt x="11656973" y="12244126"/>
                </a:lnTo>
                <a:lnTo>
                  <a:pt x="0" y="12244126"/>
                </a:lnTo>
                <a:lnTo>
                  <a:pt x="0" y="0"/>
                </a:lnTo>
                <a:close/>
              </a:path>
            </a:pathLst>
          </a:custGeom>
          <a:blipFill xmlns:a="http://schemas.openxmlformats.org/drawingml/2006/main">
            <a:blip xmlns:r="http://schemas.openxmlformats.org/officeDocument/2006/relationships" r:embed="Ra34fc2158ed34b4b">
              <a:extLst>
                <a:ext uri="{96DAC541-7B7A-43D3-8B79-37D633B846F1}">
                  <asvg:svgBlip xmlns:asvg="http://schemas.microsoft.com/office/drawing/2016/SVG/main" r:embed="Rf841c4b63dd240a9"/>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Freeform 4">
            <a:extLst xmlns:a="http://schemas.openxmlformats.org/drawingml/2006/main">
              <a:ext uri="{FF2B5EF4-FFF2-40B4-BE49-F238E27FC236}">
                <a16:creationId xmlns:a16="http://schemas.microsoft.com/office/drawing/2014/main" id="{C456F44E-9F0F-4B2E-9B65-937975453018}"/>
              </a:ext>
            </a:extLst>
          </p:cNvPr>
          <p:cNvSpPr>
            <a:spLocks xmlns:a="http://schemas.openxmlformats.org/drawingml/2006/main" noGrp="1"/>
          </p:cNvSpPr>
          <p:nvPr/>
        </p:nvSpPr>
        <p:spPr>
          <a:xfrm xmlns:a="http://schemas.openxmlformats.org/drawingml/2006/main">
            <a:off x="1028700" y="7613113"/>
            <a:ext cx="654141" cy="594674"/>
          </a:xfrm>
          <a:custGeom xmlns:a="http://schemas.openxmlformats.org/drawingml/2006/main">
            <a:rect l="l" t="t" r="r" b="b"/>
            <a:pathLst>
              <a:path w="654141" h="594674">
                <a:moveTo>
                  <a:pt x="0" y="0"/>
                </a:moveTo>
                <a:lnTo>
                  <a:pt x="654141" y="0"/>
                </a:lnTo>
                <a:lnTo>
                  <a:pt x="654141" y="594674"/>
                </a:lnTo>
                <a:lnTo>
                  <a:pt x="0" y="594674"/>
                </a:lnTo>
                <a:lnTo>
                  <a:pt x="0" y="0"/>
                </a:lnTo>
                <a:close/>
              </a:path>
            </a:pathLst>
          </a:custGeom>
          <a:blipFill xmlns:a="http://schemas.openxmlformats.org/drawingml/2006/main">
            <a:blip xmlns:r="http://schemas.openxmlformats.org/officeDocument/2006/relationships" r:embed="R661845e469bb469f">
              <a:extLst>
                <a:ext uri="{96DAC541-7B7A-43D3-8B79-37D633B846F1}">
                  <asvg:svgBlip xmlns:asvg="http://schemas.microsoft.com/office/drawing/2016/SVG/main" r:embed="R971f3123caf4434e"/>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5" name="TextBox 5">
            <a:extLst xmlns:a="http://schemas.openxmlformats.org/drawingml/2006/main">
              <a:ext uri="{FF2B5EF4-FFF2-40B4-BE49-F238E27FC236}">
                <a16:creationId xmlns:a16="http://schemas.microsoft.com/office/drawing/2014/main" id="{FCB74246-8D61-415D-A405-CAAC9F031E61}"/>
              </a:ext>
            </a:extLst>
          </p:cNvPr>
          <p:cNvSpPr>
            <a:spLocks xmlns:a="http://schemas.openxmlformats.org/drawingml/2006/main" noGrp="1"/>
          </p:cNvSpPr>
          <p:nvPr/>
        </p:nvSpPr>
        <p:spPr>
          <a:xfrm xmlns:a="http://schemas.openxmlformats.org/drawingml/2006/main">
            <a:off x="381000" y="1692702"/>
            <a:ext cx="15887700" cy="2708434"/>
          </a:xfrm>
          <a:prstGeom xmlns:a="http://schemas.openxmlformats.org/drawingml/2006/main" prst="rect">
            <a:avLst/>
          </a:prstGeom>
        </p:spPr>
        <p:txBody>
          <a:bodyPr xmlns:a="http://schemas.openxmlformats.org/drawingml/2006/main" wrap="square" lIns="0" tIns="0" rIns="0" bIns="0" anchor="t">
            <a:spAutoFit/>
          </a:bodyPr>
          <a:lstStyle xmlns:a="http://schemas.openxmlformats.org/drawingml/2006/main"/>
          <a:p xmlns:a="http://schemas.openxmlformats.org/drawingml/2006/main">
            <a:pPr marL="450000">
              <a:buNone/>
            </a:pPr>
            <a:r>
              <a:rPr sz="8800" b="1">
                <a:solidFill>
                  <a:srgbClr val="FFFFFF"/>
                </a:solidFill>
                <a:latin typeface="Garet Bold"/>
                <a:ea typeface="Garet Bold"/>
                <a:cs typeface="Garet Bold"/>
              </a:rPr>
              <a:t>AI-Powered Family Office Portfolio Dashboard</a:t>
            </a:r>
          </a:p>
        </p:txBody>
      </p:sp>
      <p:sp>
        <p:nvSpPr>
          <p:cNvPr id="6" name="TextBox 6">
            <a:extLst xmlns:a="http://schemas.openxmlformats.org/drawingml/2006/main">
              <a:ext uri="{FF2B5EF4-FFF2-40B4-BE49-F238E27FC236}">
                <a16:creationId xmlns:a16="http://schemas.microsoft.com/office/drawing/2014/main" id="{3B915B17-08F9-4514-8706-8992F826D309}"/>
              </a:ext>
            </a:extLst>
          </p:cNvPr>
          <p:cNvSpPr>
            <a:spLocks xmlns:a="http://schemas.openxmlformats.org/drawingml/2006/main" noGrp="1"/>
          </p:cNvSpPr>
          <p:nvPr/>
        </p:nvSpPr>
        <p:spPr>
          <a:xfrm xmlns:a="http://schemas.openxmlformats.org/drawingml/2006/main">
            <a:off x="981605" y="5051009"/>
            <a:ext cx="11633200" cy="984885"/>
          </a:xfrm>
          <a:prstGeom xmlns:a="http://schemas.openxmlformats.org/drawingml/2006/main" prst="rect">
            <a:avLst/>
          </a:prstGeom>
        </p:spPr>
        <p:txBody>
          <a:bodyPr xmlns:a="http://schemas.openxmlformats.org/drawingml/2006/main" wrap="square" lIns="0" tIns="0" rIns="0" bIns="0" anchor="t">
            <a:spAutoFit/>
          </a:bodyPr>
          <a:lstStyle xmlns:a="http://schemas.openxmlformats.org/drawingml/2006/main"/>
          <a:p xmlns:a="http://schemas.openxmlformats.org/drawingml/2006/main">
            <a:r>
              <a:rPr sz="3200" b="1">
                <a:solidFill>
                  <a:srgbClr val="FFFFFF"/>
                </a:solidFill>
                <a:latin typeface="Garet Bold"/>
                <a:ea typeface="Garet Bold"/>
                <a:cs typeface="Garet Bold"/>
              </a:rPr>
              <a:t>A Controlled Document-to-Dashboard Proof of Concept</a:t>
            </a:r>
          </a:p>
        </p:txBody>
      </p:sp>
      <p:sp>
        <p:nvSpPr>
          <p:cNvPr id="7" name="TextBox 7">
            <a:extLst xmlns:a="http://schemas.openxmlformats.org/drawingml/2006/main">
              <a:ext uri="{FF2B5EF4-FFF2-40B4-BE49-F238E27FC236}">
                <a16:creationId xmlns:a16="http://schemas.microsoft.com/office/drawing/2014/main" id="{41CF4399-C933-4223-895D-AC7C8BCD479B}"/>
              </a:ext>
            </a:extLst>
          </p:cNvPr>
          <p:cNvSpPr>
            <a:spLocks xmlns:a="http://schemas.openxmlformats.org/drawingml/2006/main" noGrp="1"/>
          </p:cNvSpPr>
          <p:nvPr/>
        </p:nvSpPr>
        <p:spPr>
          <a:xfrm xmlns:a="http://schemas.openxmlformats.org/drawingml/2006/main">
            <a:off x="1028700" y="8565860"/>
            <a:ext cx="2803306" cy="97533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85"/>
              </a:lnSpc>
              <a:spcBef>
                <a:spcPct val="0"/>
              </a:spcBef>
              <a:buNone/>
            </a:pPr>
            <a:r>
              <a:rPr sz="2436">
                <a:solidFill>
                  <a:srgbClr val="FFFFFF"/>
                </a:solidFill>
                <a:latin typeface="Garet"/>
                <a:ea typeface="Garet"/>
                <a:cs typeface="Garet"/>
              </a:rPr>
              <a:t>Yang Shu</a:t>
            </a:r>
          </a:p>
          <a:p xmlns:a="http://schemas.openxmlformats.org/drawingml/2006/main">
            <a:pPr algn="l">
              <a:lnSpc>
                <a:spcPts val="2485"/>
              </a:lnSpc>
              <a:spcBef>
                <a:spcPct val="0"/>
              </a:spcBef>
              <a:buNone/>
            </a:pPr>
            <a:r>
              <a:t/>
            </a:r>
          </a:p>
          <a:p xmlns:a="http://schemas.openxmlformats.org/drawingml/2006/main">
            <a:pPr algn="l">
              <a:lnSpc>
                <a:spcPts val="2485"/>
              </a:lnSpc>
              <a:spcBef>
                <a:spcPct val="0"/>
              </a:spcBef>
              <a:buNone/>
            </a:pPr>
            <a:r>
              <a:rPr sz="2436">
                <a:solidFill>
                  <a:srgbClr val="FFFFFF"/>
                </a:solidFill>
                <a:latin typeface="Garet"/>
                <a:ea typeface="Garet"/>
                <a:cs typeface="Garet"/>
              </a:rPr>
              <a:t>2026.7.17</a:t>
            </a:r>
          </a:p>
        </p:txBody>
      </p:sp>
    </p:spTree>
    <p:extLst>
      <p:ext uri="{BB962C8B-B14F-4D97-AF65-F5344CB8AC3E}">
        <p14:creationId xmlns:p14="http://schemas.microsoft.com/office/powerpoint/2010/main" val="1970260907"/>
      </p:ext>
    </p:extLst>
  </p:cSld>
</p:sld>
</file>

<file path=ppt/slides/slide2.xml><?xml version="1.0" encoding="utf-8"?>
<p:sld xmlns:p="http://schemas.openxmlformats.org/presentationml/2006/main">
  <p:cSld>
    <p:bg>
      <p:bgPr>
        <a:gradFill xmlns:a="http://schemas.openxmlformats.org/drawingml/2006/main" rotWithShape="1">
          <a:gsLst>
            <a:gs pos="0">
              <a:srgbClr val="000000">
                <a:alpha val="100000"/>
              </a:srgbClr>
            </a:gs>
            <a:gs pos="100000">
              <a:srgbClr val="011000">
                <a:alpha val="100000"/>
              </a:srgbClr>
            </a:gs>
          </a:gsLst>
          <a:path path="circle">
            <a:fillToRect l="0" t="0" r="100000" b="100000"/>
          </a:path>
          <a:tileRect l="-100000" t="-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E51A532C-DE2C-4515-8D0D-53BD221496C2}"/>
              </a:ext>
            </a:extLst>
          </p:cNvPr>
          <p:cNvSpPr>
            <a:spLocks xmlns:a="http://schemas.openxmlformats.org/drawingml/2006/main" noGrp="1"/>
          </p:cNvSpPr>
          <p:nvPr/>
        </p:nvSpPr>
        <p:spPr>
          <a:xfrm xmlns:a="http://schemas.openxmlformats.org/drawingml/2006/main">
            <a:off x="1028700" y="5143500"/>
            <a:ext cx="16134960" cy="9270268"/>
          </a:xfrm>
          <a:custGeom xmlns:a="http://schemas.openxmlformats.org/drawingml/2006/main">
            <a:rect l="l" t="t" r="r" b="b"/>
            <a:pathLst>
              <a:path w="16134960" h="9270268">
                <a:moveTo>
                  <a:pt x="0" y="0"/>
                </a:moveTo>
                <a:lnTo>
                  <a:pt x="16134960" y="0"/>
                </a:lnTo>
                <a:lnTo>
                  <a:pt x="16134960" y="9270268"/>
                </a:lnTo>
                <a:lnTo>
                  <a:pt x="0" y="9270268"/>
                </a:lnTo>
                <a:lnTo>
                  <a:pt x="0" y="0"/>
                </a:lnTo>
                <a:close/>
              </a:path>
            </a:pathLst>
          </a:custGeom>
          <a:blipFill xmlns:a="http://schemas.openxmlformats.org/drawingml/2006/main">
            <a:blip xmlns:r="http://schemas.openxmlformats.org/officeDocument/2006/relationships" r:embed="R5e90c38b53924d38">
              <a:extLst>
                <a:ext uri="{96DAC541-7B7A-43D3-8B79-37D633B846F1}">
                  <asvg:svgBlip xmlns:asvg="http://schemas.microsoft.com/office/drawing/2016/SVG/main" r:embed="R31216b478dcc42bc"/>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 name="TextBox 3">
            <a:extLst xmlns:a="http://schemas.openxmlformats.org/drawingml/2006/main">
              <a:ext uri="{FF2B5EF4-FFF2-40B4-BE49-F238E27FC236}">
                <a16:creationId xmlns:a16="http://schemas.microsoft.com/office/drawing/2014/main" id="{41931519-BD8C-434C-8F17-0840B7B2C90D}"/>
              </a:ext>
            </a:extLst>
          </p:cNvPr>
          <p:cNvSpPr>
            <a:spLocks xmlns:a="http://schemas.openxmlformats.org/drawingml/2006/main" noGrp="1"/>
          </p:cNvSpPr>
          <p:nvPr/>
        </p:nvSpPr>
        <p:spPr>
          <a:xfrm xmlns:a="http://schemas.openxmlformats.org/drawingml/2006/main">
            <a:off x="1028700" y="1123950"/>
            <a:ext cx="12949774" cy="763671"/>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712"/>
              </a:lnSpc>
              <a:buNone/>
            </a:pPr>
            <a:r>
              <a:rPr sz="5600" b="1">
                <a:solidFill>
                  <a:srgbClr val="FFFFFF"/>
                </a:solidFill>
                <a:latin typeface="Garet Bold"/>
                <a:ea typeface="Garet Bold"/>
                <a:cs typeface="Garet Bold"/>
              </a:rPr>
              <a:t>Question statement</a:t>
            </a:r>
          </a:p>
        </p:txBody>
      </p:sp>
      <p:sp>
        <p:nvSpPr>
          <p:cNvPr id="4" name="TextBox 4">
            <a:extLst xmlns:a="http://schemas.openxmlformats.org/drawingml/2006/main">
              <a:ext uri="{FF2B5EF4-FFF2-40B4-BE49-F238E27FC236}">
                <a16:creationId xmlns:a16="http://schemas.microsoft.com/office/drawing/2014/main" id="{FACF218A-BB32-4263-8D6B-D7FFEB7F39A5}"/>
              </a:ext>
            </a:extLst>
          </p:cNvPr>
          <p:cNvSpPr>
            <a:spLocks xmlns:a="http://schemas.openxmlformats.org/drawingml/2006/main" noGrp="1"/>
          </p:cNvSpPr>
          <p:nvPr/>
        </p:nvSpPr>
        <p:spPr>
          <a:xfrm xmlns:a="http://schemas.openxmlformats.org/drawingml/2006/main">
            <a:off x="1028700" y="2127128"/>
            <a:ext cx="16230600" cy="932688"/>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33CC33"/>
                </a:solidFill>
                <a:latin typeface="Garet Bold"/>
                <a:ea typeface="Garet Bold"/>
                <a:cs typeface="Garet Bold"/>
              </a:rPr>
              <a:t>THE PROBLEM IS NOT A LACK OF CHARTS. IT IS A LACK OF CONTROLLED DATA FLOW.</a:t>
            </a:r>
          </a:p>
        </p:txBody>
      </p:sp>
      <p:sp>
        <p:nvSpPr>
          <p:cNvPr id="5" name="TextBox 5">
            <a:extLst xmlns:a="http://schemas.openxmlformats.org/drawingml/2006/main">
              <a:ext uri="{FF2B5EF4-FFF2-40B4-BE49-F238E27FC236}">
                <a16:creationId xmlns:a16="http://schemas.microsoft.com/office/drawing/2014/main" id="{D26FF08C-51C1-4F26-8D05-3E38109FB975}"/>
              </a:ext>
            </a:extLst>
          </p:cNvPr>
          <p:cNvSpPr>
            <a:spLocks xmlns:a="http://schemas.openxmlformats.org/drawingml/2006/main" noGrp="1"/>
          </p:cNvSpPr>
          <p:nvPr/>
        </p:nvSpPr>
        <p:spPr>
          <a:xfrm xmlns:a="http://schemas.openxmlformats.org/drawingml/2006/main">
            <a:off x="1028700" y="3103917"/>
            <a:ext cx="16230600" cy="1477328"/>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buNone/>
            </a:pPr>
            <a:r>
              <a:rPr sz="3200">
                <a:solidFill>
                  <a:srgbClr val="FFFFFF"/>
                </a:solidFill>
                <a:latin typeface="Garet"/>
                <a:ea typeface="Garet"/>
                <a:cs typeface="Garet"/>
              </a:rPr>
              <a:t>How can an AI-enabled workflow extract information from private-market documents, combine it with portfolio and market data, and support reporting, liquidity planning, and risk monitoring for a family office?</a:t>
            </a:r>
          </a:p>
        </p:txBody>
      </p:sp>
    </p:spTree>
    <p:extLst>
      <p:ext uri="{BB962C8B-B14F-4D97-AF65-F5344CB8AC3E}">
        <p14:creationId xmlns:p14="http://schemas.microsoft.com/office/powerpoint/2010/main" val="21581248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106736D-9941-4342-AB3A-56F6B87C5C8F}"/>
              </a:ext>
            </a:extLst>
          </p:cNvPr>
          <p:cNvSpPr>
            <a:spLocks xmlns:a="http://schemas.openxmlformats.org/drawingml/2006/main" noGrp="1"/>
          </p:cNvSpPr>
          <p:nvPr/>
        </p:nvSpPr>
        <p:spPr>
          <a:xfrm xmlns:a="http://schemas.openxmlformats.org/drawingml/2006/main" flipH="1">
            <a:off x="12313699" y="1028700"/>
            <a:ext cx="11948603" cy="8229600"/>
          </a:xfrm>
          <a:custGeom xmlns:a="http://schemas.openxmlformats.org/drawingml/2006/main">
            <a:rect l="l" t="t" r="r" b="b"/>
            <a:pathLst>
              <a:path w="11948603" h="8229600">
                <a:moveTo>
                  <a:pt x="11948602" y="0"/>
                </a:moveTo>
                <a:lnTo>
                  <a:pt x="0" y="0"/>
                </a:lnTo>
                <a:lnTo>
                  <a:pt x="0" y="8229600"/>
                </a:lnTo>
                <a:lnTo>
                  <a:pt x="11948602" y="8229600"/>
                </a:lnTo>
                <a:lnTo>
                  <a:pt x="11948602" y="0"/>
                </a:lnTo>
                <a:close/>
              </a:path>
            </a:pathLst>
          </a:custGeom>
          <a:blipFill xmlns:a="http://schemas.openxmlformats.org/drawingml/2006/main">
            <a:blip xmlns:r="http://schemas.openxmlformats.org/officeDocument/2006/relationships" r:embed="R139342686bc34380"/>
            <a:stretch>
              <a:fillRect l="0" t="0" r="0" b="0"/>
            </a:stretch>
          </a:blipFill>
        </p:spPr>
        <p:txBody>
          <a:bodyPr xmlns:a="http://schemas.openxmlformats.org/drawingml/2006/main"/>
          <a:lstStyle xmlns:a="http://schemas.openxmlformats.org/drawingml/2006/main"/>
          <a:p xmlns:a="http://schemas.openxmlformats.org/drawingml/2006/main"/>
        </p:txBody>
      </p:sp>
      <p:sp>
        <p:nvSpPr>
          <p:cNvPr id="3" name="TextBox 3">
            <a:extLst xmlns:a="http://schemas.openxmlformats.org/drawingml/2006/main">
              <a:ext uri="{FF2B5EF4-FFF2-40B4-BE49-F238E27FC236}">
                <a16:creationId xmlns:a16="http://schemas.microsoft.com/office/drawing/2014/main" id="{49E8639C-0068-4E8F-A29E-DBA3BE8764C7}"/>
              </a:ext>
            </a:extLst>
          </p:cNvPr>
          <p:cNvSpPr>
            <a:spLocks xmlns:a="http://schemas.openxmlformats.org/drawingml/2006/main" noGrp="1"/>
          </p:cNvSpPr>
          <p:nvPr/>
        </p:nvSpPr>
        <p:spPr>
          <a:xfrm xmlns:a="http://schemas.openxmlformats.org/drawingml/2006/main">
            <a:off x="1028700" y="3105912"/>
            <a:ext cx="9983955" cy="75666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712"/>
              </a:lnSpc>
              <a:buNone/>
            </a:pPr>
            <a:r>
              <a:rPr sz="5600" b="1">
                <a:gradFill>
                  <a:gsLst>
                    <a:gs pos="0">
                      <a:srgbClr val="000000">
                        <a:alpha val="100000"/>
                      </a:srgbClr>
                    </a:gs>
                    <a:gs pos="100000">
                      <a:srgbClr val="011000">
                        <a:alpha val="100000"/>
                      </a:srgbClr>
                    </a:gs>
                  </a:gsLst>
                  <a:path path="circle">
                    <a:fillToRect l="0" t="0" r="100000" b="100000"/>
                  </a:path>
                  <a:tileRect l="-100000" t="-100000"/>
                </a:gradFill>
                <a:latin typeface="Garet Bold"/>
                <a:ea typeface="Garet Bold"/>
                <a:cs typeface="Garet Bold"/>
              </a:rPr>
              <a:t>THE PROJECT THESIS</a:t>
            </a:r>
          </a:p>
        </p:txBody>
      </p:sp>
      <p:sp>
        <p:nvSpPr>
          <p:cNvPr id="4" name="TextBox 4">
            <a:extLst xmlns:a="http://schemas.openxmlformats.org/drawingml/2006/main">
              <a:ext uri="{FF2B5EF4-FFF2-40B4-BE49-F238E27FC236}">
                <a16:creationId xmlns:a16="http://schemas.microsoft.com/office/drawing/2014/main" id="{0CD9DE54-F0A9-44FC-A991-E8CA14466A42}"/>
              </a:ext>
            </a:extLst>
          </p:cNvPr>
          <p:cNvSpPr>
            <a:spLocks xmlns:a="http://schemas.openxmlformats.org/drawingml/2006/main" noGrp="1"/>
          </p:cNvSpPr>
          <p:nvPr/>
        </p:nvSpPr>
        <p:spPr>
          <a:xfrm xmlns:a="http://schemas.openxmlformats.org/drawingml/2006/main">
            <a:off x="1028700" y="4753772"/>
            <a:ext cx="10553700" cy="3341299"/>
          </a:xfrm>
          <a:prstGeom xmlns:a="http://schemas.openxmlformats.org/drawingml/2006/main" prst="rect">
            <a:avLst/>
          </a:prstGeom>
        </p:spPr>
        <p:txBody>
          <a:bodyPr xmlns:a="http://schemas.openxmlformats.org/drawingml/2006/main" wrap="square" lIns="0" tIns="0" rIns="0" bIns="0" anchor="t">
            <a:spAutoFit/>
          </a:bodyPr>
          <a:lstStyle xmlns:a="http://schemas.openxmlformats.org/drawingml/2006/main"/>
          <a:p xmlns:a="http://schemas.openxmlformats.org/drawingml/2006/main">
            <a:pPr>
              <a:lnSpc>
                <a:spcPts val="3672"/>
              </a:lnSpc>
              <a:buNone/>
            </a:pPr>
            <a:r>
              <a:rPr sz="4000" b="1">
                <a:solidFill>
                  <a:srgbClr val="006000"/>
                </a:solidFill>
                <a:latin typeface="Garet Bold"/>
                <a:ea typeface="Garet Bold"/>
                <a:cs typeface="Garet Bold"/>
              </a:rPr>
              <a:t>AI creates value when it converts fragmented documents into structured evidence. Data infrastructure creates trust when it validates that evidence, routes exceptions to people, applies approved updates only, and keeps the source-to-dashboard trail visible.</a:t>
            </a:r>
          </a:p>
        </p:txBody>
      </p:sp>
    </p:spTree>
    <p:extLst>
      <p:ext uri="{BB962C8B-B14F-4D97-AF65-F5344CB8AC3E}">
        <p14:creationId xmlns:p14="http://schemas.microsoft.com/office/powerpoint/2010/main" val="2029986561"/>
      </p:ext>
    </p:extLst>
  </p:cSld>
</p:sld>
</file>

<file path=ppt/slides/slide4.xml><?xml version="1.0" encoding="utf-8"?>
<p:sld xmlns:p="http://schemas.openxmlformats.org/presentationml/2006/main">
  <p:cSld>
    <p:bg>
      <p:bgPr>
        <a:gradFill xmlns:a="http://schemas.openxmlformats.org/drawingml/2006/main" rotWithShape="1">
          <a:gsLst>
            <a:gs pos="0">
              <a:srgbClr val="000000">
                <a:alpha val="100000"/>
              </a:srgbClr>
            </a:gs>
            <a:gs pos="100000">
              <a:srgbClr val="011000">
                <a:alpha val="100000"/>
              </a:srgbClr>
            </a:gs>
          </a:gsLst>
          <a:path path="circle">
            <a:fillToRect l="0" t="0" r="100000" b="100000"/>
          </a:path>
          <a:tileRect l="-100000" t="-100000"/>
        </a:gra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9303B748-E5F8-464C-A415-BF70505847BB}"/>
              </a:ext>
            </a:extLst>
          </p:cNvPr>
          <p:cNvSpPr>
            <a:spLocks xmlns:a="http://schemas.openxmlformats.org/drawingml/2006/main" noGrp="1"/>
          </p:cNvSpPr>
          <p:nvPr/>
        </p:nvSpPr>
        <p:spPr>
          <a:xfrm xmlns:a="http://schemas.openxmlformats.org/drawingml/2006/main" rot="0" flipH="0" flipV="0">
            <a:off x="1028700" y="3656278"/>
            <a:ext cx="16230600" cy="1202436"/>
          </a:xfrm>
          <a:custGeom xmlns:a="http://schemas.openxmlformats.org/drawingml/2006/main">
            <a:rect l="l" t="t" r="r" b="b"/>
            <a:pathLst>
              <a:path w="4274726" h="316691">
                <a:moveTo>
                  <a:pt x="0" y="0"/>
                </a:moveTo>
                <a:lnTo>
                  <a:pt x="4274726" y="0"/>
                </a:lnTo>
                <a:lnTo>
                  <a:pt x="4274726" y="316691"/>
                </a:lnTo>
                <a:lnTo>
                  <a:pt x="0" y="316691"/>
                </a:lnTo>
                <a:close/>
              </a:path>
            </a:pathLst>
          </a:custGeom>
          <a:ln xmlns:a="http://schemas.openxmlformats.org/drawingml/2006/main" w="38100">
            <a:solidFill>
              <a:srgbClr val="33CC33"/>
            </a:solidFill>
            <a:prstDash val="solid"/>
          </a:ln>
        </p:spPr>
        <p:txBody>
          <a:bodyPr xmlns:a="http://schemas.openxmlformats.org/drawingml/2006/main"/>
          <a:lstStyle xmlns:a="http://schemas.openxmlformats.org/drawingml/2006/main"/>
          <a:p xmlns:a="http://schemas.openxmlformats.org/drawingml/2006/main"/>
        </p:txBody>
      </p:sp>
      <p:sp>
        <p:nvSpPr>
          <p:cNvPr id="4" name="TextBox 4">
            <a:extLst xmlns:a="http://schemas.openxmlformats.org/drawingml/2006/main">
              <a:ext uri="{FF2B5EF4-FFF2-40B4-BE49-F238E27FC236}">
                <a16:creationId xmlns:a16="http://schemas.microsoft.com/office/drawing/2014/main" id="{BC73F11C-288D-4892-B250-0E2713E48D6E}"/>
              </a:ext>
            </a:extLst>
          </p:cNvPr>
          <p:cNvSpPr>
            <a:spLocks xmlns:a="http://schemas.openxmlformats.org/drawingml/2006/main" noGrp="1"/>
          </p:cNvSpPr>
          <p:nvPr/>
        </p:nvSpPr>
        <p:spPr>
          <a:xfrm xmlns:a="http://schemas.openxmlformats.org/drawingml/2006/main" rot="0" flipH="0" flipV="0">
            <a:off x="1028700" y="3873269"/>
            <a:ext cx="16230600" cy="985444"/>
          </a:xfrm>
          <a:prstGeom xmlns:a="http://schemas.openxmlformats.org/drawingml/2006/main" prst="rect">
            <a:avLst/>
          </a:prstGeom>
        </p:spPr>
        <p:txBody>
          <a:bodyPr xmlns:a="http://schemas.openxmlformats.org/drawingml/2006/main" lIns="254000" tIns="254000" rIns="254000" bIns="254000" anchor="ctr"/>
          <a:lstStyle xmlns:a="http://schemas.openxmlformats.org/drawingml/2006/main"/>
          <a:p xmlns:a="http://schemas.openxmlformats.org/drawingml/2006/main">
            <a:pPr algn="ctr">
              <a:lnSpc>
                <a:spcPts val="3672"/>
              </a:lnSpc>
              <a:buNone/>
            </a:pPr>
            <a:r>
              <a:rPr sz="3600" b="1">
                <a:solidFill>
                  <a:srgbClr val="33CC33"/>
                </a:solidFill>
                <a:latin typeface="Garet Bold"/>
                <a:ea typeface="Garet Bold"/>
                <a:cs typeface="Garet Bold"/>
              </a:rPr>
              <a:t>26 / 26 DATA QA PASSED</a:t>
            </a:r>
          </a:p>
        </p:txBody>
      </p:sp>
      <p:sp>
        <p:nvSpPr>
          <p:cNvPr id="5" name="TextBox 5">
            <a:extLst xmlns:a="http://schemas.openxmlformats.org/drawingml/2006/main">
              <a:ext uri="{FF2B5EF4-FFF2-40B4-BE49-F238E27FC236}">
                <a16:creationId xmlns:a16="http://schemas.microsoft.com/office/drawing/2014/main" id="{472B19F8-9A68-460C-9E4B-FDB6EF088EF3}"/>
              </a:ext>
            </a:extLst>
          </p:cNvPr>
          <p:cNvSpPr>
            <a:spLocks xmlns:a="http://schemas.openxmlformats.org/drawingml/2006/main" noGrp="1"/>
          </p:cNvSpPr>
          <p:nvPr/>
        </p:nvSpPr>
        <p:spPr>
          <a:xfrm xmlns:a="http://schemas.openxmlformats.org/drawingml/2006/main">
            <a:off x="1028700" y="2399157"/>
            <a:ext cx="12949774" cy="75666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712"/>
              </a:lnSpc>
              <a:buNone/>
            </a:pPr>
            <a:r>
              <a:rPr sz="5600" b="1">
                <a:solidFill>
                  <a:srgbClr val="FFFFFF"/>
                </a:solidFill>
                <a:latin typeface="Garet Bold"/>
                <a:ea typeface="Garet Bold"/>
                <a:cs typeface="Garet Bold"/>
              </a:rPr>
              <a:t>FINAL DELIVERY EVIDENCE</a:t>
            </a:r>
          </a:p>
        </p:txBody>
      </p:sp>
      <p:sp>
        <p:nvSpPr>
          <p:cNvPr id="7" name="Freeform 7">
            <a:extLst xmlns:a="http://schemas.openxmlformats.org/drawingml/2006/main">
              <a:ext uri="{FF2B5EF4-FFF2-40B4-BE49-F238E27FC236}">
                <a16:creationId xmlns:a16="http://schemas.microsoft.com/office/drawing/2014/main" id="{7A9359C5-3891-407B-BAF4-FCB963E7B949}"/>
              </a:ext>
            </a:extLst>
          </p:cNvPr>
          <p:cNvSpPr>
            <a:spLocks xmlns:a="http://schemas.openxmlformats.org/drawingml/2006/main" noGrp="1"/>
          </p:cNvSpPr>
          <p:nvPr/>
        </p:nvSpPr>
        <p:spPr>
          <a:xfrm xmlns:a="http://schemas.openxmlformats.org/drawingml/2006/main" rot="0" flipH="0" flipV="0">
            <a:off x="1028700" y="5216271"/>
            <a:ext cx="16230600" cy="1202436"/>
          </a:xfrm>
          <a:custGeom xmlns:a="http://schemas.openxmlformats.org/drawingml/2006/main">
            <a:rect l="l" t="t" r="r" b="b"/>
            <a:pathLst>
              <a:path w="4274726" h="316691">
                <a:moveTo>
                  <a:pt x="0" y="0"/>
                </a:moveTo>
                <a:lnTo>
                  <a:pt x="4274726" y="0"/>
                </a:lnTo>
                <a:lnTo>
                  <a:pt x="4274726" y="316691"/>
                </a:lnTo>
                <a:lnTo>
                  <a:pt x="0" y="316691"/>
                </a:lnTo>
                <a:close/>
              </a:path>
            </a:pathLst>
          </a:custGeom>
          <a:ln xmlns:a="http://schemas.openxmlformats.org/drawingml/2006/main" w="38100">
            <a:solidFill>
              <a:srgbClr val="33CC33"/>
            </a:solidFill>
            <a:prstDash val="solid"/>
          </a:ln>
        </p:spPr>
        <p:txBody>
          <a:bodyPr xmlns:a="http://schemas.openxmlformats.org/drawingml/2006/main"/>
          <a:lstStyle xmlns:a="http://schemas.openxmlformats.org/drawingml/2006/main"/>
          <a:p xmlns:a="http://schemas.openxmlformats.org/drawingml/2006/main"/>
        </p:txBody>
      </p:sp>
      <p:sp>
        <p:nvSpPr>
          <p:cNvPr id="8" name="TextBox 8">
            <a:extLst xmlns:a="http://schemas.openxmlformats.org/drawingml/2006/main">
              <a:ext uri="{FF2B5EF4-FFF2-40B4-BE49-F238E27FC236}">
                <a16:creationId xmlns:a16="http://schemas.microsoft.com/office/drawing/2014/main" id="{4ECE55B9-66C7-485D-A331-464E60A3491D}"/>
              </a:ext>
            </a:extLst>
          </p:cNvPr>
          <p:cNvSpPr>
            <a:spLocks xmlns:a="http://schemas.openxmlformats.org/drawingml/2006/main" noGrp="1"/>
          </p:cNvSpPr>
          <p:nvPr/>
        </p:nvSpPr>
        <p:spPr>
          <a:xfrm xmlns:a="http://schemas.openxmlformats.org/drawingml/2006/main" rot="0" flipH="0" flipV="0">
            <a:off x="1028700" y="5433262"/>
            <a:ext cx="16230600" cy="985444"/>
          </a:xfrm>
          <a:prstGeom xmlns:a="http://schemas.openxmlformats.org/drawingml/2006/main" prst="rect">
            <a:avLst/>
          </a:prstGeom>
        </p:spPr>
        <p:txBody>
          <a:bodyPr xmlns:a="http://schemas.openxmlformats.org/drawingml/2006/main" lIns="254000" tIns="254000" rIns="254000" bIns="254000" anchor="ctr"/>
          <a:lstStyle xmlns:a="http://schemas.openxmlformats.org/drawingml/2006/main"/>
          <a:p xmlns:a="http://schemas.openxmlformats.org/drawingml/2006/main">
            <a:pPr algn="ctr">
              <a:lnSpc>
                <a:spcPts val="3672"/>
              </a:lnSpc>
              <a:buNone/>
            </a:pPr>
            <a:r>
              <a:rPr sz="3600" b="1">
                <a:solidFill>
                  <a:srgbClr val="33CC33"/>
                </a:solidFill>
                <a:latin typeface="Garet Bold"/>
                <a:ea typeface="Garet Bold"/>
                <a:cs typeface="Garet Bold"/>
              </a:rPr>
              <a:t>129 AUTOMATED TESTS PASSED</a:t>
            </a:r>
          </a:p>
        </p:txBody>
      </p:sp>
      <p:sp>
        <p:nvSpPr>
          <p:cNvPr id="10" name="Freeform 10">
            <a:extLst xmlns:a="http://schemas.openxmlformats.org/drawingml/2006/main">
              <a:ext uri="{FF2B5EF4-FFF2-40B4-BE49-F238E27FC236}">
                <a16:creationId xmlns:a16="http://schemas.microsoft.com/office/drawing/2014/main" id="{48C37C59-920C-4F6D-A8F2-438B4DEC0476}"/>
              </a:ext>
            </a:extLst>
          </p:cNvPr>
          <p:cNvSpPr>
            <a:spLocks xmlns:a="http://schemas.openxmlformats.org/drawingml/2006/main" noGrp="1"/>
          </p:cNvSpPr>
          <p:nvPr/>
        </p:nvSpPr>
        <p:spPr>
          <a:xfrm xmlns:a="http://schemas.openxmlformats.org/drawingml/2006/main" rot="0" flipH="0" flipV="0">
            <a:off x="1028700" y="6780657"/>
            <a:ext cx="16230600" cy="1202436"/>
          </a:xfrm>
          <a:custGeom xmlns:a="http://schemas.openxmlformats.org/drawingml/2006/main">
            <a:rect l="l" t="t" r="r" b="b"/>
            <a:pathLst>
              <a:path w="4274726" h="316691">
                <a:moveTo>
                  <a:pt x="0" y="0"/>
                </a:moveTo>
                <a:lnTo>
                  <a:pt x="4274726" y="0"/>
                </a:lnTo>
                <a:lnTo>
                  <a:pt x="4274726" y="316691"/>
                </a:lnTo>
                <a:lnTo>
                  <a:pt x="0" y="316691"/>
                </a:lnTo>
                <a:close/>
              </a:path>
            </a:pathLst>
          </a:custGeom>
          <a:ln xmlns:a="http://schemas.openxmlformats.org/drawingml/2006/main" w="38100">
            <a:solidFill>
              <a:srgbClr val="33CC33"/>
            </a:solidFill>
            <a:prstDash val="solid"/>
          </a:ln>
        </p:spPr>
        <p:txBody>
          <a:bodyPr xmlns:a="http://schemas.openxmlformats.org/drawingml/2006/main"/>
          <a:lstStyle xmlns:a="http://schemas.openxmlformats.org/drawingml/2006/main"/>
          <a:p xmlns:a="http://schemas.openxmlformats.org/drawingml/2006/main"/>
        </p:txBody>
      </p:sp>
      <p:sp>
        <p:nvSpPr>
          <p:cNvPr id="11" name="TextBox 11">
            <a:extLst xmlns:a="http://schemas.openxmlformats.org/drawingml/2006/main">
              <a:ext uri="{FF2B5EF4-FFF2-40B4-BE49-F238E27FC236}">
                <a16:creationId xmlns:a16="http://schemas.microsoft.com/office/drawing/2014/main" id="{C10DFD78-7AC6-4CEB-BB13-A95854F308C4}"/>
              </a:ext>
            </a:extLst>
          </p:cNvPr>
          <p:cNvSpPr>
            <a:spLocks xmlns:a="http://schemas.openxmlformats.org/drawingml/2006/main" noGrp="1"/>
          </p:cNvSpPr>
          <p:nvPr/>
        </p:nvSpPr>
        <p:spPr>
          <a:xfrm xmlns:a="http://schemas.openxmlformats.org/drawingml/2006/main" rot="0" flipH="0" flipV="0">
            <a:off x="1028700" y="6997648"/>
            <a:ext cx="16230600" cy="985444"/>
          </a:xfrm>
          <a:prstGeom xmlns:a="http://schemas.openxmlformats.org/drawingml/2006/main" prst="rect">
            <a:avLst/>
          </a:prstGeom>
        </p:spPr>
        <p:txBody>
          <a:bodyPr xmlns:a="http://schemas.openxmlformats.org/drawingml/2006/main" lIns="254000" tIns="254000" rIns="254000" bIns="254000" anchor="ctr"/>
          <a:lstStyle xmlns:a="http://schemas.openxmlformats.org/drawingml/2006/main"/>
          <a:p xmlns:a="http://schemas.openxmlformats.org/drawingml/2006/main">
            <a:pPr algn="ctr">
              <a:lnSpc>
                <a:spcPts val="3672"/>
              </a:lnSpc>
              <a:buNone/>
            </a:pPr>
            <a:r>
              <a:rPr sz="3600" b="1">
                <a:solidFill>
                  <a:srgbClr val="33CC33"/>
                </a:solidFill>
                <a:latin typeface="Garet Bold"/>
                <a:ea typeface="Garet Bold"/>
                <a:cs typeface="Garet Bold"/>
              </a:rPr>
              <a:t>3 APPLIED · 3 BLOCKED</a:t>
            </a:r>
          </a:p>
        </p:txBody>
      </p:sp>
    </p:spTree>
    <p:extLst>
      <p:ext uri="{BB962C8B-B14F-4D97-AF65-F5344CB8AC3E}">
        <p14:creationId xmlns:p14="http://schemas.microsoft.com/office/powerpoint/2010/main" val="1736013605"/>
      </p:ext>
    </p:extLst>
  </p:cSld>
</p:sld>
</file>

<file path=ppt/slides/slide5.xml><?xml version="1.0" encoding="utf-8"?>
<p:sld xmlns:p="http://schemas.openxmlformats.org/presentationml/2006/main">
  <p:cSld>
    <p:bg>
      <p:bgPr>
        <a:gradFill xmlns:a="http://schemas.openxmlformats.org/drawingml/2006/main" rotWithShape="1">
          <a:gsLst>
            <a:gs pos="0">
              <a:srgbClr val="000000">
                <a:alpha val="100000"/>
              </a:srgbClr>
            </a:gs>
            <a:gs pos="100000">
              <a:srgbClr val="011000">
                <a:alpha val="100000"/>
              </a:srgbClr>
            </a:gs>
          </a:gsLst>
          <a:path path="circle">
            <a:fillToRect l="0" t="0" r="100000" b="100000"/>
          </a:path>
          <a:tileRect l="-100000" t="-100000"/>
        </a:gradFill>
      </p:bgPr>
    </p:bg>
    <p:spTree>
      <p:nvGrpSpPr>
        <p:cNvPr id="1" name=""/>
        <p:cNvGrpSpPr/>
        <p:nvPr/>
      </p:nvGrpSpPr>
      <p:grpSpPr>
        <a:xfrm xmlns:a="http://schemas.openxmlformats.org/drawingml/2006/main"/>
      </p:grpSpPr>
      <p:pic>
        <p:nvPicPr>
          <p:cNvPr id="8" name="Picture 3"/>
          <p:cNvPicPr>
            <a:picLocks xmlns:a="http://schemas.openxmlformats.org/drawingml/2006/main" noChangeAspect="1"/>
          </p:cNvPicPr>
          <p:nvPr/>
        </p:nvPicPr>
        <p:blipFill>
          <a:blip xmlns:r="http://schemas.openxmlformats.org/officeDocument/2006/relationships" xmlns:a="http://schemas.openxmlformats.org/drawingml/2006/main" r:embed="R3aa9a7974daf4e09"/>
          <a:srcRect xmlns:a="http://schemas.openxmlformats.org/drawingml/2006/main" l="38267" t="0" r="38267" b="0"/>
          <a:stretch xmlns:a="http://schemas.openxmlformats.org/drawingml/2006/main">
            <a:fillRect l="0" t="0" r="0" b="0"/>
          </a:stretch>
        </p:blipFill>
        <p:spPr>
          <a:xfrm xmlns:a="http://schemas.openxmlformats.org/drawingml/2006/main" rot="0" flipH="0" flipV="0">
            <a:off x="1028700" y="1028700"/>
            <a:ext cx="4955302" cy="8229600"/>
          </a:xfrm>
          <a:prstGeom xmlns:a="http://schemas.openxmlformats.org/drawingml/2006/main" prst="rect">
            <a:avLst/>
          </a:prstGeom>
        </p:spPr>
      </p:pic>
      <p:sp>
        <p:nvSpPr>
          <p:cNvPr id="4" name="TextBox 4">
            <a:extLst xmlns:a="http://schemas.openxmlformats.org/drawingml/2006/main">
              <a:ext uri="{FF2B5EF4-FFF2-40B4-BE49-F238E27FC236}">
                <a16:creationId xmlns:a16="http://schemas.microsoft.com/office/drawing/2014/main" id="{855B988B-D30B-422B-BE50-D8CB8CC55A2A}"/>
              </a:ext>
            </a:extLst>
          </p:cNvPr>
          <p:cNvSpPr>
            <a:spLocks xmlns:a="http://schemas.openxmlformats.org/drawingml/2006/main" noGrp="1"/>
          </p:cNvSpPr>
          <p:nvPr/>
        </p:nvSpPr>
        <p:spPr>
          <a:xfrm xmlns:a="http://schemas.openxmlformats.org/drawingml/2006/main">
            <a:off x="7275345" y="2515362"/>
            <a:ext cx="9983955" cy="148056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712"/>
              </a:lnSpc>
              <a:buNone/>
            </a:pPr>
            <a:r>
              <a:rPr sz="5600" b="1">
                <a:solidFill>
                  <a:srgbClr val="FFFFFF"/>
                </a:solidFill>
                <a:latin typeface="Garet Bold"/>
                <a:ea typeface="Garet Bold"/>
                <a:cs typeface="Garet Bold"/>
              </a:rPr>
              <a:t>WHY PRIVATE-MARKET REPORTING BREAKS</a:t>
            </a:r>
          </a:p>
        </p:txBody>
      </p:sp>
      <p:sp>
        <p:nvSpPr>
          <p:cNvPr id="5" name="TextBox 5">
            <a:extLst xmlns:a="http://schemas.openxmlformats.org/drawingml/2006/main">
              <a:ext uri="{FF2B5EF4-FFF2-40B4-BE49-F238E27FC236}">
                <a16:creationId xmlns:a16="http://schemas.microsoft.com/office/drawing/2014/main" id="{E19DB119-A4EF-445A-84AE-ED2D87E29087}"/>
              </a:ext>
            </a:extLst>
          </p:cNvPr>
          <p:cNvSpPr>
            <a:spLocks xmlns:a="http://schemas.openxmlformats.org/drawingml/2006/main" noGrp="1"/>
          </p:cNvSpPr>
          <p:nvPr/>
        </p:nvSpPr>
        <p:spPr>
          <a:xfrm xmlns:a="http://schemas.openxmlformats.org/drawingml/2006/main">
            <a:off x="7275345" y="4243578"/>
            <a:ext cx="9983955" cy="9395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33CC33"/>
                </a:solidFill>
                <a:latin typeface="Garet Bold"/>
                <a:ea typeface="Garet Bold"/>
                <a:cs typeface="Garet Bold"/>
              </a:rPr>
              <a:t>DOCUMENTS ARE FRAGMENTED. DECISIONS CANNOT BE.</a:t>
            </a:r>
          </a:p>
        </p:txBody>
      </p:sp>
      <p:sp>
        <p:nvSpPr>
          <p:cNvPr id="6" name="TextBox 6">
            <a:extLst xmlns:a="http://schemas.openxmlformats.org/drawingml/2006/main">
              <a:ext uri="{FF2B5EF4-FFF2-40B4-BE49-F238E27FC236}">
                <a16:creationId xmlns:a16="http://schemas.microsoft.com/office/drawing/2014/main" id="{13B10385-49EB-45D4-A74D-2DAA760E7BEE}"/>
              </a:ext>
            </a:extLst>
          </p:cNvPr>
          <p:cNvSpPr>
            <a:spLocks xmlns:a="http://schemas.openxmlformats.org/drawingml/2006/main" noGrp="1"/>
          </p:cNvSpPr>
          <p:nvPr/>
        </p:nvSpPr>
        <p:spPr>
          <a:xfrm xmlns:a="http://schemas.openxmlformats.org/drawingml/2006/main">
            <a:off x="7275345" y="5421249"/>
            <a:ext cx="9983955" cy="24456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solidFill>
                  <a:srgbClr val="FFFFFF"/>
                </a:solidFill>
                <a:latin typeface="Garet"/>
                <a:ea typeface="Garet"/>
                <a:cs typeface="Garet"/>
              </a:rPr>
              <a:t>Capital calls, distributions, statements, and newsletters arrive in inconsistent formats and on different schedules. Their fields affect cash, NAV, commitments, reporting, and risk. The operational challenge is to interpret document meaning, reconcile it with controlled records, and escalate exceptions before they enter portfolio state.</a:t>
            </a:r>
          </a:p>
        </p:txBody>
      </p:sp>
    </p:spTree>
    <p:extLst>
      <p:ext uri="{BB962C8B-B14F-4D97-AF65-F5344CB8AC3E}">
        <p14:creationId xmlns:p14="http://schemas.microsoft.com/office/powerpoint/2010/main" val="1698722036"/>
      </p:ext>
    </p:extLst>
  </p:cSld>
</p:sld>
</file>

<file path=ppt/slides/slide6.xml><?xml version="1.0" encoding="utf-8"?>
<p:sld xmlns:p="http://schemas.openxmlformats.org/presentationml/2006/main">
  <p:cSld>
    <p:bg>
      <p:bgPr>
        <a:gradFill xmlns:a="http://schemas.openxmlformats.org/drawingml/2006/main" rotWithShape="1">
          <a:gsLst>
            <a:gs pos="0">
              <a:srgbClr val="000000">
                <a:alpha val="100000"/>
              </a:srgbClr>
            </a:gs>
            <a:gs pos="100000">
              <a:srgbClr val="011000">
                <a:alpha val="100000"/>
              </a:srgbClr>
            </a:gs>
          </a:gsLst>
          <a:path path="circle">
            <a:fillToRect l="0" t="0" r="100000" b="100000"/>
          </a:path>
          <a:tileRect l="-100000" t="-100000"/>
        </a:gradFill>
      </p:bgPr>
    </p:bg>
    <p:spTree>
      <p:nvGrpSpPr>
        <p:cNvPr id="1" name=""/>
        <p:cNvGrpSpPr/>
        <p:nvPr/>
      </p:nvGrpSpPr>
      <p:grpSpPr>
        <a:xfrm xmlns:a="http://schemas.openxmlformats.org/drawingml/2006/main"/>
      </p:grpSpPr>
      <p:pic>
        <p:nvPicPr>
          <p:cNvPr id="13" name="Picture 3"/>
          <p:cNvPicPr>
            <a:picLocks xmlns:a="http://schemas.openxmlformats.org/drawingml/2006/main" noChangeAspect="1"/>
          </p:cNvPicPr>
          <p:nvPr/>
        </p:nvPicPr>
        <p:blipFill>
          <a:blip xmlns:r="http://schemas.openxmlformats.org/officeDocument/2006/relationships" xmlns:a="http://schemas.openxmlformats.org/drawingml/2006/main" r:embed="R1f88fcd6caa04bb8"/>
          <a:srcRect xmlns:a="http://schemas.openxmlformats.org/drawingml/2006/main" l="9255" t="0" r="9255" b="0"/>
          <a:stretch xmlns:a="http://schemas.openxmlformats.org/drawingml/2006/main">
            <a:fillRect l="0" t="0" r="0" b="0"/>
          </a:stretch>
        </p:blipFill>
        <p:spPr>
          <a:xfrm xmlns:a="http://schemas.openxmlformats.org/drawingml/2006/main" rot="0" flipH="0" flipV="0">
            <a:off x="1028700" y="2439434"/>
            <a:ext cx="7878828" cy="3767871"/>
          </a:xfrm>
          <a:prstGeom xmlns:a="http://schemas.openxmlformats.org/drawingml/2006/main" prst="rect">
            <a:avLst/>
          </a:prstGeom>
        </p:spPr>
      </p:pic>
      <p:sp>
        <p:nvSpPr>
          <p:cNvPr id="4" name="TextBox 4">
            <a:extLst xmlns:a="http://schemas.openxmlformats.org/drawingml/2006/main">
              <a:ext uri="{FF2B5EF4-FFF2-40B4-BE49-F238E27FC236}">
                <a16:creationId xmlns:a16="http://schemas.microsoft.com/office/drawing/2014/main" id="{7860D6B6-652B-4CAC-ABA9-5EF32CF66B2A}"/>
              </a:ext>
            </a:extLst>
          </p:cNvPr>
          <p:cNvSpPr>
            <a:spLocks xmlns:a="http://schemas.openxmlformats.org/drawingml/2006/main" noGrp="1"/>
          </p:cNvSpPr>
          <p:nvPr/>
        </p:nvSpPr>
        <p:spPr>
          <a:xfrm xmlns:a="http://schemas.openxmlformats.org/drawingml/2006/main">
            <a:off x="1028700" y="996939"/>
            <a:ext cx="16230600" cy="1450848"/>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712"/>
              </a:lnSpc>
              <a:buNone/>
            </a:pPr>
            <a:r>
              <a:rPr sz="5600" b="1">
                <a:solidFill>
                  <a:srgbClr val="FFFFFF"/>
                </a:solidFill>
                <a:latin typeface="Garet Bold"/>
                <a:ea typeface="Garet Bold"/>
                <a:cs typeface="Garet Bold"/>
              </a:rPr>
              <a:t>A SYNTHETIC PORTFOLIO BUILT TO TEST THE HARD PARTS</a:t>
            </a:r>
          </a:p>
        </p:txBody>
      </p:sp>
      <p:sp>
        <p:nvSpPr>
          <p:cNvPr id="5" name="TextBox 5">
            <a:extLst xmlns:a="http://schemas.openxmlformats.org/drawingml/2006/main">
              <a:ext uri="{FF2B5EF4-FFF2-40B4-BE49-F238E27FC236}">
                <a16:creationId xmlns:a16="http://schemas.microsoft.com/office/drawing/2014/main" id="{F8B10DB7-8A3E-40C9-B762-FC40AB48EBB9}"/>
              </a:ext>
            </a:extLst>
          </p:cNvPr>
          <p:cNvSpPr>
            <a:spLocks xmlns:a="http://schemas.openxmlformats.org/drawingml/2006/main" noGrp="1"/>
          </p:cNvSpPr>
          <p:nvPr/>
        </p:nvSpPr>
        <p:spPr>
          <a:xfrm xmlns:a="http://schemas.openxmlformats.org/drawingml/2006/main">
            <a:off x="1028700" y="6425565"/>
            <a:ext cx="7878828" cy="4823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33CC33"/>
                </a:solidFill>
                <a:latin typeface="Garet Bold"/>
                <a:ea typeface="Garet Bold"/>
                <a:cs typeface="Garet Bold"/>
              </a:rPr>
              <a:t>USD 750M GLOBAL PORTFOLIO</a:t>
            </a:r>
          </a:p>
        </p:txBody>
      </p:sp>
      <p:sp>
        <p:nvSpPr>
          <p:cNvPr id="6" name="TextBox 6">
            <a:extLst xmlns:a="http://schemas.openxmlformats.org/drawingml/2006/main">
              <a:ext uri="{FF2B5EF4-FFF2-40B4-BE49-F238E27FC236}">
                <a16:creationId xmlns:a16="http://schemas.microsoft.com/office/drawing/2014/main" id="{6A077923-62EF-4111-B41B-F6418F33437F}"/>
              </a:ext>
            </a:extLst>
          </p:cNvPr>
          <p:cNvSpPr>
            <a:spLocks xmlns:a="http://schemas.openxmlformats.org/drawingml/2006/main" noGrp="1"/>
          </p:cNvSpPr>
          <p:nvPr/>
        </p:nvSpPr>
        <p:spPr>
          <a:xfrm xmlns:a="http://schemas.openxmlformats.org/drawingml/2006/main">
            <a:off x="1028700" y="7117461"/>
            <a:ext cx="7878828" cy="21408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solidFill>
                  <a:srgbClr val="FFFFFF"/>
                </a:solidFill>
                <a:latin typeface="Garet"/>
                <a:ea typeface="Garet"/>
                <a:cs typeface="Garet"/>
              </a:rPr>
              <a:t>Singapore-based, USD reporting, globally diversified and alternatives-heavy: 30% public equities, 13% fixed income, 49% private markets, 5% hedge funds, and 3% cash.</a:t>
            </a:r>
          </a:p>
        </p:txBody>
      </p:sp>
      <p:pic>
        <p:nvPicPr>
          <p:cNvPr id="17" name="Picture 8"/>
          <p:cNvPicPr>
            <a:picLocks xmlns:a="http://schemas.openxmlformats.org/drawingml/2006/main" noChangeAspect="1"/>
          </p:cNvPicPr>
          <p:nvPr/>
        </p:nvPicPr>
        <p:blipFill>
          <a:blip xmlns:r="http://schemas.openxmlformats.org/officeDocument/2006/relationships" xmlns:a="http://schemas.openxmlformats.org/drawingml/2006/main" r:embed="R1f88fcd6caa04bb8"/>
          <a:srcRect xmlns:a="http://schemas.openxmlformats.org/drawingml/2006/main" l="9255" t="0" r="9255" b="0"/>
          <a:stretch xmlns:a="http://schemas.openxmlformats.org/drawingml/2006/main">
            <a:fillRect l="0" t="0" r="0" b="0"/>
          </a:stretch>
        </p:blipFill>
        <p:spPr>
          <a:xfrm xmlns:a="http://schemas.openxmlformats.org/drawingml/2006/main" rot="0" flipH="0" flipV="0">
            <a:off x="9380472" y="2439434"/>
            <a:ext cx="7878828" cy="3767871"/>
          </a:xfrm>
          <a:prstGeom xmlns:a="http://schemas.openxmlformats.org/drawingml/2006/main" prst="rect">
            <a:avLst/>
          </a:prstGeom>
        </p:spPr>
      </p:pic>
      <p:sp>
        <p:nvSpPr>
          <p:cNvPr id="9" name="TextBox 9">
            <a:extLst xmlns:a="http://schemas.openxmlformats.org/drawingml/2006/main">
              <a:ext uri="{FF2B5EF4-FFF2-40B4-BE49-F238E27FC236}">
                <a16:creationId xmlns:a16="http://schemas.microsoft.com/office/drawing/2014/main" id="{6826CE42-71D2-479B-9FED-98842193D6E9}"/>
              </a:ext>
            </a:extLst>
          </p:cNvPr>
          <p:cNvSpPr>
            <a:spLocks xmlns:a="http://schemas.openxmlformats.org/drawingml/2006/main" noGrp="1"/>
          </p:cNvSpPr>
          <p:nvPr/>
        </p:nvSpPr>
        <p:spPr>
          <a:xfrm xmlns:a="http://schemas.openxmlformats.org/drawingml/2006/main">
            <a:off x="9380472" y="6425565"/>
            <a:ext cx="7878828" cy="4823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33CC33"/>
                </a:solidFill>
                <a:latin typeface="Garet Bold"/>
                <a:ea typeface="Garet Bold"/>
                <a:cs typeface="Garet Bold"/>
              </a:rPr>
              <a:t>APRIL BASELINE + MAY OVERLAY</a:t>
            </a:r>
          </a:p>
        </p:txBody>
      </p:sp>
      <p:sp>
        <p:nvSpPr>
          <p:cNvPr id="10" name="TextBox 10">
            <a:extLst xmlns:a="http://schemas.openxmlformats.org/drawingml/2006/main">
              <a:ext uri="{FF2B5EF4-FFF2-40B4-BE49-F238E27FC236}">
                <a16:creationId xmlns:a16="http://schemas.microsoft.com/office/drawing/2014/main" id="{81C36635-93D6-4F49-BDF0-64A0A3318CE1}"/>
              </a:ext>
            </a:extLst>
          </p:cNvPr>
          <p:cNvSpPr>
            <a:spLocks xmlns:a="http://schemas.openxmlformats.org/drawingml/2006/main" noGrp="1"/>
          </p:cNvSpPr>
          <p:nvPr/>
        </p:nvSpPr>
        <p:spPr>
          <a:xfrm xmlns:a="http://schemas.openxmlformats.org/drawingml/2006/main">
            <a:off x="9380472" y="7117461"/>
            <a:ext cx="7878828" cy="21408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solidFill>
                  <a:srgbClr val="FFFFFF"/>
                </a:solidFill>
                <a:latin typeface="Garet"/>
                <a:ea typeface="Garet"/>
                <a:cs typeface="Garet"/>
              </a:rPr>
              <a:t>The official close remains 30 April 2026. Six mock May documents create a controlled overlay, separating approved projected activity from booked cash and unresolved records.</a:t>
            </a:r>
          </a:p>
        </p:txBody>
      </p:sp>
    </p:spTree>
    <p:extLst>
      <p:ext uri="{BB962C8B-B14F-4D97-AF65-F5344CB8AC3E}">
        <p14:creationId xmlns:p14="http://schemas.microsoft.com/office/powerpoint/2010/main" val="186364360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28079FB9-73C8-417F-ABDC-A82F1CC0E042}"/>
              </a:ext>
            </a:extLst>
          </p:cNvPr>
          <p:cNvSpPr>
            <a:spLocks xmlns:a="http://schemas.openxmlformats.org/drawingml/2006/main" noGrp="1"/>
          </p:cNvSpPr>
          <p:nvPr/>
        </p:nvSpPr>
        <p:spPr>
          <a:xfrm xmlns:a="http://schemas.openxmlformats.org/drawingml/2006/main">
            <a:off x="7275345" y="2877312"/>
            <a:ext cx="9983955" cy="75666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712"/>
              </a:lnSpc>
              <a:buNone/>
            </a:pPr>
            <a:r>
              <a:rPr sz="5600" b="1">
                <a:gradFill>
                  <a:gsLst>
                    <a:gs pos="0">
                      <a:srgbClr val="000000">
                        <a:alpha val="100000"/>
                      </a:srgbClr>
                    </a:gs>
                    <a:gs pos="100000">
                      <a:srgbClr val="011000">
                        <a:alpha val="100000"/>
                      </a:srgbClr>
                    </a:gs>
                  </a:gsLst>
                  <a:path path="circle">
                    <a:fillToRect l="0" t="0" r="100000" b="100000"/>
                  </a:path>
                  <a:tileRect l="-100000" t="-100000"/>
                </a:gradFill>
                <a:latin typeface="Garet Bold"/>
                <a:ea typeface="Garet Bold"/>
                <a:cs typeface="Garet Bold"/>
              </a:rPr>
              <a:t>SYSTEM DESIGN</a:t>
            </a:r>
          </a:p>
        </p:txBody>
      </p:sp>
      <p:sp>
        <p:nvSpPr>
          <p:cNvPr id="3" name="TextBox 3">
            <a:extLst xmlns:a="http://schemas.openxmlformats.org/drawingml/2006/main">
              <a:ext uri="{FF2B5EF4-FFF2-40B4-BE49-F238E27FC236}">
                <a16:creationId xmlns:a16="http://schemas.microsoft.com/office/drawing/2014/main" id="{4B5394B8-EFEA-4AFA-B883-933BD03239E9}"/>
              </a:ext>
            </a:extLst>
          </p:cNvPr>
          <p:cNvSpPr>
            <a:spLocks xmlns:a="http://schemas.openxmlformats.org/drawingml/2006/main" noGrp="1"/>
          </p:cNvSpPr>
          <p:nvPr/>
        </p:nvSpPr>
        <p:spPr>
          <a:xfrm xmlns:a="http://schemas.openxmlformats.org/drawingml/2006/main">
            <a:off x="7275345" y="3881628"/>
            <a:ext cx="9983955" cy="9395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006000"/>
                </a:solidFill>
                <a:latin typeface="Garet Bold"/>
                <a:ea typeface="Garet Bold"/>
                <a:cs typeface="Garet Bold"/>
              </a:rPr>
              <a:t>THE WORKFLOW CONNECTS DOCUMENT EVIDENCE TO PORTFOLIO STATE.</a:t>
            </a:r>
          </a:p>
        </p:txBody>
      </p:sp>
      <p:sp>
        <p:nvSpPr>
          <p:cNvPr id="4" name="TextBox 4">
            <a:extLst xmlns:a="http://schemas.openxmlformats.org/drawingml/2006/main">
              <a:ext uri="{FF2B5EF4-FFF2-40B4-BE49-F238E27FC236}">
                <a16:creationId xmlns:a16="http://schemas.microsoft.com/office/drawing/2014/main" id="{1EC8C3F0-BB37-45DB-BFDA-E6F8CD090552}"/>
              </a:ext>
            </a:extLst>
          </p:cNvPr>
          <p:cNvSpPr>
            <a:spLocks xmlns:a="http://schemas.openxmlformats.org/drawingml/2006/main" noGrp="1"/>
          </p:cNvSpPr>
          <p:nvPr/>
        </p:nvSpPr>
        <p:spPr>
          <a:xfrm xmlns:a="http://schemas.openxmlformats.org/drawingml/2006/main">
            <a:off x="7275345" y="5059299"/>
            <a:ext cx="9983955" cy="24456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gradFill>
                  <a:gsLst>
                    <a:gs pos="0">
                      <a:srgbClr val="000000">
                        <a:alpha val="100000"/>
                      </a:srgbClr>
                    </a:gs>
                    <a:gs pos="100000">
                      <a:srgbClr val="011000">
                        <a:alpha val="100000"/>
                      </a:srgbClr>
                    </a:gs>
                  </a:gsLst>
                  <a:path path="circle">
                    <a:fillToRect l="0" t="0" r="100000" b="100000"/>
                  </a:path>
                  <a:tileRect l="-100000" t="-100000"/>
                </a:gradFill>
                <a:latin typeface="Garet"/>
                <a:ea typeface="Garet"/>
                <a:cs typeface="Garet"/>
              </a:rPr>
              <a:t>PDF intake → classification → schema-based extraction → structured JSON → validation rules → human review → approved-only updates → processed datasets → dashboard → public-proxy risk. Each stage produces a traceable output; no stage is allowed to silently bypass the approval boundary.</a:t>
            </a:r>
          </a:p>
        </p:txBody>
      </p:sp>
      <p:pic>
        <p:nvPicPr>
          <p:cNvPr id="10" name="Picture 6"/>
          <p:cNvPicPr>
            <a:picLocks xmlns:a="http://schemas.openxmlformats.org/drawingml/2006/main" noChangeAspect="1"/>
          </p:cNvPicPr>
          <p:nvPr/>
        </p:nvPicPr>
        <p:blipFill>
          <a:blip xmlns:r="http://schemas.openxmlformats.org/officeDocument/2006/relationships" xmlns:a="http://schemas.openxmlformats.org/drawingml/2006/main" r:embed="R32e9511cd9644e8e"/>
          <a:srcRect xmlns:a="http://schemas.openxmlformats.org/drawingml/2006/main" l="26058" t="0" r="26058" b="0"/>
          <a:stretch xmlns:a="http://schemas.openxmlformats.org/drawingml/2006/main">
            <a:fillRect l="0" t="0" r="0" b="0"/>
          </a:stretch>
        </p:blipFill>
        <p:spPr>
          <a:xfrm xmlns:a="http://schemas.openxmlformats.org/drawingml/2006/main" rot="0" flipH="0" flipV="0">
            <a:off x="1028700" y="1028700"/>
            <a:ext cx="4955302" cy="4032955"/>
          </a:xfrm>
          <a:prstGeom xmlns:a="http://schemas.openxmlformats.org/drawingml/2006/main" prst="rect">
            <a:avLst/>
          </a:prstGeom>
        </p:spPr>
      </p:pic>
      <p:pic>
        <p:nvPicPr>
          <p:cNvPr id="11" name="Picture 8"/>
          <p:cNvPicPr>
            <a:picLocks xmlns:a="http://schemas.openxmlformats.org/drawingml/2006/main" noChangeAspect="1"/>
          </p:cNvPicPr>
          <p:nvPr/>
        </p:nvPicPr>
        <p:blipFill>
          <a:blip xmlns:r="http://schemas.openxmlformats.org/officeDocument/2006/relationships" xmlns:a="http://schemas.openxmlformats.org/drawingml/2006/main" r:embed="R32e9511cd9644e8e"/>
          <a:srcRect xmlns:a="http://schemas.openxmlformats.org/drawingml/2006/main" l="26058" t="0" r="26058" b="0"/>
          <a:stretch xmlns:a="http://schemas.openxmlformats.org/drawingml/2006/main">
            <a:fillRect l="0" t="0" r="0" b="0"/>
          </a:stretch>
        </p:blipFill>
        <p:spPr>
          <a:xfrm xmlns:a="http://schemas.openxmlformats.org/drawingml/2006/main" rot="0" flipH="0" flipV="0">
            <a:off x="1028700" y="5225345"/>
            <a:ext cx="4955302" cy="4032955"/>
          </a:xfrm>
          <a:prstGeom xmlns:a="http://schemas.openxmlformats.org/drawingml/2006/main" prst="rect">
            <a:avLst/>
          </a:prstGeom>
        </p:spPr>
      </p:pic>
    </p:spTree>
    <p:extLst>
      <p:ext uri="{BB962C8B-B14F-4D97-AF65-F5344CB8AC3E}">
        <p14:creationId xmlns:p14="http://schemas.microsoft.com/office/powerpoint/2010/main" val="136264133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BDC02DEB-150E-44F0-AE94-7B84B0C8C289}"/>
              </a:ext>
            </a:extLst>
          </p:cNvPr>
          <p:cNvSpPr>
            <a:spLocks xmlns:a="http://schemas.openxmlformats.org/drawingml/2006/main" noGrp="1"/>
          </p:cNvSpPr>
          <p:nvPr/>
        </p:nvSpPr>
        <p:spPr>
          <a:xfrm xmlns:a="http://schemas.openxmlformats.org/drawingml/2006/main">
            <a:off x="1028700" y="2508069"/>
            <a:ext cx="8291149" cy="75666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712"/>
              </a:lnSpc>
              <a:buNone/>
            </a:pPr>
            <a:r>
              <a:rPr sz="5600" b="1">
                <a:gradFill>
                  <a:gsLst>
                    <a:gs pos="0">
                      <a:srgbClr val="000000">
                        <a:alpha val="100000"/>
                      </a:srgbClr>
                    </a:gs>
                    <a:gs pos="100000">
                      <a:srgbClr val="011000">
                        <a:alpha val="100000"/>
                      </a:srgbClr>
                    </a:gs>
                  </a:gsLst>
                  <a:path path="circle">
                    <a:fillToRect l="0" t="0" r="100000" b="100000"/>
                  </a:path>
                  <a:tileRect l="-100000" t="-100000"/>
                </a:gradFill>
                <a:latin typeface="Garet Bold"/>
                <a:ea typeface="Garet Bold"/>
                <a:cs typeface="Garet Bold"/>
              </a:rPr>
              <a:t>EXTRACTION MODES</a:t>
            </a:r>
          </a:p>
        </p:txBody>
      </p:sp>
      <p:sp>
        <p:nvSpPr>
          <p:cNvPr id="3" name="TextBox 3">
            <a:extLst xmlns:a="http://schemas.openxmlformats.org/drawingml/2006/main">
              <a:ext uri="{FF2B5EF4-FFF2-40B4-BE49-F238E27FC236}">
                <a16:creationId xmlns:a16="http://schemas.microsoft.com/office/drawing/2014/main" id="{1EBC941A-8834-4F38-8341-E9A1AB1FE71E}"/>
              </a:ext>
            </a:extLst>
          </p:cNvPr>
          <p:cNvSpPr>
            <a:spLocks xmlns:a="http://schemas.openxmlformats.org/drawingml/2006/main" noGrp="1"/>
          </p:cNvSpPr>
          <p:nvPr/>
        </p:nvSpPr>
        <p:spPr>
          <a:xfrm xmlns:a="http://schemas.openxmlformats.org/drawingml/2006/main">
            <a:off x="1028700" y="3498396"/>
            <a:ext cx="5168996" cy="4823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006000"/>
                </a:solidFill>
                <a:latin typeface="Garet Bold"/>
                <a:ea typeface="Garet Bold"/>
                <a:cs typeface="Garet Bold"/>
              </a:rPr>
              <a:t>BASELINE</a:t>
            </a:r>
          </a:p>
        </p:txBody>
      </p:sp>
      <p:sp>
        <p:nvSpPr>
          <p:cNvPr id="4" name="TextBox 4">
            <a:extLst xmlns:a="http://schemas.openxmlformats.org/drawingml/2006/main">
              <a:ext uri="{FF2B5EF4-FFF2-40B4-BE49-F238E27FC236}">
                <a16:creationId xmlns:a16="http://schemas.microsoft.com/office/drawing/2014/main" id="{FD277E26-D71E-4011-85A2-35923E3355E7}"/>
              </a:ext>
            </a:extLst>
          </p:cNvPr>
          <p:cNvSpPr>
            <a:spLocks xmlns:a="http://schemas.openxmlformats.org/drawingml/2006/main" noGrp="1"/>
          </p:cNvSpPr>
          <p:nvPr/>
        </p:nvSpPr>
        <p:spPr>
          <a:xfrm xmlns:a="http://schemas.openxmlformats.org/drawingml/2006/main">
            <a:off x="1028700" y="4209342"/>
            <a:ext cx="5168996" cy="36648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gradFill>
                  <a:gsLst>
                    <a:gs pos="0">
                      <a:srgbClr val="000000">
                        <a:alpha val="100000"/>
                      </a:srgbClr>
                    </a:gs>
                    <a:gs pos="100000">
                      <a:srgbClr val="011000">
                        <a:alpha val="100000"/>
                      </a:srgbClr>
                    </a:gs>
                  </a:gsLst>
                  <a:path path="circle">
                    <a:fillToRect l="0" t="0" r="100000" b="100000"/>
                  </a:path>
                  <a:tileRect l="-100000" t="-100000"/>
                </a:gradFill>
                <a:latin typeface="Garet"/>
                <a:ea typeface="Garet"/>
                <a:cs typeface="Garet"/>
              </a:rPr>
              <a:t>Deterministic, API-free, and locked to expected synthetic results. It is the standard demonstration route and the basis of final delivery.</a:t>
            </a:r>
          </a:p>
        </p:txBody>
      </p:sp>
      <p:sp>
        <p:nvSpPr>
          <p:cNvPr id="5" name="TextBox 5">
            <a:extLst xmlns:a="http://schemas.openxmlformats.org/drawingml/2006/main">
              <a:ext uri="{FF2B5EF4-FFF2-40B4-BE49-F238E27FC236}">
                <a16:creationId xmlns:a16="http://schemas.microsoft.com/office/drawing/2014/main" id="{E2FCE557-FC36-4C5C-8BC2-E936C0180BC7}"/>
              </a:ext>
            </a:extLst>
          </p:cNvPr>
          <p:cNvSpPr>
            <a:spLocks xmlns:a="http://schemas.openxmlformats.org/drawingml/2006/main" noGrp="1"/>
          </p:cNvSpPr>
          <p:nvPr/>
        </p:nvSpPr>
        <p:spPr>
          <a:xfrm xmlns:a="http://schemas.openxmlformats.org/drawingml/2006/main">
            <a:off x="6559502" y="3498396"/>
            <a:ext cx="5168996" cy="4823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006000"/>
                </a:solidFill>
                <a:latin typeface="Garet Bold"/>
                <a:ea typeface="Garet Bold"/>
                <a:cs typeface="Garet Bold"/>
              </a:rPr>
              <a:t>INTAKE</a:t>
            </a:r>
          </a:p>
        </p:txBody>
      </p:sp>
      <p:sp>
        <p:nvSpPr>
          <p:cNvPr id="6" name="TextBox 6">
            <a:extLst xmlns:a="http://schemas.openxmlformats.org/drawingml/2006/main">
              <a:ext uri="{FF2B5EF4-FFF2-40B4-BE49-F238E27FC236}">
                <a16:creationId xmlns:a16="http://schemas.microsoft.com/office/drawing/2014/main" id="{45DAA96D-6E7E-46A7-9F28-1889057F4A8B}"/>
              </a:ext>
            </a:extLst>
          </p:cNvPr>
          <p:cNvSpPr>
            <a:spLocks xmlns:a="http://schemas.openxmlformats.org/drawingml/2006/main" noGrp="1"/>
          </p:cNvSpPr>
          <p:nvPr/>
        </p:nvSpPr>
        <p:spPr>
          <a:xfrm xmlns:a="http://schemas.openxmlformats.org/drawingml/2006/main">
            <a:off x="6559502" y="4209342"/>
            <a:ext cx="5168996" cy="36648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gradFill>
                  <a:gsLst>
                    <a:gs pos="0">
                      <a:srgbClr val="000000">
                        <a:alpha val="100000"/>
                      </a:srgbClr>
                    </a:gs>
                    <a:gs pos="100000">
                      <a:srgbClr val="011000">
                        <a:alpha val="100000"/>
                      </a:srgbClr>
                    </a:gs>
                  </a:gsLst>
                  <a:path path="circle">
                    <a:fillToRect l="0" t="0" r="100000" b="100000"/>
                  </a:path>
                  <a:tileRect l="-100000" t="-100000"/>
                </a:gradFill>
                <a:latin typeface="Garet"/>
                <a:ea typeface="Garet"/>
                <a:cs typeface="Garet"/>
              </a:rPr>
              <a:t>Processes PDFs staged through the dashboard using the same offline logic. Uploaded files remain outside portfolio state until reviewed.</a:t>
            </a:r>
          </a:p>
        </p:txBody>
      </p:sp>
      <p:sp>
        <p:nvSpPr>
          <p:cNvPr id="7" name="TextBox 7">
            <a:extLst xmlns:a="http://schemas.openxmlformats.org/drawingml/2006/main">
              <a:ext uri="{FF2B5EF4-FFF2-40B4-BE49-F238E27FC236}">
                <a16:creationId xmlns:a16="http://schemas.microsoft.com/office/drawing/2014/main" id="{C8C1EA70-F1D0-410F-AAC7-6E113F84F149}"/>
              </a:ext>
            </a:extLst>
          </p:cNvPr>
          <p:cNvSpPr>
            <a:spLocks xmlns:a="http://schemas.openxmlformats.org/drawingml/2006/main" noGrp="1"/>
          </p:cNvSpPr>
          <p:nvPr/>
        </p:nvSpPr>
        <p:spPr>
          <a:xfrm xmlns:a="http://schemas.openxmlformats.org/drawingml/2006/main">
            <a:off x="12090304" y="3498396"/>
            <a:ext cx="5168996" cy="4823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006000"/>
                </a:solidFill>
                <a:latin typeface="Garet Bold"/>
                <a:ea typeface="Garet Bold"/>
                <a:cs typeface="Garet Bold"/>
              </a:rPr>
              <a:t>LLM</a:t>
            </a:r>
          </a:p>
        </p:txBody>
      </p:sp>
      <p:sp>
        <p:nvSpPr>
          <p:cNvPr id="8" name="TextBox 8">
            <a:extLst xmlns:a="http://schemas.openxmlformats.org/drawingml/2006/main">
              <a:ext uri="{FF2B5EF4-FFF2-40B4-BE49-F238E27FC236}">
                <a16:creationId xmlns:a16="http://schemas.microsoft.com/office/drawing/2014/main" id="{86DCCC72-E2A8-4DD1-8859-6989F73CEC89}"/>
              </a:ext>
            </a:extLst>
          </p:cNvPr>
          <p:cNvSpPr>
            <a:spLocks xmlns:a="http://schemas.openxmlformats.org/drawingml/2006/main" noGrp="1"/>
          </p:cNvSpPr>
          <p:nvPr/>
        </p:nvSpPr>
        <p:spPr>
          <a:xfrm xmlns:a="http://schemas.openxmlformats.org/drawingml/2006/main">
            <a:off x="12090304" y="4209342"/>
            <a:ext cx="5168996" cy="36648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gradFill>
                  <a:gsLst>
                    <a:gs pos="0">
                      <a:srgbClr val="000000">
                        <a:alpha val="100000"/>
                      </a:srgbClr>
                    </a:gs>
                    <a:gs pos="100000">
                      <a:srgbClr val="011000">
                        <a:alpha val="100000"/>
                      </a:srgbClr>
                    </a:gs>
                  </a:gsLst>
                  <a:path path="circle">
                    <a:fillToRect l="0" t="0" r="100000" b="100000"/>
                  </a:path>
                  <a:tileRect l="-100000" t="-100000"/>
                </a:gradFill>
                <a:latin typeface="Garet"/>
                <a:ea typeface="Garet"/>
                <a:cs typeface="Garet"/>
              </a:rPr>
              <a:t>Optional comparison path for field-level experiments. It is not required to run the dashboard or reproduce the final demo.</a:t>
            </a:r>
          </a:p>
        </p:txBody>
      </p:sp>
    </p:spTree>
    <p:extLst>
      <p:ext uri="{BB962C8B-B14F-4D97-AF65-F5344CB8AC3E}">
        <p14:creationId xmlns:p14="http://schemas.microsoft.com/office/powerpoint/2010/main" val="195228052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BDC02DEB-150E-44F0-AE94-7B84B0C8C289}"/>
              </a:ext>
            </a:extLst>
          </p:cNvPr>
          <p:cNvSpPr>
            <a:spLocks xmlns:a="http://schemas.openxmlformats.org/drawingml/2006/main" noGrp="1"/>
          </p:cNvSpPr>
          <p:nvPr/>
        </p:nvSpPr>
        <p:spPr>
          <a:xfrm xmlns:a="http://schemas.openxmlformats.org/drawingml/2006/main">
            <a:off x="1028700" y="2508069"/>
            <a:ext cx="8291149" cy="75666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712"/>
              </a:lnSpc>
              <a:buNone/>
            </a:pPr>
            <a:r>
              <a:rPr sz="5600" b="1">
                <a:gradFill>
                  <a:gsLst>
                    <a:gs pos="0">
                      <a:srgbClr val="000000">
                        <a:alpha val="100000"/>
                      </a:srgbClr>
                    </a:gs>
                    <a:gs pos="100000">
                      <a:srgbClr val="011000">
                        <a:alpha val="100000"/>
                      </a:srgbClr>
                    </a:gs>
                  </a:gsLst>
                  <a:path path="circle">
                    <a:fillToRect l="0" t="0" r="100000" b="100000"/>
                  </a:path>
                  <a:tileRect l="-100000" t="-100000"/>
                </a:gradFill>
                <a:latin typeface="Garet Bold"/>
                <a:ea typeface="Garet Bold"/>
                <a:cs typeface="Garet Bold"/>
              </a:rPr>
              <a:t>OUTCOMES</a:t>
            </a:r>
          </a:p>
        </p:txBody>
      </p:sp>
      <p:sp>
        <p:nvSpPr>
          <p:cNvPr id="3" name="TextBox 3">
            <a:extLst xmlns:a="http://schemas.openxmlformats.org/drawingml/2006/main">
              <a:ext uri="{FF2B5EF4-FFF2-40B4-BE49-F238E27FC236}">
                <a16:creationId xmlns:a16="http://schemas.microsoft.com/office/drawing/2014/main" id="{1EBC941A-8834-4F38-8341-E9A1AB1FE71E}"/>
              </a:ext>
            </a:extLst>
          </p:cNvPr>
          <p:cNvSpPr>
            <a:spLocks xmlns:a="http://schemas.openxmlformats.org/drawingml/2006/main" noGrp="1"/>
          </p:cNvSpPr>
          <p:nvPr/>
        </p:nvSpPr>
        <p:spPr>
          <a:xfrm xmlns:a="http://schemas.openxmlformats.org/drawingml/2006/main">
            <a:off x="1028700" y="3498396"/>
            <a:ext cx="5168996" cy="4823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006000"/>
                </a:solidFill>
                <a:latin typeface="Garet Bold"/>
                <a:ea typeface="Garet Bold"/>
                <a:cs typeface="Garet Bold"/>
              </a:rPr>
              <a:t>APPROVED · 3</a:t>
            </a:r>
          </a:p>
        </p:txBody>
      </p:sp>
      <p:sp>
        <p:nvSpPr>
          <p:cNvPr id="4" name="TextBox 4">
            <a:extLst xmlns:a="http://schemas.openxmlformats.org/drawingml/2006/main">
              <a:ext uri="{FF2B5EF4-FFF2-40B4-BE49-F238E27FC236}">
                <a16:creationId xmlns:a16="http://schemas.microsoft.com/office/drawing/2014/main" id="{FD277E26-D71E-4011-85A2-35923E3355E7}"/>
              </a:ext>
            </a:extLst>
          </p:cNvPr>
          <p:cNvSpPr>
            <a:spLocks xmlns:a="http://schemas.openxmlformats.org/drawingml/2006/main" noGrp="1"/>
          </p:cNvSpPr>
          <p:nvPr/>
        </p:nvSpPr>
        <p:spPr>
          <a:xfrm xmlns:a="http://schemas.openxmlformats.org/drawingml/2006/main">
            <a:off x="1028700" y="4209342"/>
            <a:ext cx="5168996" cy="36648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gradFill>
                  <a:gsLst>
                    <a:gs pos="0">
                      <a:srgbClr val="000000">
                        <a:alpha val="100000"/>
                      </a:srgbClr>
                    </a:gs>
                    <a:gs pos="100000">
                      <a:srgbClr val="011000">
                        <a:alpha val="100000"/>
                      </a:srgbClr>
                    </a:gs>
                  </a:gsLst>
                  <a:path path="circle">
                    <a:fillToRect l="0" t="0" r="100000" b="100000"/>
                  </a:path>
                  <a:tileRect l="-100000" t="-100000"/>
                </a:gradFill>
                <a:latin typeface="Garet"/>
                <a:ea typeface="Garet"/>
                <a:cs typeface="Garet"/>
              </a:rPr>
              <a:t>Distribution, Northstar capital statement, and Blue Horizon newsletter. These records create the processed May overlay.</a:t>
            </a:r>
          </a:p>
        </p:txBody>
      </p:sp>
      <p:sp>
        <p:nvSpPr>
          <p:cNvPr id="5" name="TextBox 5">
            <a:extLst xmlns:a="http://schemas.openxmlformats.org/drawingml/2006/main">
              <a:ext uri="{FF2B5EF4-FFF2-40B4-BE49-F238E27FC236}">
                <a16:creationId xmlns:a16="http://schemas.microsoft.com/office/drawing/2014/main" id="{E2FCE557-FC36-4C5C-8BC2-E936C0180BC7}"/>
              </a:ext>
            </a:extLst>
          </p:cNvPr>
          <p:cNvSpPr>
            <a:spLocks xmlns:a="http://schemas.openxmlformats.org/drawingml/2006/main" noGrp="1"/>
          </p:cNvSpPr>
          <p:nvPr/>
        </p:nvSpPr>
        <p:spPr>
          <a:xfrm xmlns:a="http://schemas.openxmlformats.org/drawingml/2006/main">
            <a:off x="6559502" y="3498396"/>
            <a:ext cx="5168996" cy="4823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006000"/>
                </a:solidFill>
                <a:latin typeface="Garet Bold"/>
                <a:ea typeface="Garet Bold"/>
                <a:cs typeface="Garet Bold"/>
              </a:rPr>
              <a:t>NEEDS REVIEW · 2</a:t>
            </a:r>
          </a:p>
        </p:txBody>
      </p:sp>
      <p:sp>
        <p:nvSpPr>
          <p:cNvPr id="6" name="TextBox 6">
            <a:extLst xmlns:a="http://schemas.openxmlformats.org/drawingml/2006/main">
              <a:ext uri="{FF2B5EF4-FFF2-40B4-BE49-F238E27FC236}">
                <a16:creationId xmlns:a16="http://schemas.microsoft.com/office/drawing/2014/main" id="{45DAA96D-6E7E-46A7-9F28-1889057F4A8B}"/>
              </a:ext>
            </a:extLst>
          </p:cNvPr>
          <p:cNvSpPr>
            <a:spLocks xmlns:a="http://schemas.openxmlformats.org/drawingml/2006/main" noGrp="1"/>
          </p:cNvSpPr>
          <p:nvPr/>
        </p:nvSpPr>
        <p:spPr>
          <a:xfrm xmlns:a="http://schemas.openxmlformats.org/drawingml/2006/main">
            <a:off x="6559502" y="4209342"/>
            <a:ext cx="5168996" cy="36648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gradFill>
                  <a:gsLst>
                    <a:gs pos="0">
                      <a:srgbClr val="000000">
                        <a:alpha val="100000"/>
                      </a:srgbClr>
                    </a:gs>
                    <a:gs pos="100000">
                      <a:srgbClr val="011000">
                        <a:alpha val="100000"/>
                      </a:srgbClr>
                    </a:gs>
                  </a:gsLst>
                  <a:path path="circle">
                    <a:fillToRect l="0" t="0" r="100000" b="100000"/>
                  </a:path>
                  <a:tileRect l="-100000" t="-100000"/>
                </a:gradFill>
                <a:latin typeface="Garet"/>
                <a:ea typeface="Garet"/>
                <a:cs typeface="Garet"/>
              </a:rPr>
              <a:t>Both capital calls remain blocked because commitment context or normalization requires analyst attention.</a:t>
            </a:r>
          </a:p>
        </p:txBody>
      </p:sp>
      <p:sp>
        <p:nvSpPr>
          <p:cNvPr id="7" name="TextBox 7">
            <a:extLst xmlns:a="http://schemas.openxmlformats.org/drawingml/2006/main">
              <a:ext uri="{FF2B5EF4-FFF2-40B4-BE49-F238E27FC236}">
                <a16:creationId xmlns:a16="http://schemas.microsoft.com/office/drawing/2014/main" id="{C8C1EA70-F1D0-410F-AAC7-6E113F84F149}"/>
              </a:ext>
            </a:extLst>
          </p:cNvPr>
          <p:cNvSpPr>
            <a:spLocks xmlns:a="http://schemas.openxmlformats.org/drawingml/2006/main" noGrp="1"/>
          </p:cNvSpPr>
          <p:nvPr/>
        </p:nvSpPr>
        <p:spPr>
          <a:xfrm xmlns:a="http://schemas.openxmlformats.org/drawingml/2006/main">
            <a:off x="12090304" y="3498396"/>
            <a:ext cx="5168996" cy="4823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006000"/>
                </a:solidFill>
                <a:latin typeface="Garet Bold"/>
                <a:ea typeface="Garet Bold"/>
                <a:cs typeface="Garet Bold"/>
              </a:rPr>
              <a:t>REJECTED · 1</a:t>
            </a:r>
          </a:p>
        </p:txBody>
      </p:sp>
      <p:sp>
        <p:nvSpPr>
          <p:cNvPr id="8" name="TextBox 8">
            <a:extLst xmlns:a="http://schemas.openxmlformats.org/drawingml/2006/main">
              <a:ext uri="{FF2B5EF4-FFF2-40B4-BE49-F238E27FC236}">
                <a16:creationId xmlns:a16="http://schemas.microsoft.com/office/drawing/2014/main" id="{86DCCC72-E2A8-4DD1-8859-6989F73CEC89}"/>
              </a:ext>
            </a:extLst>
          </p:cNvPr>
          <p:cNvSpPr>
            <a:spLocks xmlns:a="http://schemas.openxmlformats.org/drawingml/2006/main" noGrp="1"/>
          </p:cNvSpPr>
          <p:nvPr/>
        </p:nvSpPr>
        <p:spPr>
          <a:xfrm xmlns:a="http://schemas.openxmlformats.org/drawingml/2006/main">
            <a:off x="12090304" y="4209342"/>
            <a:ext cx="5168996" cy="36648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gradFill>
                  <a:gsLst>
                    <a:gs pos="0">
                      <a:srgbClr val="000000">
                        <a:alpha val="100000"/>
                      </a:srgbClr>
                    </a:gs>
                    <a:gs pos="100000">
                      <a:srgbClr val="011000">
                        <a:alpha val="100000"/>
                      </a:srgbClr>
                    </a:gs>
                  </a:gsLst>
                  <a:path path="circle">
                    <a:fillToRect l="0" t="0" r="100000" b="100000"/>
                  </a:path>
                  <a:tileRect l="-100000" t="-100000"/>
                </a:gradFill>
                <a:latin typeface="Garet"/>
                <a:ea typeface="Garet"/>
                <a:cs typeface="Garet"/>
              </a:rPr>
              <a:t>The LionRock capital statement fails consistency checks and cannot update portfolio state.</a:t>
            </a:r>
          </a:p>
        </p:txBody>
      </p:sp>
    </p:spTree>
    <p:extLst>
      <p:ext uri="{BB962C8B-B14F-4D97-AF65-F5344CB8AC3E}">
        <p14:creationId xmlns:p14="http://schemas.microsoft.com/office/powerpoint/2010/main" val="195228052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79BEFD1-E375-46E9-B2FC-AFDF778A67A7}"/>
              </a:ext>
            </a:extLst>
          </p:cNvPr>
          <p:cNvSpPr>
            <a:spLocks xmlns:a="http://schemas.openxmlformats.org/drawingml/2006/main" noGrp="1"/>
          </p:cNvSpPr>
          <p:nvPr/>
        </p:nvSpPr>
        <p:spPr>
          <a:xfrm xmlns:a="http://schemas.openxmlformats.org/drawingml/2006/main">
            <a:off x="12120064" y="1055514"/>
            <a:ext cx="7516734" cy="8202786"/>
          </a:xfrm>
          <a:custGeom xmlns:a="http://schemas.openxmlformats.org/drawingml/2006/main">
            <a:rect l="l" t="t" r="r" b="b"/>
            <a:pathLst>
              <a:path w="7516734" h="8202786">
                <a:moveTo>
                  <a:pt x="0" y="0"/>
                </a:moveTo>
                <a:lnTo>
                  <a:pt x="7516735" y="0"/>
                </a:lnTo>
                <a:lnTo>
                  <a:pt x="7516735" y="8202786"/>
                </a:lnTo>
                <a:lnTo>
                  <a:pt x="0" y="8202786"/>
                </a:lnTo>
                <a:lnTo>
                  <a:pt x="0" y="0"/>
                </a:lnTo>
                <a:close/>
              </a:path>
            </a:pathLst>
          </a:custGeom>
          <a:blipFill xmlns:a="http://schemas.openxmlformats.org/drawingml/2006/main">
            <a:blip xmlns:r="http://schemas.openxmlformats.org/officeDocument/2006/relationships" r:embed="R5e92a18a38b0476f">
              <a:alphaModFix amt="42000"/>
              <a:extLst>
                <a:ext uri="{96DAC541-7B7A-43D3-8B79-37D633B846F1}">
                  <asvg:svgBlip xmlns:asvg="http://schemas.microsoft.com/office/drawing/2016/SVG/main" r:embed="R1f7d504aacee463d"/>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 name="TextBox 3">
            <a:extLst xmlns:a="http://schemas.openxmlformats.org/drawingml/2006/main">
              <a:ext uri="{FF2B5EF4-FFF2-40B4-BE49-F238E27FC236}">
                <a16:creationId xmlns:a16="http://schemas.microsoft.com/office/drawing/2014/main" id="{B35B2E30-B849-4B0C-896A-BEBDA665F269}"/>
              </a:ext>
            </a:extLst>
          </p:cNvPr>
          <p:cNvSpPr>
            <a:spLocks xmlns:a="http://schemas.openxmlformats.org/drawingml/2006/main" noGrp="1"/>
          </p:cNvSpPr>
          <p:nvPr/>
        </p:nvSpPr>
        <p:spPr>
          <a:xfrm xmlns:a="http://schemas.openxmlformats.org/drawingml/2006/main">
            <a:off x="1028700" y="2877312"/>
            <a:ext cx="9983955" cy="75666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712"/>
              </a:lnSpc>
              <a:buNone/>
            </a:pPr>
            <a:r>
              <a:rPr sz="5600" b="1">
                <a:gradFill>
                  <a:gsLst>
                    <a:gs pos="0">
                      <a:srgbClr val="000000">
                        <a:alpha val="100000"/>
                      </a:srgbClr>
                    </a:gs>
                    <a:gs pos="100000">
                      <a:srgbClr val="011000">
                        <a:alpha val="100000"/>
                      </a:srgbClr>
                    </a:gs>
                  </a:gsLst>
                  <a:path path="circle">
                    <a:fillToRect l="0" t="0" r="100000" b="100000"/>
                  </a:path>
                  <a:tileRect l="-100000" t="-100000"/>
                </a:gradFill>
                <a:latin typeface="Garet Bold"/>
                <a:ea typeface="Garet Bold"/>
                <a:cs typeface="Garet Bold"/>
              </a:rPr>
              <a:t>HUMAN REVIEW</a:t>
            </a:r>
          </a:p>
        </p:txBody>
      </p:sp>
      <p:sp>
        <p:nvSpPr>
          <p:cNvPr id="4" name="TextBox 4">
            <a:extLst xmlns:a="http://schemas.openxmlformats.org/drawingml/2006/main">
              <a:ext uri="{FF2B5EF4-FFF2-40B4-BE49-F238E27FC236}">
                <a16:creationId xmlns:a16="http://schemas.microsoft.com/office/drawing/2014/main" id="{031E8EA3-747D-4341-848C-1CBC2A4B53B1}"/>
              </a:ext>
            </a:extLst>
          </p:cNvPr>
          <p:cNvSpPr>
            <a:spLocks xmlns:a="http://schemas.openxmlformats.org/drawingml/2006/main" noGrp="1"/>
          </p:cNvSpPr>
          <p:nvPr/>
        </p:nvSpPr>
        <p:spPr>
          <a:xfrm xmlns:a="http://schemas.openxmlformats.org/drawingml/2006/main">
            <a:off x="1028700" y="3881628"/>
            <a:ext cx="9983955" cy="9395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006000"/>
                </a:solidFill>
                <a:latin typeface="Garet Bold"/>
                <a:ea typeface="Garet Bold"/>
                <a:cs typeface="Garet Bold"/>
              </a:rPr>
              <a:t>EXTRACTION PREPARES THE DECISION.</a:t>
            </a:r>
          </a:p>
          <a:p xmlns:a="http://schemas.openxmlformats.org/drawingml/2006/main">
            <a:pPr algn="l">
              <a:lnSpc>
                <a:spcPts val="3672"/>
              </a:lnSpc>
              <a:buNone/>
            </a:pPr>
            <a:r>
              <a:rPr sz="3600" b="1">
                <a:solidFill>
                  <a:srgbClr val="006000"/>
                </a:solidFill>
                <a:latin typeface="Garet Bold"/>
                <a:ea typeface="Garet Bold"/>
                <a:cs typeface="Garet Bold"/>
              </a:rPr>
              <a:t>PEOPLE CONTROL THE STATE.</a:t>
            </a:r>
          </a:p>
        </p:txBody>
      </p:sp>
      <p:sp>
        <p:nvSpPr>
          <p:cNvPr id="5" name="TextBox 5">
            <a:extLst xmlns:a="http://schemas.openxmlformats.org/drawingml/2006/main">
              <a:ext uri="{FF2B5EF4-FFF2-40B4-BE49-F238E27FC236}">
                <a16:creationId xmlns:a16="http://schemas.microsoft.com/office/drawing/2014/main" id="{846C24BE-5507-4CD7-A7F8-18FD228AE412}"/>
              </a:ext>
            </a:extLst>
          </p:cNvPr>
          <p:cNvSpPr>
            <a:spLocks xmlns:a="http://schemas.openxmlformats.org/drawingml/2006/main" noGrp="1"/>
          </p:cNvSpPr>
          <p:nvPr/>
        </p:nvSpPr>
        <p:spPr>
          <a:xfrm xmlns:a="http://schemas.openxmlformats.org/drawingml/2006/main">
            <a:off x="1028700" y="5059299"/>
            <a:ext cx="9983955" cy="24456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gradFill>
                  <a:gsLst>
                    <a:gs pos="0">
                      <a:srgbClr val="000000">
                        <a:alpha val="100000"/>
                      </a:srgbClr>
                    </a:gs>
                    <a:gs pos="100000">
                      <a:srgbClr val="011000">
                        <a:alpha val="100000"/>
                      </a:srgbClr>
                    </a:gs>
                  </a:gsLst>
                  <a:path path="circle">
                    <a:fillToRect l="0" t="0" r="100000" b="100000"/>
                  </a:path>
                  <a:tileRect l="-100000" t="-100000"/>
                </a:gradFill>
                <a:latin typeface="Garet"/>
                <a:ea typeface="Garet"/>
                <a:cs typeface="Garet"/>
              </a:rPr>
              <a:t>Nine rule families test fund match, completeness, urgency, cash sufficiency, commitment consistency, NAV roll-forward, component sums, fuzzy naming, and confidence. Document status rolls up from these results. Only effective “approved” records can reach the portfolio update layer; all others remain visible and blocked.</a:t>
            </a:r>
          </a:p>
        </p:txBody>
      </p:sp>
    </p:spTree>
    <p:extLst>
      <p:ext uri="{BB962C8B-B14F-4D97-AF65-F5344CB8AC3E}">
        <p14:creationId xmlns:p14="http://schemas.microsoft.com/office/powerpoint/2010/main" val="32565205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EEF8D6C4-662F-4685-BF98-88D8C67863D8}"/>
              </a:ext>
            </a:extLst>
          </p:cNvPr>
          <p:cNvSpPr>
            <a:spLocks xmlns:a="http://schemas.openxmlformats.org/drawingml/2006/main" noGrp="1"/>
          </p:cNvSpPr>
          <p:nvPr/>
        </p:nvSpPr>
        <p:spPr>
          <a:xfrm xmlns:a="http://schemas.openxmlformats.org/drawingml/2006/main">
            <a:off x="1028700" y="5909799"/>
            <a:ext cx="16230600" cy="75666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712"/>
              </a:lnSpc>
              <a:buNone/>
            </a:pPr>
            <a:r>
              <a:rPr sz="5600" b="1">
                <a:gradFill>
                  <a:gsLst>
                    <a:gs pos="0">
                      <a:srgbClr val="000000">
                        <a:alpha val="100000"/>
                      </a:srgbClr>
                    </a:gs>
                    <a:gs pos="100000">
                      <a:srgbClr val="011000">
                        <a:alpha val="100000"/>
                      </a:srgbClr>
                    </a:gs>
                  </a:gsLst>
                  <a:path path="circle">
                    <a:fillToRect l="0" t="0" r="100000" b="100000"/>
                  </a:path>
                  <a:tileRect l="-100000" t="-100000"/>
                </a:gradFill>
                <a:latin typeface="Garet Bold"/>
                <a:ea typeface="Garet Bold"/>
                <a:cs typeface="Garet Bold"/>
              </a:rPr>
              <a:t>DASHBOARD OVERVIEW</a:t>
            </a:r>
          </a:p>
        </p:txBody>
      </p:sp>
      <p:sp>
        <p:nvSpPr>
          <p:cNvPr id="3" name="TextBox 3">
            <a:extLst xmlns:a="http://schemas.openxmlformats.org/drawingml/2006/main">
              <a:ext uri="{FF2B5EF4-FFF2-40B4-BE49-F238E27FC236}">
                <a16:creationId xmlns:a16="http://schemas.microsoft.com/office/drawing/2014/main" id="{44F52158-3CC1-47AE-92E5-27BAFB68524C}"/>
              </a:ext>
            </a:extLst>
          </p:cNvPr>
          <p:cNvSpPr>
            <a:spLocks xmlns:a="http://schemas.openxmlformats.org/drawingml/2006/main" noGrp="1"/>
          </p:cNvSpPr>
          <p:nvPr/>
        </p:nvSpPr>
        <p:spPr>
          <a:xfrm xmlns:a="http://schemas.openxmlformats.org/drawingml/2006/main">
            <a:off x="1028700" y="6961740"/>
            <a:ext cx="16230600" cy="4823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006000"/>
                </a:solidFill>
                <a:latin typeface="Garet Bold"/>
                <a:ea typeface="Garet Bold"/>
                <a:cs typeface="Garet Bold"/>
              </a:rPr>
              <a:t>ONE PAGE CONNECTS PORTFOLIO STATE AND WORKFLOW STATUS.</a:t>
            </a:r>
          </a:p>
        </p:txBody>
      </p:sp>
      <p:sp>
        <p:nvSpPr>
          <p:cNvPr id="4" name="TextBox 4">
            <a:extLst xmlns:a="http://schemas.openxmlformats.org/drawingml/2006/main">
              <a:ext uri="{FF2B5EF4-FFF2-40B4-BE49-F238E27FC236}">
                <a16:creationId xmlns:a16="http://schemas.microsoft.com/office/drawing/2014/main" id="{4DA3CE8E-8B4F-47A3-984E-524D0C41CA4F}"/>
              </a:ext>
            </a:extLst>
          </p:cNvPr>
          <p:cNvSpPr>
            <a:spLocks xmlns:a="http://schemas.openxmlformats.org/drawingml/2006/main" noGrp="1"/>
          </p:cNvSpPr>
          <p:nvPr/>
        </p:nvSpPr>
        <p:spPr>
          <a:xfrm xmlns:a="http://schemas.openxmlformats.org/drawingml/2006/main">
            <a:off x="1028700" y="7727061"/>
            <a:ext cx="16230600" cy="15312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gradFill>
                  <a:gsLst>
                    <a:gs pos="0">
                      <a:srgbClr val="000000">
                        <a:alpha val="100000"/>
                      </a:srgbClr>
                    </a:gs>
                    <a:gs pos="100000">
                      <a:srgbClr val="011000">
                        <a:alpha val="100000"/>
                      </a:srgbClr>
                    </a:gs>
                  </a:gsLst>
                  <a:path path="circle">
                    <a:fillToRect l="0" t="0" r="100000" b="100000"/>
                  </a:path>
                  <a:tileRect l="-100000" t="-100000"/>
                </a:gradFill>
                <a:latin typeface="Garet"/>
                <a:ea typeface="Garet"/>
                <a:cs typeface="Garet"/>
              </a:rPr>
              <a:t>The Overview distinguishes the official baseline, approved overlay, external-market boundary, staged uploads, and pending documents. It combines allocation, performance, liquidity, commitments, and a compact workflow snapshot without hiding the status behind the numbers.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a1113ac700543f2"/>
          <a:srcRect xmlns:a="http://schemas.openxmlformats.org/drawingml/2006/main" l="0" t="26631" r="0" b="26631"/>
          <a:stretch xmlns:a="http://schemas.openxmlformats.org/drawingml/2006/main">
            <a:fillRect l="0" t="0" r="0" b="0"/>
          </a:stretch>
        </p:blipFill>
        <p:spPr>
          <a:xfrm xmlns:a="http://schemas.openxmlformats.org/drawingml/2006/main">
            <a:off x="1028700" y="1028700"/>
            <a:ext cx="16230600" cy="4267032"/>
          </a:xfrm>
          <a:prstGeom xmlns:a="http://schemas.openxmlformats.org/drawingml/2006/main" prst="rect">
            <a:avLst/>
          </a:prstGeom>
        </p:spPr>
      </p:pic>
    </p:spTree>
    <p:extLst>
      <p:ext uri="{BB962C8B-B14F-4D97-AF65-F5344CB8AC3E}">
        <p14:creationId xmlns:p14="http://schemas.microsoft.com/office/powerpoint/2010/main" val="240630679"/>
      </p:ext>
    </p:extLst>
  </p:cSld>
</p:sld>
</file>

<file path=ppt/slides/slide12.xml><?xml version="1.0" encoding="utf-8"?>
<p:sld xmlns:p="http://schemas.openxmlformats.org/presentationml/2006/main">
  <p:cSld>
    <p:bg>
      <p:bgPr>
        <a:gradFill xmlns:a="http://schemas.openxmlformats.org/drawingml/2006/main" rotWithShape="1">
          <a:gsLst>
            <a:gs pos="0">
              <a:srgbClr val="000000">
                <a:alpha val="100000"/>
              </a:srgbClr>
            </a:gs>
            <a:gs pos="100000">
              <a:srgbClr val="011000">
                <a:alpha val="100000"/>
              </a:srgbClr>
            </a:gs>
          </a:gsLst>
          <a:path path="circle">
            <a:fillToRect l="0" t="0" r="100000" b="100000"/>
          </a:path>
          <a:tileRect l="-100000" t="-100000"/>
        </a:gradFill>
      </p:bgPr>
    </p:bg>
    <p:spTree>
      <p:nvGrpSpPr>
        <p:cNvPr id="1" name=""/>
        <p:cNvGrpSpPr/>
        <p:nvPr/>
      </p:nvGrpSpPr>
      <p:grpSpPr>
        <a:xfrm xmlns:a="http://schemas.openxmlformats.org/drawingml/2006/main"/>
      </p:grpSpPr>
      <p:sp>
        <p:nvSpPr>
          <p:cNvPr id="4" name="TextBox 4">
            <a:extLst xmlns:a="http://schemas.openxmlformats.org/drawingml/2006/main">
              <a:ext uri="{FF2B5EF4-FFF2-40B4-BE49-F238E27FC236}">
                <a16:creationId xmlns:a16="http://schemas.microsoft.com/office/drawing/2014/main" id="{7860D6B6-652B-4CAC-ABA9-5EF32CF66B2A}"/>
              </a:ext>
            </a:extLst>
          </p:cNvPr>
          <p:cNvSpPr>
            <a:spLocks xmlns:a="http://schemas.openxmlformats.org/drawingml/2006/main" noGrp="1"/>
          </p:cNvSpPr>
          <p:nvPr/>
        </p:nvSpPr>
        <p:spPr>
          <a:xfrm xmlns:a="http://schemas.openxmlformats.org/drawingml/2006/main">
            <a:off x="1028700" y="996939"/>
            <a:ext cx="16230600" cy="75666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712"/>
              </a:lnSpc>
              <a:buNone/>
            </a:pPr>
            <a:r>
              <a:rPr sz="5600" b="1">
                <a:solidFill>
                  <a:srgbClr val="FFFFFF"/>
                </a:solidFill>
                <a:latin typeface="Garet Bold"/>
                <a:ea typeface="Garet Bold"/>
                <a:cs typeface="Garet Bold"/>
              </a:rPr>
              <a:t>PUBLIC &amp; LIQUID PORTFOLIO</a:t>
            </a:r>
          </a:p>
        </p:txBody>
      </p:sp>
      <p:sp>
        <p:nvSpPr>
          <p:cNvPr id="5" name="TextBox 5">
            <a:extLst xmlns:a="http://schemas.openxmlformats.org/drawingml/2006/main">
              <a:ext uri="{FF2B5EF4-FFF2-40B4-BE49-F238E27FC236}">
                <a16:creationId xmlns:a16="http://schemas.microsoft.com/office/drawing/2014/main" id="{F8B10DB7-8A3E-40C9-B762-FC40AB48EBB9}"/>
              </a:ext>
            </a:extLst>
          </p:cNvPr>
          <p:cNvSpPr>
            <a:spLocks xmlns:a="http://schemas.openxmlformats.org/drawingml/2006/main" noGrp="1"/>
          </p:cNvSpPr>
          <p:nvPr/>
        </p:nvSpPr>
        <p:spPr>
          <a:xfrm xmlns:a="http://schemas.openxmlformats.org/drawingml/2006/main">
            <a:off x="1028700" y="6425565"/>
            <a:ext cx="7878828" cy="4823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33CC33"/>
                </a:solidFill>
                <a:latin typeface="Garet Bold"/>
                <a:ea typeface="Garet Bold"/>
                <a:cs typeface="Garet Bold"/>
              </a:rPr>
              <a:t>ASSET CLASS</a:t>
            </a:r>
          </a:p>
        </p:txBody>
      </p:sp>
      <p:sp>
        <p:nvSpPr>
          <p:cNvPr id="6" name="TextBox 6">
            <a:extLst xmlns:a="http://schemas.openxmlformats.org/drawingml/2006/main">
              <a:ext uri="{FF2B5EF4-FFF2-40B4-BE49-F238E27FC236}">
                <a16:creationId xmlns:a16="http://schemas.microsoft.com/office/drawing/2014/main" id="{6A077923-62EF-4111-B41B-F6418F33437F}"/>
              </a:ext>
            </a:extLst>
          </p:cNvPr>
          <p:cNvSpPr>
            <a:spLocks xmlns:a="http://schemas.openxmlformats.org/drawingml/2006/main" noGrp="1"/>
          </p:cNvSpPr>
          <p:nvPr/>
        </p:nvSpPr>
        <p:spPr>
          <a:xfrm xmlns:a="http://schemas.openxmlformats.org/drawingml/2006/main">
            <a:off x="1028700" y="7117461"/>
            <a:ext cx="7878828" cy="21408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solidFill>
                  <a:srgbClr val="FFFFFF"/>
                </a:solidFill>
                <a:latin typeface="Garet"/>
                <a:ea typeface="Garet"/>
                <a:cs typeface="Garet"/>
              </a:rPr>
              <a:t>Allocation, monthly change, category evolution, and exposure views explain how capital is distributed and how the structure changes over time.</a:t>
            </a:r>
          </a:p>
        </p:txBody>
      </p:sp>
      <p:sp>
        <p:nvSpPr>
          <p:cNvPr id="9" name="TextBox 9">
            <a:extLst xmlns:a="http://schemas.openxmlformats.org/drawingml/2006/main">
              <a:ext uri="{FF2B5EF4-FFF2-40B4-BE49-F238E27FC236}">
                <a16:creationId xmlns:a16="http://schemas.microsoft.com/office/drawing/2014/main" id="{6826CE42-71D2-479B-9FED-98842193D6E9}"/>
              </a:ext>
            </a:extLst>
          </p:cNvPr>
          <p:cNvSpPr>
            <a:spLocks xmlns:a="http://schemas.openxmlformats.org/drawingml/2006/main" noGrp="1"/>
          </p:cNvSpPr>
          <p:nvPr/>
        </p:nvSpPr>
        <p:spPr>
          <a:xfrm xmlns:a="http://schemas.openxmlformats.org/drawingml/2006/main">
            <a:off x="9380472" y="6425565"/>
            <a:ext cx="7878828" cy="4823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33CC33"/>
                </a:solidFill>
                <a:latin typeface="Garet Bold"/>
                <a:ea typeface="Garet Bold"/>
                <a:cs typeface="Garet Bold"/>
              </a:rPr>
              <a:t>PUBLIC MARKETS</a:t>
            </a:r>
          </a:p>
        </p:txBody>
      </p:sp>
      <p:sp>
        <p:nvSpPr>
          <p:cNvPr id="10" name="TextBox 10">
            <a:extLst xmlns:a="http://schemas.openxmlformats.org/drawingml/2006/main">
              <a:ext uri="{FF2B5EF4-FFF2-40B4-BE49-F238E27FC236}">
                <a16:creationId xmlns:a16="http://schemas.microsoft.com/office/drawing/2014/main" id="{81C36635-93D6-4F49-BDF0-64A0A3318CE1}"/>
              </a:ext>
            </a:extLst>
          </p:cNvPr>
          <p:cNvSpPr>
            <a:spLocks xmlns:a="http://schemas.openxmlformats.org/drawingml/2006/main" noGrp="1"/>
          </p:cNvSpPr>
          <p:nvPr/>
        </p:nvSpPr>
        <p:spPr>
          <a:xfrm xmlns:a="http://schemas.openxmlformats.org/drawingml/2006/main">
            <a:off x="9380472" y="7117461"/>
            <a:ext cx="7878828" cy="21408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solidFill>
                  <a:srgbClr val="FFFFFF"/>
                </a:solidFill>
                <a:latin typeface="Garet"/>
                <a:ea typeface="Garet"/>
                <a:cs typeface="Garet"/>
              </a:rPr>
              <a:t>Holdings, sector, market cap, long/short, and market-linked performance provide observable detail for the liquid sleeve.</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e2ddb762f634b3a"/>
          <a:srcRect xmlns:a="http://schemas.openxmlformats.org/drawingml/2006/main" l="0" t="7491" r="0" b="7491"/>
          <a:stretch xmlns:a="http://schemas.openxmlformats.org/drawingml/2006/main">
            <a:fillRect l="0" t="0" r="0" b="0"/>
          </a:stretch>
        </p:blipFill>
        <p:spPr>
          <a:xfrm xmlns:a="http://schemas.openxmlformats.org/drawingml/2006/main">
            <a:off x="1028700" y="2439434"/>
            <a:ext cx="7878828" cy="3767871"/>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83fd00f34701443e"/>
          <a:srcRect xmlns:a="http://schemas.openxmlformats.org/drawingml/2006/main" l="0" t="7491" r="0" b="7491"/>
          <a:stretch xmlns:a="http://schemas.openxmlformats.org/drawingml/2006/main">
            <a:fillRect l="0" t="0" r="0" b="0"/>
          </a:stretch>
        </p:blipFill>
        <p:spPr>
          <a:xfrm xmlns:a="http://schemas.openxmlformats.org/drawingml/2006/main">
            <a:off x="9380472" y="2439434"/>
            <a:ext cx="7878828" cy="3767871"/>
          </a:xfrm>
          <a:prstGeom xmlns:a="http://schemas.openxmlformats.org/drawingml/2006/main" prst="rect">
            <a:avLst/>
          </a:prstGeom>
        </p:spPr>
      </p:pic>
    </p:spTree>
    <p:extLst>
      <p:ext uri="{BB962C8B-B14F-4D97-AF65-F5344CB8AC3E}">
        <p14:creationId xmlns:p14="http://schemas.microsoft.com/office/powerpoint/2010/main" val="1863643609"/>
      </p:ext>
    </p:extLst>
  </p:cSld>
</p:sld>
</file>

<file path=ppt/slides/slide13.xml><?xml version="1.0" encoding="utf-8"?>
<p:sld xmlns:p="http://schemas.openxmlformats.org/presentationml/2006/main">
  <p:cSld>
    <p:bg>
      <p:bgPr>
        <a:gradFill xmlns:a="http://schemas.openxmlformats.org/drawingml/2006/main" rotWithShape="1">
          <a:gsLst>
            <a:gs pos="0">
              <a:srgbClr val="000000">
                <a:alpha val="100000"/>
              </a:srgbClr>
            </a:gs>
            <a:gs pos="100000">
              <a:srgbClr val="011000">
                <a:alpha val="100000"/>
              </a:srgbClr>
            </a:gs>
          </a:gsLst>
          <a:path path="circle">
            <a:fillToRect l="0" t="0" r="100000" b="100000"/>
          </a:path>
          <a:tileRect l="-100000" t="-100000"/>
        </a:gradFill>
      </p:bgPr>
    </p:bg>
    <p:spTree>
      <p:nvGrpSpPr>
        <p:cNvPr id="1" name=""/>
        <p:cNvGrpSpPr/>
        <p:nvPr/>
      </p:nvGrpSpPr>
      <p:grpSpPr>
        <a:xfrm xmlns:a="http://schemas.openxmlformats.org/drawingml/2006/main"/>
      </p:grpSpPr>
      <p:sp>
        <p:nvSpPr>
          <p:cNvPr id="4" name="TextBox 4">
            <a:extLst xmlns:a="http://schemas.openxmlformats.org/drawingml/2006/main">
              <a:ext uri="{FF2B5EF4-FFF2-40B4-BE49-F238E27FC236}">
                <a16:creationId xmlns:a16="http://schemas.microsoft.com/office/drawing/2014/main" id="{7860D6B6-652B-4CAC-ABA9-5EF32CF66B2A}"/>
              </a:ext>
            </a:extLst>
          </p:cNvPr>
          <p:cNvSpPr>
            <a:spLocks xmlns:a="http://schemas.openxmlformats.org/drawingml/2006/main" noGrp="1"/>
          </p:cNvSpPr>
          <p:nvPr/>
        </p:nvSpPr>
        <p:spPr>
          <a:xfrm xmlns:a="http://schemas.openxmlformats.org/drawingml/2006/main">
            <a:off x="1028700" y="996939"/>
            <a:ext cx="16230600" cy="75666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712"/>
              </a:lnSpc>
              <a:buNone/>
            </a:pPr>
            <a:r>
              <a:rPr sz="5600" b="1">
                <a:solidFill>
                  <a:srgbClr val="FFFFFF"/>
                </a:solidFill>
                <a:latin typeface="Garet Bold"/>
                <a:ea typeface="Garet Bold"/>
                <a:cs typeface="Garet Bold"/>
              </a:rPr>
              <a:t>PRIVATE MARKETS &amp; LIQUIDITY</a:t>
            </a:r>
          </a:p>
        </p:txBody>
      </p:sp>
      <p:sp>
        <p:nvSpPr>
          <p:cNvPr id="5" name="TextBox 5">
            <a:extLst xmlns:a="http://schemas.openxmlformats.org/drawingml/2006/main">
              <a:ext uri="{FF2B5EF4-FFF2-40B4-BE49-F238E27FC236}">
                <a16:creationId xmlns:a16="http://schemas.microsoft.com/office/drawing/2014/main" id="{F8B10DB7-8A3E-40C9-B762-FC40AB48EBB9}"/>
              </a:ext>
            </a:extLst>
          </p:cNvPr>
          <p:cNvSpPr>
            <a:spLocks xmlns:a="http://schemas.openxmlformats.org/drawingml/2006/main" noGrp="1"/>
          </p:cNvSpPr>
          <p:nvPr/>
        </p:nvSpPr>
        <p:spPr>
          <a:xfrm xmlns:a="http://schemas.openxmlformats.org/drawingml/2006/main">
            <a:off x="1028700" y="6425565"/>
            <a:ext cx="7878828" cy="4823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33CC33"/>
                </a:solidFill>
                <a:latin typeface="Garet Bold"/>
                <a:ea typeface="Garet Bold"/>
                <a:cs typeface="Garet Bold"/>
              </a:rPr>
              <a:t>PRIVATE MARKETS</a:t>
            </a:r>
          </a:p>
        </p:txBody>
      </p:sp>
      <p:sp>
        <p:nvSpPr>
          <p:cNvPr id="6" name="TextBox 6">
            <a:extLst xmlns:a="http://schemas.openxmlformats.org/drawingml/2006/main">
              <a:ext uri="{FF2B5EF4-FFF2-40B4-BE49-F238E27FC236}">
                <a16:creationId xmlns:a16="http://schemas.microsoft.com/office/drawing/2014/main" id="{6A077923-62EF-4111-B41B-F6418F33437F}"/>
              </a:ext>
            </a:extLst>
          </p:cNvPr>
          <p:cNvSpPr>
            <a:spLocks xmlns:a="http://schemas.openxmlformats.org/drawingml/2006/main" noGrp="1"/>
          </p:cNvSpPr>
          <p:nvPr/>
        </p:nvSpPr>
        <p:spPr>
          <a:xfrm xmlns:a="http://schemas.openxmlformats.org/drawingml/2006/main">
            <a:off x="1028700" y="7117461"/>
            <a:ext cx="7878828" cy="21408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solidFill>
                  <a:srgbClr val="FFFFFF"/>
                </a:solidFill>
                <a:latin typeface="Garet"/>
                <a:ea typeface="Garet"/>
                <a:cs typeface="Garet"/>
              </a:rPr>
              <a:t>USD 356.9m NAV, USD 500.0m commitments, USD 365.0m paid-in, USD 135.0m unfunded, 21 funds, and 35-day average statement lag.</a:t>
            </a:r>
          </a:p>
        </p:txBody>
      </p:sp>
      <p:sp>
        <p:nvSpPr>
          <p:cNvPr id="9" name="TextBox 9">
            <a:extLst xmlns:a="http://schemas.openxmlformats.org/drawingml/2006/main">
              <a:ext uri="{FF2B5EF4-FFF2-40B4-BE49-F238E27FC236}">
                <a16:creationId xmlns:a16="http://schemas.microsoft.com/office/drawing/2014/main" id="{6826CE42-71D2-479B-9FED-98842193D6E9}"/>
              </a:ext>
            </a:extLst>
          </p:cNvPr>
          <p:cNvSpPr>
            <a:spLocks xmlns:a="http://schemas.openxmlformats.org/drawingml/2006/main" noGrp="1"/>
          </p:cNvSpPr>
          <p:nvPr/>
        </p:nvSpPr>
        <p:spPr>
          <a:xfrm xmlns:a="http://schemas.openxmlformats.org/drawingml/2006/main">
            <a:off x="9380472" y="6425565"/>
            <a:ext cx="7878828" cy="4823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33CC33"/>
                </a:solidFill>
                <a:latin typeface="Garet Bold"/>
                <a:ea typeface="Garet Bold"/>
                <a:cs typeface="Garet Bold"/>
              </a:rPr>
              <a:t>LIQUIDITY</a:t>
            </a:r>
          </a:p>
        </p:txBody>
      </p:sp>
      <p:sp>
        <p:nvSpPr>
          <p:cNvPr id="10" name="TextBox 10">
            <a:extLst xmlns:a="http://schemas.openxmlformats.org/drawingml/2006/main">
              <a:ext uri="{FF2B5EF4-FFF2-40B4-BE49-F238E27FC236}">
                <a16:creationId xmlns:a16="http://schemas.microsoft.com/office/drawing/2014/main" id="{81C36635-93D6-4F49-BDF0-64A0A3318CE1}"/>
              </a:ext>
            </a:extLst>
          </p:cNvPr>
          <p:cNvSpPr>
            <a:spLocks xmlns:a="http://schemas.openxmlformats.org/drawingml/2006/main" noGrp="1"/>
          </p:cNvSpPr>
          <p:nvPr/>
        </p:nvSpPr>
        <p:spPr>
          <a:xfrm xmlns:a="http://schemas.openxmlformats.org/drawingml/2006/main">
            <a:off x="9380472" y="7117461"/>
            <a:ext cx="7878828" cy="21408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solidFill>
                  <a:srgbClr val="FFFFFF"/>
                </a:solidFill>
                <a:latin typeface="Garet"/>
                <a:ea typeface="Garet"/>
                <a:cs typeface="Garet"/>
              </a:rPr>
              <a:t>USD 22.5m booked cash and USD 12.0m operating cash remain separate from USD 3.1m approved projected distributions and blocked calls.</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0a092ba6ef84e74"/>
          <a:srcRect xmlns:a="http://schemas.openxmlformats.org/drawingml/2006/main" l="0" t="7491" r="0" b="7491"/>
          <a:stretch xmlns:a="http://schemas.openxmlformats.org/drawingml/2006/main">
            <a:fillRect l="0" t="0" r="0" b="0"/>
          </a:stretch>
        </p:blipFill>
        <p:spPr>
          <a:xfrm xmlns:a="http://schemas.openxmlformats.org/drawingml/2006/main">
            <a:off x="1028700" y="2439434"/>
            <a:ext cx="7878828" cy="3767871"/>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889459c3fee54ed7"/>
          <a:srcRect xmlns:a="http://schemas.openxmlformats.org/drawingml/2006/main" l="0" t="7491" r="0" b="7491"/>
          <a:stretch xmlns:a="http://schemas.openxmlformats.org/drawingml/2006/main">
            <a:fillRect l="0" t="0" r="0" b="0"/>
          </a:stretch>
        </p:blipFill>
        <p:spPr>
          <a:xfrm xmlns:a="http://schemas.openxmlformats.org/drawingml/2006/main">
            <a:off x="9380472" y="2439434"/>
            <a:ext cx="7878828" cy="3767871"/>
          </a:xfrm>
          <a:prstGeom xmlns:a="http://schemas.openxmlformats.org/drawingml/2006/main" prst="rect">
            <a:avLst/>
          </a:prstGeom>
        </p:spPr>
      </p:pic>
    </p:spTree>
    <p:extLst>
      <p:ext uri="{BB962C8B-B14F-4D97-AF65-F5344CB8AC3E}">
        <p14:creationId xmlns:p14="http://schemas.microsoft.com/office/powerpoint/2010/main" val="186364360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EEF8D6C4-662F-4685-BF98-88D8C67863D8}"/>
              </a:ext>
            </a:extLst>
          </p:cNvPr>
          <p:cNvSpPr>
            <a:spLocks xmlns:a="http://schemas.openxmlformats.org/drawingml/2006/main" noGrp="1"/>
          </p:cNvSpPr>
          <p:nvPr/>
        </p:nvSpPr>
        <p:spPr>
          <a:xfrm xmlns:a="http://schemas.openxmlformats.org/drawingml/2006/main">
            <a:off x="1028700" y="5909799"/>
            <a:ext cx="16230600" cy="75666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712"/>
              </a:lnSpc>
              <a:buNone/>
            </a:pPr>
            <a:r>
              <a:rPr sz="5600" b="1">
                <a:gradFill>
                  <a:gsLst>
                    <a:gs pos="0">
                      <a:srgbClr val="000000">
                        <a:alpha val="100000"/>
                      </a:srgbClr>
                    </a:gs>
                    <a:gs pos="100000">
                      <a:srgbClr val="011000">
                        <a:alpha val="100000"/>
                      </a:srgbClr>
                    </a:gs>
                  </a:gsLst>
                  <a:path path="circle">
                    <a:fillToRect l="0" t="0" r="100000" b="100000"/>
                  </a:path>
                  <a:tileRect l="-100000" t="-100000"/>
                </a:gradFill>
                <a:latin typeface="Garet Bold"/>
                <a:ea typeface="Garet Bold"/>
                <a:cs typeface="Garet Bold"/>
              </a:rPr>
              <a:t>WORKFLOW &amp; CONTROLS</a:t>
            </a:r>
          </a:p>
        </p:txBody>
      </p:sp>
      <p:sp>
        <p:nvSpPr>
          <p:cNvPr id="3" name="TextBox 3">
            <a:extLst xmlns:a="http://schemas.openxmlformats.org/drawingml/2006/main">
              <a:ext uri="{FF2B5EF4-FFF2-40B4-BE49-F238E27FC236}">
                <a16:creationId xmlns:a16="http://schemas.microsoft.com/office/drawing/2014/main" id="{44F52158-3CC1-47AE-92E5-27BAFB68524C}"/>
              </a:ext>
            </a:extLst>
          </p:cNvPr>
          <p:cNvSpPr>
            <a:spLocks xmlns:a="http://schemas.openxmlformats.org/drawingml/2006/main" noGrp="1"/>
          </p:cNvSpPr>
          <p:nvPr/>
        </p:nvSpPr>
        <p:spPr>
          <a:xfrm xmlns:a="http://schemas.openxmlformats.org/drawingml/2006/main">
            <a:off x="1028700" y="6961740"/>
            <a:ext cx="16230600" cy="4823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006000"/>
                </a:solidFill>
                <a:latin typeface="Garet Bold"/>
                <a:ea typeface="Garet Bold"/>
                <a:cs typeface="Garet Bold"/>
              </a:rPr>
              <a:t>EVERY UPDATE REMAINS EXPLAINABLE.</a:t>
            </a:r>
          </a:p>
        </p:txBody>
      </p:sp>
      <p:sp>
        <p:nvSpPr>
          <p:cNvPr id="4" name="TextBox 4">
            <a:extLst xmlns:a="http://schemas.openxmlformats.org/drawingml/2006/main">
              <a:ext uri="{FF2B5EF4-FFF2-40B4-BE49-F238E27FC236}">
                <a16:creationId xmlns:a16="http://schemas.microsoft.com/office/drawing/2014/main" id="{4DA3CE8E-8B4F-47A3-984E-524D0C41CA4F}"/>
              </a:ext>
            </a:extLst>
          </p:cNvPr>
          <p:cNvSpPr>
            <a:spLocks xmlns:a="http://schemas.openxmlformats.org/drawingml/2006/main" noGrp="1"/>
          </p:cNvSpPr>
          <p:nvPr/>
        </p:nvSpPr>
        <p:spPr>
          <a:xfrm xmlns:a="http://schemas.openxmlformats.org/drawingml/2006/main">
            <a:off x="1028700" y="7727061"/>
            <a:ext cx="16230600" cy="15312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gradFill>
                  <a:gsLst>
                    <a:gs pos="0">
                      <a:srgbClr val="000000">
                        <a:alpha val="100000"/>
                      </a:srgbClr>
                    </a:gs>
                    <a:gs pos="100000">
                      <a:srgbClr val="011000">
                        <a:alpha val="100000"/>
                      </a:srgbClr>
                    </a:gs>
                  </a:gsLst>
                  <a:path path="circle">
                    <a:fillToRect l="0" t="0" r="100000" b="100000"/>
                  </a:path>
                  <a:tileRect l="-100000" t="-100000"/>
                </a:gradFill>
                <a:latin typeface="Garet"/>
                <a:ea typeface="Garet"/>
                <a:cs typeface="Garet"/>
              </a:rPr>
              <a:t>Users can inspect extraction outputs, rule-level validation, document status, review queue items, manual decisions, applied updates, and blocked records. The page turns the workflow into audit evidence rather than a hidden backend process.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f61fb1261484aec"/>
          <a:srcRect xmlns:a="http://schemas.openxmlformats.org/drawingml/2006/main" l="0" t="26631" r="0" b="26631"/>
          <a:stretch xmlns:a="http://schemas.openxmlformats.org/drawingml/2006/main">
            <a:fillRect l="0" t="0" r="0" b="0"/>
          </a:stretch>
        </p:blipFill>
        <p:spPr>
          <a:xfrm xmlns:a="http://schemas.openxmlformats.org/drawingml/2006/main">
            <a:off x="1028700" y="1028700"/>
            <a:ext cx="16230600" cy="4267032"/>
          </a:xfrm>
          <a:prstGeom xmlns:a="http://schemas.openxmlformats.org/drawingml/2006/main" prst="rect">
            <a:avLst/>
          </a:prstGeom>
        </p:spPr>
      </p:pic>
    </p:spTree>
    <p:extLst>
      <p:ext uri="{BB962C8B-B14F-4D97-AF65-F5344CB8AC3E}">
        <p14:creationId xmlns:p14="http://schemas.microsoft.com/office/powerpoint/2010/main" val="24063067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EEF8D6C4-662F-4685-BF98-88D8C67863D8}"/>
              </a:ext>
            </a:extLst>
          </p:cNvPr>
          <p:cNvSpPr>
            <a:spLocks xmlns:a="http://schemas.openxmlformats.org/drawingml/2006/main" noGrp="1"/>
          </p:cNvSpPr>
          <p:nvPr/>
        </p:nvSpPr>
        <p:spPr>
          <a:xfrm xmlns:a="http://schemas.openxmlformats.org/drawingml/2006/main">
            <a:off x="1028700" y="5909799"/>
            <a:ext cx="16230600" cy="75666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712"/>
              </a:lnSpc>
              <a:buNone/>
            </a:pPr>
            <a:r>
              <a:rPr sz="5600" b="1">
                <a:gradFill>
                  <a:gsLst>
                    <a:gs pos="0">
                      <a:srgbClr val="000000">
                        <a:alpha val="100000"/>
                      </a:srgbClr>
                    </a:gs>
                    <a:gs pos="100000">
                      <a:srgbClr val="011000">
                        <a:alpha val="100000"/>
                      </a:srgbClr>
                    </a:gs>
                  </a:gsLst>
                  <a:path path="circle">
                    <a:fillToRect l="0" t="0" r="100000" b="100000"/>
                  </a:path>
                  <a:tileRect l="-100000" t="-100000"/>
                </a:gradFill>
                <a:latin typeface="Garet Bold"/>
                <a:ea typeface="Garet Bold"/>
                <a:cs typeface="Garet Bold"/>
              </a:rPr>
              <a:t>PUBLIC-PROXY RISK</a:t>
            </a:r>
          </a:p>
        </p:txBody>
      </p:sp>
      <p:sp>
        <p:nvSpPr>
          <p:cNvPr id="3" name="TextBox 3">
            <a:extLst xmlns:a="http://schemas.openxmlformats.org/drawingml/2006/main">
              <a:ext uri="{FF2B5EF4-FFF2-40B4-BE49-F238E27FC236}">
                <a16:creationId xmlns:a16="http://schemas.microsoft.com/office/drawing/2014/main" id="{44F52158-3CC1-47AE-92E5-27BAFB68524C}"/>
              </a:ext>
            </a:extLst>
          </p:cNvPr>
          <p:cNvSpPr>
            <a:spLocks xmlns:a="http://schemas.openxmlformats.org/drawingml/2006/main" noGrp="1"/>
          </p:cNvSpPr>
          <p:nvPr/>
        </p:nvSpPr>
        <p:spPr>
          <a:xfrm xmlns:a="http://schemas.openxmlformats.org/drawingml/2006/main">
            <a:off x="1028700" y="6961740"/>
            <a:ext cx="16230600" cy="4823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006000"/>
                </a:solidFill>
                <a:latin typeface="Garet Bold"/>
                <a:ea typeface="Garet Bold"/>
                <a:cs typeface="Garet Bold"/>
              </a:rPr>
              <a:t>REAL MARKET CONTEXT, EXPLICITLY LIMITED.</a:t>
            </a:r>
          </a:p>
        </p:txBody>
      </p:sp>
      <p:sp>
        <p:nvSpPr>
          <p:cNvPr id="4" name="TextBox 4">
            <a:extLst xmlns:a="http://schemas.openxmlformats.org/drawingml/2006/main">
              <a:ext uri="{FF2B5EF4-FFF2-40B4-BE49-F238E27FC236}">
                <a16:creationId xmlns:a16="http://schemas.microsoft.com/office/drawing/2014/main" id="{4DA3CE8E-8B4F-47A3-984E-524D0C41CA4F}"/>
              </a:ext>
            </a:extLst>
          </p:cNvPr>
          <p:cNvSpPr>
            <a:spLocks xmlns:a="http://schemas.openxmlformats.org/drawingml/2006/main" noGrp="1"/>
          </p:cNvSpPr>
          <p:nvPr/>
        </p:nvSpPr>
        <p:spPr>
          <a:xfrm xmlns:a="http://schemas.openxmlformats.org/drawingml/2006/main">
            <a:off x="1028700" y="7727061"/>
            <a:ext cx="16230600" cy="15312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gradFill>
                  <a:gsLst>
                    <a:gs pos="0">
                      <a:srgbClr val="000000">
                        <a:alpha val="100000"/>
                      </a:srgbClr>
                    </a:gs>
                    <a:gs pos="100000">
                      <a:srgbClr val="011000">
                        <a:alpha val="100000"/>
                      </a:srgbClr>
                    </a:gs>
                  </a:gsLst>
                  <a:path path="circle">
                    <a:fillToRect l="0" t="0" r="100000" b="100000"/>
                  </a:path>
                  <a:tileRect l="-100000" t="-100000"/>
                </a:gradFill>
                <a:latin typeface="Garet"/>
                <a:ea typeface="Garet"/>
                <a:cs typeface="Garet"/>
              </a:rPr>
              <a:t>Thirty real proxy tickers support a mapped basket with 11.3% annualized volatility, -21.7% max drawdown, 1.22 Sharpe ratio, 36 mapped holdings, and five stress scenarios. It is a proxy overlay—not a complete family-office risk engine.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b700c2277854bd1"/>
          <a:srcRect xmlns:a="http://schemas.openxmlformats.org/drawingml/2006/main" l="0" t="26631" r="0" b="26631"/>
          <a:stretch xmlns:a="http://schemas.openxmlformats.org/drawingml/2006/main">
            <a:fillRect l="0" t="0" r="0" b="0"/>
          </a:stretch>
        </p:blipFill>
        <p:spPr>
          <a:xfrm xmlns:a="http://schemas.openxmlformats.org/drawingml/2006/main">
            <a:off x="1028700" y="1028700"/>
            <a:ext cx="16230600" cy="4267032"/>
          </a:xfrm>
          <a:prstGeom xmlns:a="http://schemas.openxmlformats.org/drawingml/2006/main" prst="rect">
            <a:avLst/>
          </a:prstGeom>
        </p:spPr>
      </p:pic>
    </p:spTree>
    <p:extLst>
      <p:ext uri="{BB962C8B-B14F-4D97-AF65-F5344CB8AC3E}">
        <p14:creationId xmlns:p14="http://schemas.microsoft.com/office/powerpoint/2010/main" val="24063067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BDC02DEB-150E-44F0-AE94-7B84B0C8C289}"/>
              </a:ext>
            </a:extLst>
          </p:cNvPr>
          <p:cNvSpPr>
            <a:spLocks xmlns:a="http://schemas.openxmlformats.org/drawingml/2006/main" noGrp="1"/>
          </p:cNvSpPr>
          <p:nvPr/>
        </p:nvSpPr>
        <p:spPr>
          <a:xfrm xmlns:a="http://schemas.openxmlformats.org/drawingml/2006/main">
            <a:off x="1028700" y="2508069"/>
            <a:ext cx="8291149" cy="75666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712"/>
              </a:lnSpc>
              <a:buNone/>
            </a:pPr>
            <a:r>
              <a:rPr sz="5600" b="1">
                <a:gradFill>
                  <a:gsLst>
                    <a:gs pos="0">
                      <a:srgbClr val="000000">
                        <a:alpha val="100000"/>
                      </a:srgbClr>
                    </a:gs>
                    <a:gs pos="100000">
                      <a:srgbClr val="011000">
                        <a:alpha val="100000"/>
                      </a:srgbClr>
                    </a:gs>
                  </a:gsLst>
                  <a:path path="circle">
                    <a:fillToRect l="0" t="0" r="100000" b="100000"/>
                  </a:path>
                  <a:tileRect l="-100000" t="-100000"/>
                </a:gradFill>
                <a:latin typeface="Garet Bold"/>
                <a:ea typeface="Garet Bold"/>
                <a:cs typeface="Garet Bold"/>
              </a:rPr>
              <a:t>GOVERNANCE</a:t>
            </a:r>
          </a:p>
        </p:txBody>
      </p:sp>
      <p:sp>
        <p:nvSpPr>
          <p:cNvPr id="3" name="TextBox 3">
            <a:extLst xmlns:a="http://schemas.openxmlformats.org/drawingml/2006/main">
              <a:ext uri="{FF2B5EF4-FFF2-40B4-BE49-F238E27FC236}">
                <a16:creationId xmlns:a16="http://schemas.microsoft.com/office/drawing/2014/main" id="{1EBC941A-8834-4F38-8341-E9A1AB1FE71E}"/>
              </a:ext>
            </a:extLst>
          </p:cNvPr>
          <p:cNvSpPr>
            <a:spLocks xmlns:a="http://schemas.openxmlformats.org/drawingml/2006/main" noGrp="1"/>
          </p:cNvSpPr>
          <p:nvPr/>
        </p:nvSpPr>
        <p:spPr>
          <a:xfrm xmlns:a="http://schemas.openxmlformats.org/drawingml/2006/main">
            <a:off x="1028700" y="3498396"/>
            <a:ext cx="5168996" cy="4823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006000"/>
                </a:solidFill>
                <a:latin typeface="Garet Bold"/>
                <a:ea typeface="Garet Bold"/>
                <a:cs typeface="Garet Bold"/>
              </a:rPr>
              <a:t>DATA</a:t>
            </a:r>
          </a:p>
        </p:txBody>
      </p:sp>
      <p:sp>
        <p:nvSpPr>
          <p:cNvPr id="4" name="TextBox 4">
            <a:extLst xmlns:a="http://schemas.openxmlformats.org/drawingml/2006/main">
              <a:ext uri="{FF2B5EF4-FFF2-40B4-BE49-F238E27FC236}">
                <a16:creationId xmlns:a16="http://schemas.microsoft.com/office/drawing/2014/main" id="{FD277E26-D71E-4011-85A2-35923E3355E7}"/>
              </a:ext>
            </a:extLst>
          </p:cNvPr>
          <p:cNvSpPr>
            <a:spLocks xmlns:a="http://schemas.openxmlformats.org/drawingml/2006/main" noGrp="1"/>
          </p:cNvSpPr>
          <p:nvPr/>
        </p:nvSpPr>
        <p:spPr>
          <a:xfrm xmlns:a="http://schemas.openxmlformats.org/drawingml/2006/main">
            <a:off x="1028700" y="4209342"/>
            <a:ext cx="5168996" cy="36648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gradFill>
                  <a:gsLst>
                    <a:gs pos="0">
                      <a:srgbClr val="000000">
                        <a:alpha val="100000"/>
                      </a:srgbClr>
                    </a:gs>
                    <a:gs pos="100000">
                      <a:srgbClr val="011000">
                        <a:alpha val="100000"/>
                      </a:srgbClr>
                    </a:gs>
                  </a:gsLst>
                  <a:path path="circle">
                    <a:fillToRect l="0" t="0" r="100000" b="100000"/>
                  </a:path>
                  <a:tileRect l="-100000" t="-100000"/>
                </a:gradFill>
                <a:latin typeface="Garet"/>
                <a:ea typeface="Garet"/>
                <a:cs typeface="Garet"/>
              </a:rPr>
              <a:t>Synthetic family-office data only. Source IDs, extraction mode, validation results, and update reasons remain traceable.</a:t>
            </a:r>
          </a:p>
        </p:txBody>
      </p:sp>
      <p:sp>
        <p:nvSpPr>
          <p:cNvPr id="5" name="TextBox 5">
            <a:extLst xmlns:a="http://schemas.openxmlformats.org/drawingml/2006/main">
              <a:ext uri="{FF2B5EF4-FFF2-40B4-BE49-F238E27FC236}">
                <a16:creationId xmlns:a16="http://schemas.microsoft.com/office/drawing/2014/main" id="{E2FCE557-FC36-4C5C-8BC2-E936C0180BC7}"/>
              </a:ext>
            </a:extLst>
          </p:cNvPr>
          <p:cNvSpPr>
            <a:spLocks xmlns:a="http://schemas.openxmlformats.org/drawingml/2006/main" noGrp="1"/>
          </p:cNvSpPr>
          <p:nvPr/>
        </p:nvSpPr>
        <p:spPr>
          <a:xfrm xmlns:a="http://schemas.openxmlformats.org/drawingml/2006/main">
            <a:off x="6559502" y="3498396"/>
            <a:ext cx="5168996" cy="4823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006000"/>
                </a:solidFill>
                <a:latin typeface="Garet Bold"/>
                <a:ea typeface="Garet Bold"/>
                <a:cs typeface="Garet Bold"/>
              </a:rPr>
              <a:t>DECISIONS</a:t>
            </a:r>
          </a:p>
        </p:txBody>
      </p:sp>
      <p:sp>
        <p:nvSpPr>
          <p:cNvPr id="6" name="TextBox 6">
            <a:extLst xmlns:a="http://schemas.openxmlformats.org/drawingml/2006/main">
              <a:ext uri="{FF2B5EF4-FFF2-40B4-BE49-F238E27FC236}">
                <a16:creationId xmlns:a16="http://schemas.microsoft.com/office/drawing/2014/main" id="{45DAA96D-6E7E-46A7-9F28-1889057F4A8B}"/>
              </a:ext>
            </a:extLst>
          </p:cNvPr>
          <p:cNvSpPr>
            <a:spLocks xmlns:a="http://schemas.openxmlformats.org/drawingml/2006/main" noGrp="1"/>
          </p:cNvSpPr>
          <p:nvPr/>
        </p:nvSpPr>
        <p:spPr>
          <a:xfrm xmlns:a="http://schemas.openxmlformats.org/drawingml/2006/main">
            <a:off x="6559502" y="4209342"/>
            <a:ext cx="5168996" cy="36648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gradFill>
                  <a:gsLst>
                    <a:gs pos="0">
                      <a:srgbClr val="000000">
                        <a:alpha val="100000"/>
                      </a:srgbClr>
                    </a:gs>
                    <a:gs pos="100000">
                      <a:srgbClr val="011000">
                        <a:alpha val="100000"/>
                      </a:srgbClr>
                    </a:gs>
                  </a:gsLst>
                  <a:path path="circle">
                    <a:fillToRect l="0" t="0" r="100000" b="100000"/>
                  </a:path>
                  <a:tileRect l="-100000" t="-100000"/>
                </a:gradFill>
                <a:latin typeface="Garet"/>
                <a:ea typeface="Garet"/>
                <a:cs typeface="Garet"/>
              </a:rPr>
              <a:t>Human maker-checker control remains necessary for payment, valuation, reporting, and investment authority.</a:t>
            </a:r>
          </a:p>
        </p:txBody>
      </p:sp>
      <p:sp>
        <p:nvSpPr>
          <p:cNvPr id="7" name="TextBox 7">
            <a:extLst xmlns:a="http://schemas.openxmlformats.org/drawingml/2006/main">
              <a:ext uri="{FF2B5EF4-FFF2-40B4-BE49-F238E27FC236}">
                <a16:creationId xmlns:a16="http://schemas.microsoft.com/office/drawing/2014/main" id="{C8C1EA70-F1D0-410F-AAC7-6E113F84F149}"/>
              </a:ext>
            </a:extLst>
          </p:cNvPr>
          <p:cNvSpPr>
            <a:spLocks xmlns:a="http://schemas.openxmlformats.org/drawingml/2006/main" noGrp="1"/>
          </p:cNvSpPr>
          <p:nvPr/>
        </p:nvSpPr>
        <p:spPr>
          <a:xfrm xmlns:a="http://schemas.openxmlformats.org/drawingml/2006/main">
            <a:off x="12090304" y="3498396"/>
            <a:ext cx="5168996" cy="4823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006000"/>
                </a:solidFill>
                <a:latin typeface="Garet Bold"/>
                <a:ea typeface="Garet Bold"/>
                <a:cs typeface="Garet Bold"/>
              </a:rPr>
              <a:t>RISK</a:t>
            </a:r>
          </a:p>
        </p:txBody>
      </p:sp>
      <p:sp>
        <p:nvSpPr>
          <p:cNvPr id="8" name="TextBox 8">
            <a:extLst xmlns:a="http://schemas.openxmlformats.org/drawingml/2006/main">
              <a:ext uri="{FF2B5EF4-FFF2-40B4-BE49-F238E27FC236}">
                <a16:creationId xmlns:a16="http://schemas.microsoft.com/office/drawing/2014/main" id="{86DCCC72-E2A8-4DD1-8859-6989F73CEC89}"/>
              </a:ext>
            </a:extLst>
          </p:cNvPr>
          <p:cNvSpPr>
            <a:spLocks xmlns:a="http://schemas.openxmlformats.org/drawingml/2006/main" noGrp="1"/>
          </p:cNvSpPr>
          <p:nvPr/>
        </p:nvSpPr>
        <p:spPr>
          <a:xfrm xmlns:a="http://schemas.openxmlformats.org/drawingml/2006/main">
            <a:off x="12090304" y="4209342"/>
            <a:ext cx="5168996" cy="36648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gradFill>
                  <a:gsLst>
                    <a:gs pos="0">
                      <a:srgbClr val="000000">
                        <a:alpha val="100000"/>
                      </a:srgbClr>
                    </a:gs>
                    <a:gs pos="100000">
                      <a:srgbClr val="011000">
                        <a:alpha val="100000"/>
                      </a:srgbClr>
                    </a:gs>
                  </a:gsLst>
                  <a:path path="circle">
                    <a:fillToRect l="0" t="0" r="100000" b="100000"/>
                  </a:path>
                  <a:tileRect l="-100000" t="-100000"/>
                </a:gradFill>
                <a:latin typeface="Garet"/>
                <a:ea typeface="Garet"/>
                <a:cs typeface="Garet"/>
              </a:rPr>
              <a:t>Public proxies create basis risk. Private NAV smoothing, look-through gaps, and cash-flow uncertainty remain explicit limitations.</a:t>
            </a:r>
          </a:p>
        </p:txBody>
      </p:sp>
    </p:spTree>
    <p:extLst>
      <p:ext uri="{BB962C8B-B14F-4D97-AF65-F5344CB8AC3E}">
        <p14:creationId xmlns:p14="http://schemas.microsoft.com/office/powerpoint/2010/main" val="195228052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BDC02DEB-150E-44F0-AE94-7B84B0C8C289}"/>
              </a:ext>
            </a:extLst>
          </p:cNvPr>
          <p:cNvSpPr>
            <a:spLocks xmlns:a="http://schemas.openxmlformats.org/drawingml/2006/main" noGrp="1"/>
          </p:cNvSpPr>
          <p:nvPr/>
        </p:nvSpPr>
        <p:spPr>
          <a:xfrm xmlns:a="http://schemas.openxmlformats.org/drawingml/2006/main">
            <a:off x="1028700" y="2508069"/>
            <a:ext cx="8291149" cy="75666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712"/>
              </a:lnSpc>
              <a:buNone/>
            </a:pPr>
            <a:r>
              <a:rPr sz="5600" b="1">
                <a:gradFill>
                  <a:gsLst>
                    <a:gs pos="0">
                      <a:srgbClr val="000000">
                        <a:alpha val="100000"/>
                      </a:srgbClr>
                    </a:gs>
                    <a:gs pos="100000">
                      <a:srgbClr val="011000">
                        <a:alpha val="100000"/>
                      </a:srgbClr>
                    </a:gs>
                  </a:gsLst>
                  <a:path path="circle">
                    <a:fillToRect l="0" t="0" r="100000" b="100000"/>
                  </a:path>
                  <a:tileRect l="-100000" t="-100000"/>
                </a:gradFill>
                <a:latin typeface="Garet Bold"/>
                <a:ea typeface="Garet Bold"/>
                <a:cs typeface="Garet Bold"/>
              </a:rPr>
              <a:t>ROADMAP</a:t>
            </a:r>
          </a:p>
        </p:txBody>
      </p:sp>
      <p:sp>
        <p:nvSpPr>
          <p:cNvPr id="3" name="TextBox 3">
            <a:extLst xmlns:a="http://schemas.openxmlformats.org/drawingml/2006/main">
              <a:ext uri="{FF2B5EF4-FFF2-40B4-BE49-F238E27FC236}">
                <a16:creationId xmlns:a16="http://schemas.microsoft.com/office/drawing/2014/main" id="{1EBC941A-8834-4F38-8341-E9A1AB1FE71E}"/>
              </a:ext>
            </a:extLst>
          </p:cNvPr>
          <p:cNvSpPr>
            <a:spLocks xmlns:a="http://schemas.openxmlformats.org/drawingml/2006/main" noGrp="1"/>
          </p:cNvSpPr>
          <p:nvPr/>
        </p:nvSpPr>
        <p:spPr>
          <a:xfrm xmlns:a="http://schemas.openxmlformats.org/drawingml/2006/main">
            <a:off x="1028700" y="3498396"/>
            <a:ext cx="5168996" cy="4823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006000"/>
                </a:solidFill>
                <a:latin typeface="Garet Bold"/>
                <a:ea typeface="Garet Bold"/>
                <a:cs typeface="Garet Bold"/>
              </a:rPr>
              <a:t>PILOT</a:t>
            </a:r>
          </a:p>
        </p:txBody>
      </p:sp>
      <p:sp>
        <p:nvSpPr>
          <p:cNvPr id="4" name="TextBox 4">
            <a:extLst xmlns:a="http://schemas.openxmlformats.org/drawingml/2006/main">
              <a:ext uri="{FF2B5EF4-FFF2-40B4-BE49-F238E27FC236}">
                <a16:creationId xmlns:a16="http://schemas.microsoft.com/office/drawing/2014/main" id="{FD277E26-D71E-4011-85A2-35923E3355E7}"/>
              </a:ext>
            </a:extLst>
          </p:cNvPr>
          <p:cNvSpPr>
            <a:spLocks xmlns:a="http://schemas.openxmlformats.org/drawingml/2006/main" noGrp="1"/>
          </p:cNvSpPr>
          <p:nvPr/>
        </p:nvSpPr>
        <p:spPr>
          <a:xfrm xmlns:a="http://schemas.openxmlformats.org/drawingml/2006/main">
            <a:off x="1028700" y="4209342"/>
            <a:ext cx="5168996" cy="36648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gradFill>
                  <a:gsLst>
                    <a:gs pos="0">
                      <a:srgbClr val="000000">
                        <a:alpha val="100000"/>
                      </a:srgbClr>
                    </a:gs>
                    <a:gs pos="100000">
                      <a:srgbClr val="011000">
                        <a:alpha val="100000"/>
                      </a:srgbClr>
                    </a:gs>
                  </a:gsLst>
                  <a:path path="circle">
                    <a:fillToRect l="0" t="0" r="100000" b="100000"/>
                  </a:path>
                  <a:tileRect l="-100000" t="-100000"/>
                </a:gradFill>
                <a:latin typeface="Garet"/>
                <a:ea typeface="Garet"/>
                <a:cs typeface="Garet"/>
              </a:rPr>
              <a:t>Define owners, thresholds, reviewer roles, benchmark documents, and acceptance criteria before expanding scope.</a:t>
            </a:r>
          </a:p>
        </p:txBody>
      </p:sp>
      <p:sp>
        <p:nvSpPr>
          <p:cNvPr id="5" name="TextBox 5">
            <a:extLst xmlns:a="http://schemas.openxmlformats.org/drawingml/2006/main">
              <a:ext uri="{FF2B5EF4-FFF2-40B4-BE49-F238E27FC236}">
                <a16:creationId xmlns:a16="http://schemas.microsoft.com/office/drawing/2014/main" id="{E2FCE557-FC36-4C5C-8BC2-E936C0180BC7}"/>
              </a:ext>
            </a:extLst>
          </p:cNvPr>
          <p:cNvSpPr>
            <a:spLocks xmlns:a="http://schemas.openxmlformats.org/drawingml/2006/main" noGrp="1"/>
          </p:cNvSpPr>
          <p:nvPr/>
        </p:nvSpPr>
        <p:spPr>
          <a:xfrm xmlns:a="http://schemas.openxmlformats.org/drawingml/2006/main">
            <a:off x="6559502" y="3498396"/>
            <a:ext cx="5168996" cy="4823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006000"/>
                </a:solidFill>
                <a:latin typeface="Garet Bold"/>
                <a:ea typeface="Garet Bold"/>
                <a:cs typeface="Garet Bold"/>
              </a:rPr>
              <a:t>HARDENING</a:t>
            </a:r>
          </a:p>
        </p:txBody>
      </p:sp>
      <p:sp>
        <p:nvSpPr>
          <p:cNvPr id="6" name="TextBox 6">
            <a:extLst xmlns:a="http://schemas.openxmlformats.org/drawingml/2006/main">
              <a:ext uri="{FF2B5EF4-FFF2-40B4-BE49-F238E27FC236}">
                <a16:creationId xmlns:a16="http://schemas.microsoft.com/office/drawing/2014/main" id="{45DAA96D-6E7E-46A7-9F28-1889057F4A8B}"/>
              </a:ext>
            </a:extLst>
          </p:cNvPr>
          <p:cNvSpPr>
            <a:spLocks xmlns:a="http://schemas.openxmlformats.org/drawingml/2006/main" noGrp="1"/>
          </p:cNvSpPr>
          <p:nvPr/>
        </p:nvSpPr>
        <p:spPr>
          <a:xfrm xmlns:a="http://schemas.openxmlformats.org/drawingml/2006/main">
            <a:off x="6559502" y="4209342"/>
            <a:ext cx="5168996" cy="36648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gradFill>
                  <a:gsLst>
                    <a:gs pos="0">
                      <a:srgbClr val="000000">
                        <a:alpha val="100000"/>
                      </a:srgbClr>
                    </a:gs>
                    <a:gs pos="100000">
                      <a:srgbClr val="011000">
                        <a:alpha val="100000"/>
                      </a:srgbClr>
                    </a:gs>
                  </a:gsLst>
                  <a:path path="circle">
                    <a:fillToRect l="0" t="0" r="100000" b="100000"/>
                  </a:path>
                  <a:tileRect l="-100000" t="-100000"/>
                </a:gradFill>
                <a:latin typeface="Garet"/>
                <a:ea typeface="Garet"/>
                <a:cs typeface="Garet"/>
              </a:rPr>
              <a:t>Add approved source integrations, identity and access control, encryption, monitoring, retries, audit retention, and incident procedures.</a:t>
            </a:r>
          </a:p>
        </p:txBody>
      </p:sp>
      <p:sp>
        <p:nvSpPr>
          <p:cNvPr id="7" name="TextBox 7">
            <a:extLst xmlns:a="http://schemas.openxmlformats.org/drawingml/2006/main">
              <a:ext uri="{FF2B5EF4-FFF2-40B4-BE49-F238E27FC236}">
                <a16:creationId xmlns:a16="http://schemas.microsoft.com/office/drawing/2014/main" id="{C8C1EA70-F1D0-410F-AAC7-6E113F84F149}"/>
              </a:ext>
            </a:extLst>
          </p:cNvPr>
          <p:cNvSpPr>
            <a:spLocks xmlns:a="http://schemas.openxmlformats.org/drawingml/2006/main" noGrp="1"/>
          </p:cNvSpPr>
          <p:nvPr/>
        </p:nvSpPr>
        <p:spPr>
          <a:xfrm xmlns:a="http://schemas.openxmlformats.org/drawingml/2006/main">
            <a:off x="12090304" y="3498396"/>
            <a:ext cx="5168996" cy="4823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006000"/>
                </a:solidFill>
                <a:latin typeface="Garet Bold"/>
                <a:ea typeface="Garet Bold"/>
                <a:cs typeface="Garet Bold"/>
              </a:rPr>
              <a:t>EXPANSION</a:t>
            </a:r>
          </a:p>
        </p:txBody>
      </p:sp>
      <p:sp>
        <p:nvSpPr>
          <p:cNvPr id="8" name="TextBox 8">
            <a:extLst xmlns:a="http://schemas.openxmlformats.org/drawingml/2006/main">
              <a:ext uri="{FF2B5EF4-FFF2-40B4-BE49-F238E27FC236}">
                <a16:creationId xmlns:a16="http://schemas.microsoft.com/office/drawing/2014/main" id="{86DCCC72-E2A8-4DD1-8859-6989F73CEC89}"/>
              </a:ext>
            </a:extLst>
          </p:cNvPr>
          <p:cNvSpPr>
            <a:spLocks xmlns:a="http://schemas.openxmlformats.org/drawingml/2006/main" noGrp="1"/>
          </p:cNvSpPr>
          <p:nvPr/>
        </p:nvSpPr>
        <p:spPr>
          <a:xfrm xmlns:a="http://schemas.openxmlformats.org/drawingml/2006/main">
            <a:off x="12090304" y="4209342"/>
            <a:ext cx="5168996" cy="36648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gradFill>
                  <a:gsLst>
                    <a:gs pos="0">
                      <a:srgbClr val="000000">
                        <a:alpha val="100000"/>
                      </a:srgbClr>
                    </a:gs>
                    <a:gs pos="100000">
                      <a:srgbClr val="011000">
                        <a:alpha val="100000"/>
                      </a:srgbClr>
                    </a:gs>
                  </a:gsLst>
                  <a:path path="circle">
                    <a:fillToRect l="0" t="0" r="100000" b="100000"/>
                  </a:path>
                  <a:tileRect l="-100000" t="-100000"/>
                </a:gradFill>
                <a:latin typeface="Garet"/>
                <a:ea typeface="Garet"/>
                <a:cs typeface="Garet"/>
              </a:rPr>
              <a:t>Add field-level model evaluation, richer private cash-flow and liquidity models, look-through exposure, and approved risk methodology.</a:t>
            </a:r>
          </a:p>
        </p:txBody>
      </p:sp>
    </p:spTree>
    <p:extLst>
      <p:ext uri="{BB962C8B-B14F-4D97-AF65-F5344CB8AC3E}">
        <p14:creationId xmlns:p14="http://schemas.microsoft.com/office/powerpoint/2010/main" val="1952280529"/>
      </p:ext>
    </p:extLst>
  </p:cSld>
</p:sld>
</file>

<file path=ppt/slides/slide18.xml><?xml version="1.0" encoding="utf-8"?>
<p:sld xmlns:p="http://schemas.openxmlformats.org/presentationml/2006/main">
  <p:cSld>
    <p:bg>
      <p:bgPr>
        <a:gradFill xmlns:a="http://schemas.openxmlformats.org/drawingml/2006/main" rotWithShape="1">
          <a:gsLst>
            <a:gs pos="0">
              <a:srgbClr val="000000">
                <a:alpha val="100000"/>
              </a:srgbClr>
            </a:gs>
            <a:gs pos="100000">
              <a:srgbClr val="011000">
                <a:alpha val="100000"/>
              </a:srgbClr>
            </a:gs>
          </a:gsLst>
          <a:path path="circle">
            <a:fillToRect l="0" t="0" r="100000" b="100000"/>
          </a:path>
          <a:tileRect l="-100000" t="-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C88FC7BD-A14B-4007-91DB-E996395DF9FA}"/>
              </a:ext>
            </a:extLst>
          </p:cNvPr>
          <p:cNvSpPr>
            <a:spLocks xmlns:a="http://schemas.openxmlformats.org/drawingml/2006/main" noGrp="1"/>
          </p:cNvSpPr>
          <p:nvPr/>
        </p:nvSpPr>
        <p:spPr>
          <a:xfrm xmlns:a="http://schemas.openxmlformats.org/drawingml/2006/main">
            <a:off x="7020599" y="1270898"/>
            <a:ext cx="654141" cy="594674"/>
          </a:xfrm>
          <a:custGeom xmlns:a="http://schemas.openxmlformats.org/drawingml/2006/main">
            <a:rect l="l" t="t" r="r" b="b"/>
            <a:pathLst>
              <a:path w="654141" h="594674">
                <a:moveTo>
                  <a:pt x="0" y="0"/>
                </a:moveTo>
                <a:lnTo>
                  <a:pt x="654141" y="0"/>
                </a:lnTo>
                <a:lnTo>
                  <a:pt x="654141" y="594674"/>
                </a:lnTo>
                <a:lnTo>
                  <a:pt x="0" y="594674"/>
                </a:lnTo>
                <a:lnTo>
                  <a:pt x="0" y="0"/>
                </a:lnTo>
                <a:close/>
              </a:path>
            </a:pathLst>
          </a:custGeom>
          <a:blipFill xmlns:a="http://schemas.openxmlformats.org/drawingml/2006/main">
            <a:blip xmlns:r="http://schemas.openxmlformats.org/officeDocument/2006/relationships" r:embed="R8887ab5fe8024cef">
              <a:extLst>
                <a:ext uri="{96DAC541-7B7A-43D3-8B79-37D633B846F1}">
                  <asvg:svgBlip xmlns:asvg="http://schemas.microsoft.com/office/drawing/2016/SVG/main" r:embed="R10af5b41463a46af"/>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 name="Freeform 3">
            <a:extLst xmlns:a="http://schemas.openxmlformats.org/drawingml/2006/main">
              <a:ext uri="{FF2B5EF4-FFF2-40B4-BE49-F238E27FC236}">
                <a16:creationId xmlns:a16="http://schemas.microsoft.com/office/drawing/2014/main" id="{BB68BD65-62D5-465E-9B00-86F4F4A0E1D9}"/>
              </a:ext>
            </a:extLst>
          </p:cNvPr>
          <p:cNvSpPr>
            <a:spLocks xmlns:a="http://schemas.openxmlformats.org/drawingml/2006/main" noGrp="1"/>
          </p:cNvSpPr>
          <p:nvPr/>
        </p:nvSpPr>
        <p:spPr>
          <a:xfrm xmlns:a="http://schemas.openxmlformats.org/drawingml/2006/main">
            <a:off x="-2480326" y="1855659"/>
            <a:ext cx="7727832" cy="6575683"/>
          </a:xfrm>
          <a:custGeom xmlns:a="http://schemas.openxmlformats.org/drawingml/2006/main">
            <a:rect l="l" t="t" r="r" b="b"/>
            <a:pathLst>
              <a:path w="7727832" h="6575683">
                <a:moveTo>
                  <a:pt x="0" y="0"/>
                </a:moveTo>
                <a:lnTo>
                  <a:pt x="7727832" y="0"/>
                </a:lnTo>
                <a:lnTo>
                  <a:pt x="7727832" y="6575682"/>
                </a:lnTo>
                <a:lnTo>
                  <a:pt x="0" y="6575682"/>
                </a:lnTo>
                <a:lnTo>
                  <a:pt x="0" y="0"/>
                </a:lnTo>
                <a:close/>
              </a:path>
            </a:pathLst>
          </a:custGeom>
          <a:blipFill xmlns:a="http://schemas.openxmlformats.org/drawingml/2006/main">
            <a:blip xmlns:r="http://schemas.openxmlformats.org/officeDocument/2006/relationships" r:embed="R38da7bb1e02e4680">
              <a:extLst>
                <a:ext uri="{96DAC541-7B7A-43D3-8B79-37D633B846F1}">
                  <asvg:svgBlip xmlns:asvg="http://schemas.microsoft.com/office/drawing/2016/SVG/main" r:embed="R5842aaf08c704af3"/>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TextBox 4">
            <a:extLst xmlns:a="http://schemas.openxmlformats.org/drawingml/2006/main">
              <a:ext uri="{FF2B5EF4-FFF2-40B4-BE49-F238E27FC236}">
                <a16:creationId xmlns:a16="http://schemas.microsoft.com/office/drawing/2014/main" id="{C994D62D-82DF-415C-8673-30E4559790C5}"/>
              </a:ext>
            </a:extLst>
          </p:cNvPr>
          <p:cNvSpPr>
            <a:spLocks xmlns:a="http://schemas.openxmlformats.org/drawingml/2006/main" noGrp="1"/>
          </p:cNvSpPr>
          <p:nvPr/>
        </p:nvSpPr>
        <p:spPr>
          <a:xfrm xmlns:a="http://schemas.openxmlformats.org/drawingml/2006/main">
            <a:off x="7020599" y="4891809"/>
            <a:ext cx="10238701" cy="3682134"/>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14244"/>
              </a:lnSpc>
              <a:buNone/>
            </a:pPr>
            <a:r>
              <a:rPr sz="13965" b="1">
                <a:solidFill>
                  <a:srgbClr val="FFFFFF"/>
                </a:solidFill>
                <a:latin typeface="Garet Bold"/>
                <a:ea typeface="Garet Bold"/>
                <a:cs typeface="Garet Bold"/>
              </a:rPr>
              <a:t>CONTROL THE FLOW</a:t>
            </a:r>
          </a:p>
        </p:txBody>
      </p:sp>
      <p:sp>
        <p:nvSpPr>
          <p:cNvPr id="5" name="TextBox 5">
            <a:extLst xmlns:a="http://schemas.openxmlformats.org/drawingml/2006/main">
              <a:ext uri="{FF2B5EF4-FFF2-40B4-BE49-F238E27FC236}">
                <a16:creationId xmlns:a16="http://schemas.microsoft.com/office/drawing/2014/main" id="{327C32E3-C9FB-4329-B0AC-6BCCBAC21F5B}"/>
              </a:ext>
            </a:extLst>
          </p:cNvPr>
          <p:cNvSpPr>
            <a:spLocks xmlns:a="http://schemas.openxmlformats.org/drawingml/2006/main" noGrp="1"/>
          </p:cNvSpPr>
          <p:nvPr/>
        </p:nvSpPr>
        <p:spPr>
          <a:xfrm xmlns:a="http://schemas.openxmlformats.org/drawingml/2006/main">
            <a:off x="7020599" y="2223645"/>
            <a:ext cx="2803306" cy="322408"/>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85"/>
              </a:lnSpc>
              <a:spcBef>
                <a:spcPct val="0"/>
              </a:spcBef>
              <a:buNone/>
            </a:pPr>
            <a:r>
              <a:rPr sz="2436">
                <a:solidFill>
                  <a:srgbClr val="FFFFFF"/>
                </a:solidFill>
                <a:latin typeface="Garet"/>
                <a:ea typeface="Garet"/>
                <a:cs typeface="Garet"/>
              </a:rPr>
              <a:t>AI-ENABLED</a:t>
            </a:r>
          </a:p>
        </p:txBody>
      </p:sp>
      <p:sp>
        <p:nvSpPr>
          <p:cNvPr id="6" name="TextBox 6">
            <a:extLst xmlns:a="http://schemas.openxmlformats.org/drawingml/2006/main">
              <a:ext uri="{FF2B5EF4-FFF2-40B4-BE49-F238E27FC236}">
                <a16:creationId xmlns:a16="http://schemas.microsoft.com/office/drawing/2014/main" id="{0B7A4395-9E5F-4FBB-9F53-307D41B82D50}"/>
              </a:ext>
            </a:extLst>
          </p:cNvPr>
          <p:cNvSpPr>
            <a:spLocks xmlns:a="http://schemas.openxmlformats.org/drawingml/2006/main" noGrp="1"/>
          </p:cNvSpPr>
          <p:nvPr/>
        </p:nvSpPr>
        <p:spPr>
          <a:xfrm xmlns:a="http://schemas.openxmlformats.org/drawingml/2006/main">
            <a:off x="7020599" y="2593677"/>
            <a:ext cx="2803306" cy="322408"/>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85"/>
              </a:lnSpc>
              <a:spcBef>
                <a:spcPct val="0"/>
              </a:spcBef>
              <a:buNone/>
            </a:pPr>
            <a:r>
              <a:rPr sz="2436">
                <a:solidFill>
                  <a:srgbClr val="FFFFFF"/>
                </a:solidFill>
                <a:latin typeface="Garet"/>
                <a:ea typeface="Garet"/>
                <a:cs typeface="Garet"/>
              </a:rPr>
              <a:t>REPORTING</a:t>
            </a:r>
          </a:p>
        </p:txBody>
      </p:sp>
      <p:sp>
        <p:nvSpPr>
          <p:cNvPr id="7" name="TextBox 7">
            <a:extLst xmlns:a="http://schemas.openxmlformats.org/drawingml/2006/main">
              <a:ext uri="{FF2B5EF4-FFF2-40B4-BE49-F238E27FC236}">
                <a16:creationId xmlns:a16="http://schemas.microsoft.com/office/drawing/2014/main" id="{24BC96BA-3BA1-4A74-9BDD-29E66F94E950}"/>
              </a:ext>
            </a:extLst>
          </p:cNvPr>
          <p:cNvSpPr>
            <a:spLocks xmlns:a="http://schemas.openxmlformats.org/drawingml/2006/main" noGrp="1"/>
          </p:cNvSpPr>
          <p:nvPr/>
        </p:nvSpPr>
        <p:spPr>
          <a:xfrm xmlns:a="http://schemas.openxmlformats.org/drawingml/2006/main">
            <a:off x="7020599" y="8621567"/>
            <a:ext cx="5355695" cy="63673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85"/>
              </a:lnSpc>
              <a:spcBef>
                <a:spcPct val="0"/>
              </a:spcBef>
              <a:buNone/>
            </a:pPr>
            <a:r>
              <a:rPr sz="2436">
                <a:solidFill>
                  <a:srgbClr val="FFFFFF"/>
                </a:solidFill>
                <a:latin typeface="Garet"/>
                <a:ea typeface="Garet"/>
                <a:cs typeface="Garet"/>
              </a:rPr>
              <a:t>AUTOMATE PREPARATION. KEEP HUMAN AUTHORITY.</a:t>
            </a:r>
          </a:p>
        </p:txBody>
      </p:sp>
    </p:spTree>
    <p:extLst>
      <p:ext uri="{BB962C8B-B14F-4D97-AF65-F5344CB8AC3E}">
        <p14:creationId xmlns:p14="http://schemas.microsoft.com/office/powerpoint/2010/main" val="28638869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2026-07-17T12:14:13.6930000Z</dcterms:created>
  <dcterms:modified xsi:type="dcterms:W3CDTF">2026-07-17T12:14:13.6930000Z</dcterms:modified>
</coreProperties>
</file>