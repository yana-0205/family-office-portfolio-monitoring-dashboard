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9a7ee1c42a4a55" /><Relationship Type="http://schemas.openxmlformats.org/officeDocument/2006/relationships/extended-properties" Target="/docProps/app.xml" Id="R5b937cc0603e4896" /><Relationship Type="http://schemas.openxmlformats.org/officeDocument/2006/relationships/officeDocument" Target="/ppt/presentation.xml" Id="Rfe5208f6d851438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9288869738b4fa7"/>
  </p:sldMasterIdLst>
  <p:notesMasterIdLst>
    <p:notesMasterId xmlns:r="http://schemas.openxmlformats.org/officeDocument/2006/relationships" r:id="R5a5a275769344025"/>
  </p:notesMasterIdLst>
  <p:sldIdLst>
    <p:sldId xmlns:r="http://schemas.openxmlformats.org/officeDocument/2006/relationships" id="256" r:id="Rf7403eb5ff05428d"/>
    <p:sldId xmlns:r="http://schemas.openxmlformats.org/officeDocument/2006/relationships" id="257" r:id="R817396338aef4bb1"/>
    <p:sldId xmlns:r="http://schemas.openxmlformats.org/officeDocument/2006/relationships" id="258" r:id="Rd474361bc4814551"/>
    <p:sldId xmlns:r="http://schemas.openxmlformats.org/officeDocument/2006/relationships" id="259" r:id="R85b269991828496a"/>
    <p:sldId xmlns:r="http://schemas.openxmlformats.org/officeDocument/2006/relationships" id="260" r:id="Ra469ded1f51345ab"/>
    <p:sldId xmlns:r="http://schemas.openxmlformats.org/officeDocument/2006/relationships" id="261" r:id="R73a4b2404b36444b"/>
    <p:sldId xmlns:r="http://schemas.openxmlformats.org/officeDocument/2006/relationships" id="262" r:id="R107cb89972de4134"/>
    <p:sldId xmlns:r="http://schemas.openxmlformats.org/officeDocument/2006/relationships" id="263" r:id="R1d4975e40c404feb"/>
    <p:sldId xmlns:r="http://schemas.openxmlformats.org/officeDocument/2006/relationships" id="264" r:id="R86e4664512574b90"/>
    <p:sldId xmlns:r="http://schemas.openxmlformats.org/officeDocument/2006/relationships" id="265" r:id="R36136734f04144c8"/>
    <p:sldId xmlns:r="http://schemas.openxmlformats.org/officeDocument/2006/relationships" id="266" r:id="R2ee7877a360e41ff"/>
    <p:sldId xmlns:r="http://schemas.openxmlformats.org/officeDocument/2006/relationships" id="267" r:id="R51ed57873b014cca"/>
    <p:sldId xmlns:r="http://schemas.openxmlformats.org/officeDocument/2006/relationships" id="268" r:id="R8d28a9f20d94462f"/>
    <p:sldId xmlns:r="http://schemas.openxmlformats.org/officeDocument/2006/relationships" id="269" r:id="Rf4a4d28142ec46eb"/>
    <p:sldId xmlns:r="http://schemas.openxmlformats.org/officeDocument/2006/relationships" id="270" r:id="R03c18a44215e4bfa"/>
    <p:sldId xmlns:r="http://schemas.openxmlformats.org/officeDocument/2006/relationships" id="271" r:id="R154945f558d94715"/>
    <p:sldId xmlns:r="http://schemas.openxmlformats.org/officeDocument/2006/relationships" id="272" r:id="Rbb872d2f4f56480a"/>
    <p:sldId xmlns:r="http://schemas.openxmlformats.org/officeDocument/2006/relationships" id="273" r:id="R61d49eb02a0b4920"/>
    <p:sldId xmlns:r="http://schemas.openxmlformats.org/officeDocument/2006/relationships" id="274" r:id="R98b22247b8c5455f"/>
    <p:sldId xmlns:r="http://schemas.openxmlformats.org/officeDocument/2006/relationships" id="275" r:id="Rdb32e931799d4ca3"/>
    <p:sldId xmlns:r="http://schemas.openxmlformats.org/officeDocument/2006/relationships" id="276" r:id="Re262de8430ea44e1"/>
    <p:sldId xmlns:r="http://schemas.openxmlformats.org/officeDocument/2006/relationships" id="277" r:id="R85ce5d5c852d4b4a"/>
    <p:sldId xmlns:r="http://schemas.openxmlformats.org/officeDocument/2006/relationships" id="278" r:id="Rdaf8732af34242b5"/>
    <p:sldId xmlns:r="http://schemas.openxmlformats.org/officeDocument/2006/relationships" id="279" r:id="R5b1a89ee7fbc404a"/>
  </p:sldIdLst>
  <p:sldSz cx="18288000" cy="10287000"/>
  <p:notesSz cx="6858000" cy="9144000"/>
  <p:embeddedFontLst>
    <p:embeddedFont>
      <p:font typeface="Garet"/>
      <p:regular xmlns:r="http://schemas.openxmlformats.org/officeDocument/2006/relationships" r:id="R0102c0ad5c604c00"/>
    </p:embeddedFont>
    <p:embeddedFont>
      <p:font typeface="Garet Bold"/>
      <p:regular xmlns:r="http://schemas.openxmlformats.org/officeDocument/2006/relationships" r:id="R9c7aa8d757704dbb"/>
      <p:bold xmlns:r="http://schemas.openxmlformats.org/officeDocument/2006/relationships" r:id="R5f1d963bc3384d28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f6fa9598184416" /><Relationship Type="http://schemas.openxmlformats.org/officeDocument/2006/relationships/slideMaster" Target="/ppt/slideMasters/slideMaster1.xml" Id="Rf9288869738b4fa7" /><Relationship Type="http://schemas.openxmlformats.org/officeDocument/2006/relationships/notesMaster" Target="/ppt/notesMasters/notesMaster1.xml" Id="R5a5a275769344025" /><Relationship Type="http://schemas.openxmlformats.org/officeDocument/2006/relationships/presProps" Target="/ppt/presProps.xml" Id="Rc79934aac2164980" /><Relationship Type="http://schemas.openxmlformats.org/officeDocument/2006/relationships/viewProps" Target="/ppt/viewProps.xml" Id="Rc459cdc74afb4b12" /><Relationship Type="http://schemas.openxmlformats.org/officeDocument/2006/relationships/tableStyles" Target="/ppt/tableStyles.xml" Id="R9a40095450024c6f" /><Relationship Type="http://schemas.openxmlformats.org/officeDocument/2006/relationships/font" Target="/ppt/fonts/font.dat" Id="R0102c0ad5c604c00" /><Relationship Type="http://schemas.openxmlformats.org/officeDocument/2006/relationships/font" Target="/ppt/fonts/font2.dat" Id="R9c7aa8d757704dbb" /><Relationship Type="http://schemas.openxmlformats.org/officeDocument/2006/relationships/font" Target="/ppt/fonts/font3.dat" Id="R5f1d963bc3384d28" /><Relationship Type="http://schemas.openxmlformats.org/officeDocument/2006/relationships/slide" Target="/ppt/slides/slide1.xml" Id="Rf7403eb5ff05428d" /><Relationship Type="http://schemas.openxmlformats.org/officeDocument/2006/relationships/slide" Target="/ppt/slides/slide2.xml" Id="R817396338aef4bb1" /><Relationship Type="http://schemas.openxmlformats.org/officeDocument/2006/relationships/slide" Target="/ppt/slides/slide3.xml" Id="Rd474361bc4814551" /><Relationship Type="http://schemas.openxmlformats.org/officeDocument/2006/relationships/slide" Target="/ppt/slides/slide4.xml" Id="R85b269991828496a" /><Relationship Type="http://schemas.openxmlformats.org/officeDocument/2006/relationships/slide" Target="/ppt/slides/slide5.xml" Id="Ra469ded1f51345ab" /><Relationship Type="http://schemas.openxmlformats.org/officeDocument/2006/relationships/slide" Target="/ppt/slides/slide6.xml" Id="R73a4b2404b36444b" /><Relationship Type="http://schemas.openxmlformats.org/officeDocument/2006/relationships/slide" Target="/ppt/slides/slide7.xml" Id="R107cb89972de4134" /><Relationship Type="http://schemas.openxmlformats.org/officeDocument/2006/relationships/slide" Target="/ppt/slides/slide8.xml" Id="R1d4975e40c404feb" /><Relationship Type="http://schemas.openxmlformats.org/officeDocument/2006/relationships/slide" Target="/ppt/slides/slide9.xml" Id="R86e4664512574b90" /><Relationship Type="http://schemas.openxmlformats.org/officeDocument/2006/relationships/slide" Target="/ppt/slides/slide10.xml" Id="R36136734f04144c8" /><Relationship Type="http://schemas.openxmlformats.org/officeDocument/2006/relationships/slide" Target="/ppt/slides/slide11.xml" Id="R2ee7877a360e41ff" /><Relationship Type="http://schemas.openxmlformats.org/officeDocument/2006/relationships/slide" Target="/ppt/slides/slide12.xml" Id="R51ed57873b014cca" /><Relationship Type="http://schemas.openxmlformats.org/officeDocument/2006/relationships/slide" Target="/ppt/slides/slide13.xml" Id="R8d28a9f20d94462f" /><Relationship Type="http://schemas.openxmlformats.org/officeDocument/2006/relationships/slide" Target="/ppt/slides/slide14.xml" Id="Rf4a4d28142ec46eb" /><Relationship Type="http://schemas.openxmlformats.org/officeDocument/2006/relationships/slide" Target="/ppt/slides/slide15.xml" Id="R03c18a44215e4bfa" /><Relationship Type="http://schemas.openxmlformats.org/officeDocument/2006/relationships/slide" Target="/ppt/slides/slide16.xml" Id="R154945f558d94715" /><Relationship Type="http://schemas.openxmlformats.org/officeDocument/2006/relationships/slide" Target="/ppt/slides/slide17.xml" Id="Rbb872d2f4f56480a" /><Relationship Type="http://schemas.openxmlformats.org/officeDocument/2006/relationships/slide" Target="/ppt/slides/slide18.xml" Id="R61d49eb02a0b4920" /><Relationship Type="http://schemas.openxmlformats.org/officeDocument/2006/relationships/slide" Target="/ppt/slides/slide19.xml" Id="R98b22247b8c5455f" /><Relationship Type="http://schemas.openxmlformats.org/officeDocument/2006/relationships/slide" Target="/ppt/slides/slide20.xml" Id="Rdb32e931799d4ca3" /><Relationship Type="http://schemas.openxmlformats.org/officeDocument/2006/relationships/slide" Target="/ppt/slides/slide21.xml" Id="Re262de8430ea44e1" /><Relationship Type="http://schemas.openxmlformats.org/officeDocument/2006/relationships/slide" Target="/ppt/slides/slide22.xml" Id="R85ce5d5c852d4b4a" /><Relationship Type="http://schemas.openxmlformats.org/officeDocument/2006/relationships/slide" Target="/ppt/slides/slide23.xml" Id="Rdaf8732af34242b5" /><Relationship Type="http://schemas.openxmlformats.org/officeDocument/2006/relationships/slide" Target="/ppt/slides/slide24.xml" Id="R5b1a89ee7fbc40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158d60472942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838828067e4f33" /><Relationship Type="http://schemas.openxmlformats.org/officeDocument/2006/relationships/notesMaster" Target="/ppt/notesMasters/notesMaster1.xml" Id="R8ec3199559254d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aa4ccef61b4b09" /><Relationship Type="http://schemas.openxmlformats.org/officeDocument/2006/relationships/notesMaster" Target="/ppt/notesMasters/notesMaster1.xml" Id="Rfbd21dcb44f940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8699bbf49c417a" /><Relationship Type="http://schemas.openxmlformats.org/officeDocument/2006/relationships/notesMaster" Target="/ppt/notesMasters/notesMaster1.xml" Id="Rb2aaf95fce6445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475c1bc548485a" /><Relationship Type="http://schemas.openxmlformats.org/officeDocument/2006/relationships/notesMaster" Target="/ppt/notesMasters/notesMaster1.xml" Id="R01523052976b41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ce6b24ed224a27" /><Relationship Type="http://schemas.openxmlformats.org/officeDocument/2006/relationships/notesMaster" Target="/ppt/notesMasters/notesMaster1.xml" Id="Reb088cf9b34b43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a2b3311f944390" /><Relationship Type="http://schemas.openxmlformats.org/officeDocument/2006/relationships/notesMaster" Target="/ppt/notesMasters/notesMaster1.xml" Id="Rd7356d33869749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78a2caa3b4472f" /><Relationship Type="http://schemas.openxmlformats.org/officeDocument/2006/relationships/notesMaster" Target="/ppt/notesMasters/notesMaster1.xml" Id="R0acc8486b56a40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f154e35b6c4943" /><Relationship Type="http://schemas.openxmlformats.org/officeDocument/2006/relationships/notesMaster" Target="/ppt/notesMasters/notesMaster1.xml" Id="Re8faf17418e04b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3f841acd8b42d5" /><Relationship Type="http://schemas.openxmlformats.org/officeDocument/2006/relationships/notesMaster" Target="/ppt/notesMasters/notesMaster1.xml" Id="R324154cee52443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3e2d2cc68449d1" /><Relationship Type="http://schemas.openxmlformats.org/officeDocument/2006/relationships/notesMaster" Target="/ppt/notesMasters/notesMaster1.xml" Id="Rd198ae806cf74d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54713a15fe4e44" /><Relationship Type="http://schemas.openxmlformats.org/officeDocument/2006/relationships/notesMaster" Target="/ppt/notesMasters/notesMaster1.xml" Id="R70e34d5a8d634b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2f1402055f4f9b" /><Relationship Type="http://schemas.openxmlformats.org/officeDocument/2006/relationships/notesMaster" Target="/ppt/notesMasters/notesMaster1.xml" Id="R45b89c99e83045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880a86553248d5" /><Relationship Type="http://schemas.openxmlformats.org/officeDocument/2006/relationships/notesMaster" Target="/ppt/notesMasters/notesMaster1.xml" Id="R3bd92d28fd8f43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a615bfdd0b4fd0" /><Relationship Type="http://schemas.openxmlformats.org/officeDocument/2006/relationships/notesMaster" Target="/ppt/notesMasters/notesMaster1.xml" Id="R310f1b95bc504e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8b3ab283a734155" /><Relationship Type="http://schemas.openxmlformats.org/officeDocument/2006/relationships/notesMaster" Target="/ppt/notesMasters/notesMaster1.xml" Id="R2af85c0b3bca46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b05005ebc04911" /><Relationship Type="http://schemas.openxmlformats.org/officeDocument/2006/relationships/notesMaster" Target="/ppt/notesMasters/notesMaster1.xml" Id="R766fe7f1130148b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0ef1bd14eb64bd7" /><Relationship Type="http://schemas.openxmlformats.org/officeDocument/2006/relationships/notesMaster" Target="/ppt/notesMasters/notesMaster1.xml" Id="Reebd57e2566247a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dfdb3be6d5342a8" /><Relationship Type="http://schemas.openxmlformats.org/officeDocument/2006/relationships/notesMaster" Target="/ppt/notesMasters/notesMaster1.xml" Id="R55f2a1f5e7a344e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24d25db5fc94a70" /><Relationship Type="http://schemas.openxmlformats.org/officeDocument/2006/relationships/notesMaster" Target="/ppt/notesMasters/notesMaster1.xml" Id="R795e4b1ed24a477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0e380cfad87480d" /><Relationship Type="http://schemas.openxmlformats.org/officeDocument/2006/relationships/notesMaster" Target="/ppt/notesMasters/notesMaster1.xml" Id="Rc7b8867fd55d444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008e059854f4bca" /><Relationship Type="http://schemas.openxmlformats.org/officeDocument/2006/relationships/notesMaster" Target="/ppt/notesMasters/notesMaster1.xml" Id="Rf96659e0a66d482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17566ab933d4926" /><Relationship Type="http://schemas.openxmlformats.org/officeDocument/2006/relationships/notesMaster" Target="/ppt/notesMasters/notesMaster1.xml" Id="Rf4b82b789b3549c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073592a2a184103" /><Relationship Type="http://schemas.openxmlformats.org/officeDocument/2006/relationships/notesMaster" Target="/ppt/notesMasters/notesMaster1.xml" Id="R04185dd3bf12411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86fd1bcf55849bd" /><Relationship Type="http://schemas.openxmlformats.org/officeDocument/2006/relationships/notesMaster" Target="/ppt/notesMasters/notesMaster1.xml" Id="R9eafb6ffd7644f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this is a controlled document-to-portfolio proof of concept, not only a dashboard.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family office does not lack data; it lacks a controlled path from fragmented documents to decision-ready portfolio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manual chain: read, re-key, reconcile, update, report. Emphasize delay, transcription risk, and weak lineage.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research findings directly to the system design choices: standardize, control, trace.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the synthetic portfolio is intentionally complex enough to create realistic NAV, commitment, cash, and reporting dependencies.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 the temporal boundary: April is the official close; approved May records form an overlay; blocked records do not restate the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six PDFs by business meaning, not only document 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master system map. Extraction is not approval; approval is the gate to portfolio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makes personal contribution explicit across research, workflow engineering, dashboard, risk, QA, and delivery.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 review is intentionally part of the target design. Mixed outcomes are evidence that the control gate works.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outcome states: approved, needs review, rejected. Explain the business reason for each group.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two applied records with two blocked records. This is the clearest proof of approved-only portfolio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final locked evidence after the audience understands what was tested.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reading any metric, explain the dashboard state labels and 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Overview answers what is official/new; Asset Class explains how exposure is distributed.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liquid sleeve and the limitation that market analytics are proxy-based.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PDF_003 to projected distribution and PDF_004 to the private position update.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the workflow remains visible and auditable after dashboard ingestion.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risk as contextual monitoring. Do not overstate it as a production family-office risk engine.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 features into decisions for CIO, analyst, and operations/finance.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operating model, not just the technology: prepare, control, explain.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proof-of-concept limitations clearly and separate demonstrated capability from future production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the implementation discussion with a measured pilot, hardening, and expansion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message: the most valuable outcome is the controlled information chain. Automate preparation; preserve human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repository, synthetic portfolio datasets, pipeline outputs, QA reports, validation results, and local Streamlit dashboard screenshots captured 2026-07-29.</a:t>
            </a:r>
          </a:p>
          <a:p xmlns:a="http://schemas.openxmlformats.org/drawingml/2006/main">
            <a:r>
              <a:t>All family-office data is synthetic. Public-risk metrics use real historical proxy prices for synthetic holdings.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98c3d094cf4e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8056f16c9446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35dfee5e0b4a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ce6b8dd8843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020d4a7bb48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e7a0e027424aa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a41750a3c6423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77daa767d14c6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c1cd8254eb47f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5982c73b98450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dac4e1c8c40c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13DCC3-1205-41E2-986A-3EDF0CA64E2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B594B47-9CDC-4E07-B057-83991E340E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C4932C8-4101-4D6F-8A69-59B86CBF64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0AFDB4-14AA-4711-920F-2006965D81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F15037-8C09-4B42-8259-5BF4098E87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4229B3-2ACC-4D35-BA9E-6BD26A5CC0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F9D8AB-7BD8-41B7-B92A-A0C93289415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088F66-7A35-44B5-9896-F47ABFD8B0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A82C84-8A74-4275-BE32-D4A58540F5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70E24BB-6B5C-46C1-AA1E-67CB86300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741E42-C40D-4C66-809B-EEB89EBFFC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42982AD-3733-469D-86BE-151C213A1F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B978C0-0EE9-4E78-9FFA-9B0D76CB1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4B118E8-E348-4843-BBB9-9E6A42342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D06BDF-D920-4943-80FF-86DC19E033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E07C3D-43BC-49BB-A63A-02D9FF2249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818360F-C74F-428E-AE26-4138394786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190EF7A-15A6-4F9C-B849-82224FB9EF1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E2FE10D-5FC2-4C69-B2F4-F21B35DD00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16F6BB6-716B-40EE-AB02-1C9D13E291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CB6A4C-A008-43FF-870D-86468FDF43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30A5FB-7BA2-4251-BDFF-D380B63E20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29DB67E-CFFC-46A9-8497-A636C4ED3F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02469F1-1705-4DDA-B416-068E8D0357D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849A84D-8952-4490-B7B9-A8ED8D7161E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0A7D6AF-B756-4275-AA85-4AD33DFD16E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F9DB77E-CCD6-4CF8-99FA-1891529721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320F1D0-4872-4455-AF4C-ED1CD65FF0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AD81FFA-359B-49D3-94D7-0C7BB17355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3A7A9B-1B38-4E6C-B5AB-355350578E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816832-AF70-40D0-BC36-6CA23B2E8D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8222BF1-C057-47B5-8B16-836C39566C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6AD6A43-CB3A-4B0A-B1B1-B4BE2FAF8B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7FA26CE-4819-485D-A513-7D758205FF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5DAD066-5051-4761-A5EC-37E180DD8B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2C82C3-D523-48EB-ABDC-B3DA25F72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519537-C658-4F03-A084-7CA84D2245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F436F35-1225-495F-BD4C-4F14EB3177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24354F4-2D34-448E-8F71-7E7D368EB3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6F1B1D4-53CC-471B-9F23-C7DD881270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22FC1F1-42F9-4F3C-BF45-D7807EF7F6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92685C4-CA9A-4468-8684-F3D6BA1069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EECF56-6103-48BA-B22E-30A134A9DF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76B0C55-85BA-426E-A417-3E8140C5664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F70A2ED-615F-44B3-BC10-FD6AE61C6A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EA045C9-585E-4351-89C8-8288A9F4F6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059679E-C1E7-4504-BB4E-EF0FC95481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D09ECA-D33F-4DC7-B868-FF96523BF3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0497AD-E084-456F-84CC-542394D538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A3B3948-D456-45D0-A02F-5FE1059DDA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A391035-5B7C-4E8B-A899-5C404699BE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AEAEAC6-1818-48BB-AF54-A2D7125592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14183B-1932-4C3C-B502-F713DA0905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CE07A9D-691A-4F1D-9688-724DB11434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97BE96-1500-44C2-8876-10F360919C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1BDEB3-716C-486E-89BB-E21675AC2D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1DB572E-E93E-4EB2-A102-4CA8947E1D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A330D7-7436-45E7-A05F-71DB153E02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32d0e5de5347ae" /><Relationship Type="http://schemas.openxmlformats.org/officeDocument/2006/relationships/slideLayout" Target="/ppt/slideLayouts/slideLayout1.xml" Id="R42557c96304242b8" /><Relationship Type="http://schemas.openxmlformats.org/officeDocument/2006/relationships/slideLayout" Target="/ppt/slideLayouts/slideLayout2.xml" Id="R9a266734cebd45a1" /><Relationship Type="http://schemas.openxmlformats.org/officeDocument/2006/relationships/slideLayout" Target="/ppt/slideLayouts/slideLayout3.xml" Id="R3e230681da5f47ca" /><Relationship Type="http://schemas.openxmlformats.org/officeDocument/2006/relationships/slideLayout" Target="/ppt/slideLayouts/slideLayout4.xml" Id="Rf0f32f1378cb4d38" /><Relationship Type="http://schemas.openxmlformats.org/officeDocument/2006/relationships/slideLayout" Target="/ppt/slideLayouts/slideLayout5.xml" Id="Rdc0a74a02d284356" /><Relationship Type="http://schemas.openxmlformats.org/officeDocument/2006/relationships/slideLayout" Target="/ppt/slideLayouts/slideLayout6.xml" Id="R2b116c95024742a9" /><Relationship Type="http://schemas.openxmlformats.org/officeDocument/2006/relationships/slideLayout" Target="/ppt/slideLayouts/slideLayout7.xml" Id="R17b4e7325e6741b9" /><Relationship Type="http://schemas.openxmlformats.org/officeDocument/2006/relationships/slideLayout" Target="/ppt/slideLayouts/slideLayout8.xml" Id="R1220a8738c6443cc" /><Relationship Type="http://schemas.openxmlformats.org/officeDocument/2006/relationships/slideLayout" Target="/ppt/slideLayouts/slideLayout9.xml" Id="R7334348ddd3b4996" /><Relationship Type="http://schemas.openxmlformats.org/officeDocument/2006/relationships/slideLayout" Target="/ppt/slideLayouts/slideLayout10.xml" Id="R8180483741384d02" /><Relationship Type="http://schemas.openxmlformats.org/officeDocument/2006/relationships/slideLayout" Target="/ppt/slideLayouts/slideLayout11.xml" Id="R316e4702ef0749f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A687CE0-E262-417E-9B19-4F8C927FC7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EFA3495-1370-4782-B89F-D6D9CD6823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B600C3-1759-4837-8E5D-A1D947BDBB4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D756F1A-F2CC-4652-ABD6-E4E8594C4F0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008E2A-53A5-48D8-9A56-22814A8ACD4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557c96304242b8"/>
    <p:sldLayoutId xmlns:r="http://schemas.openxmlformats.org/officeDocument/2006/relationships" id="2147483650" r:id="R9a266734cebd45a1"/>
    <p:sldLayoutId xmlns:r="http://schemas.openxmlformats.org/officeDocument/2006/relationships" id="2147483651" r:id="R3e230681da5f47ca"/>
    <p:sldLayoutId xmlns:r="http://schemas.openxmlformats.org/officeDocument/2006/relationships" id="2147483652" r:id="Rf0f32f1378cb4d38"/>
    <p:sldLayoutId xmlns:r="http://schemas.openxmlformats.org/officeDocument/2006/relationships" id="2147483653" r:id="Rdc0a74a02d284356"/>
    <p:sldLayoutId xmlns:r="http://schemas.openxmlformats.org/officeDocument/2006/relationships" id="2147483654" r:id="R2b116c95024742a9"/>
    <p:sldLayoutId xmlns:r="http://schemas.openxmlformats.org/officeDocument/2006/relationships" id="2147483655" r:id="R17b4e7325e6741b9"/>
    <p:sldLayoutId xmlns:r="http://schemas.openxmlformats.org/officeDocument/2006/relationships" id="2147483656" r:id="R1220a8738c6443cc"/>
    <p:sldLayoutId xmlns:r="http://schemas.openxmlformats.org/officeDocument/2006/relationships" id="2147483657" r:id="R7334348ddd3b4996"/>
    <p:sldLayoutId xmlns:r="http://schemas.openxmlformats.org/officeDocument/2006/relationships" id="2147483658" r:id="R8180483741384d02"/>
    <p:sldLayoutId xmlns:r="http://schemas.openxmlformats.org/officeDocument/2006/relationships" id="2147483659" r:id="R316e4702ef0749fb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17ef1166e3e444d" /><Relationship Type="http://schemas.openxmlformats.org/officeDocument/2006/relationships/image" Target="/ppt/media/image.jpeg" Id="R887ed43e353f489d" /><Relationship Type="http://schemas.openxmlformats.org/officeDocument/2006/relationships/image" Target="/ppt/media/image.svg" Id="Raef3ebdb1f0f417a" /><Relationship Type="http://schemas.openxmlformats.org/officeDocument/2006/relationships/image" Target="/ppt/media/image2.jpeg" Id="Rb5044b3c9c014bda" /><Relationship Type="http://schemas.openxmlformats.org/officeDocument/2006/relationships/image" Target="/ppt/media/image2.svg" Id="Rc9b5cd51baa34721" /><Relationship Type="http://schemas.openxmlformats.org/officeDocument/2006/relationships/image" Target="/ppt/media/image3.jpeg" Id="R5dae747f00d84691" /><Relationship Type="http://schemas.openxmlformats.org/officeDocument/2006/relationships/image" Target="/ppt/media/image3.svg" Id="Rfe101899ff2a4e6f" /><Relationship Type="http://schemas.openxmlformats.org/officeDocument/2006/relationships/notesSlide" Target="/ppt/notesSlides/notesSlide1.xml" Id="Rd7e843091b7947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86451a5e9d40de" /><Relationship Type="http://schemas.openxmlformats.org/officeDocument/2006/relationships/image" Target="/ppt/media/image4.jpeg" Id="Rfc74f6ebacb545a5" /><Relationship Type="http://schemas.openxmlformats.org/officeDocument/2006/relationships/image" Target="/ppt/media/image4.svg" Id="Rfc385f75f15647e9" /><Relationship Type="http://schemas.openxmlformats.org/officeDocument/2006/relationships/notesSlide" Target="/ppt/notesSlides/notesSlide2.xml" Id="R083e9a189bc545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6b8eb5d1ca414e" /><Relationship Type="http://schemas.openxmlformats.org/officeDocument/2006/relationships/image" Target="/ppt/media/image.jpeg" Id="Ra0b7b4dfac2342f8" /><Relationship Type="http://schemas.openxmlformats.org/officeDocument/2006/relationships/notesSlide" Target="/ppt/notesSlides/notesSlide3.xml" Id="R7e59d117283a43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d004007a9143d1" /><Relationship Type="http://schemas.openxmlformats.org/officeDocument/2006/relationships/notesSlide" Target="/ppt/notesSlides/notesSlide4.xml" Id="R7cc50e22e5fd4d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e1124821184c81" /><Relationship Type="http://schemas.openxmlformats.org/officeDocument/2006/relationships/image" Target="/ppt/media/image.jpeg" Id="R0134708dfb22422d" /><Relationship Type="http://schemas.openxmlformats.org/officeDocument/2006/relationships/notesSlide" Target="/ppt/notesSlides/notesSlide5.xml" Id="R5ccff9fe122d45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12c88f667d478e" /><Relationship Type="http://schemas.openxmlformats.org/officeDocument/2006/relationships/image" Target="/ppt/media/image.jpeg" Id="R07c64bba1bec442e" /><Relationship Type="http://schemas.openxmlformats.org/officeDocument/2006/relationships/notesSlide" Target="/ppt/notesSlides/notesSlide6.xml" Id="Rb31dd45b571a46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4252e4b42e4550" /><Relationship Type="http://schemas.openxmlformats.org/officeDocument/2006/relationships/notesSlide" Target="/ppt/notesSlides/notesSlide7.xml" Id="R7f56fe92f2824a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5c37d3c4394bdc" /><Relationship Type="http://schemas.openxmlformats.org/officeDocument/2006/relationships/image" Target="/ppt/media/image.jpeg" Id="Rb280778b0d9a4829" /><Relationship Type="http://schemas.openxmlformats.org/officeDocument/2006/relationships/notesSlide" Target="/ppt/notesSlides/notesSlide8.xml" Id="Rf54168be77b346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4eb6ad1fd44e18" /><Relationship Type="http://schemas.openxmlformats.org/officeDocument/2006/relationships/notesSlide" Target="/ppt/notesSlides/notesSlide9.xml" Id="Rb19b4acbe5d041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62e56985b14a59" /><Relationship Type="http://schemas.openxmlformats.org/officeDocument/2006/relationships/image" Target="/ppt/media/image5.jpeg" Id="R3939405af48e457a" /><Relationship Type="http://schemas.openxmlformats.org/officeDocument/2006/relationships/image" Target="/ppt/media/image5.svg" Id="Rf5797728e075495e" /><Relationship Type="http://schemas.openxmlformats.org/officeDocument/2006/relationships/notesSlide" Target="/ppt/notesSlides/notesSlide10.xml" Id="Rff96c3a607ab43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0235ab4c594717" /><Relationship Type="http://schemas.openxmlformats.org/officeDocument/2006/relationships/notesSlide" Target="/ppt/notesSlides/notesSlide11.xml" Id="R9cf9f4d479de4d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7fb35c95e547fb" /><Relationship Type="http://schemas.openxmlformats.org/officeDocument/2006/relationships/image" Target="/ppt/media/image.jpeg" Id="R6dc25ded5d0d41d8" /><Relationship Type="http://schemas.openxmlformats.org/officeDocument/2006/relationships/notesSlide" Target="/ppt/notesSlides/notesSlide12.xml" Id="Rca2d6fc428b54c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42f911b28c4869" /><Relationship Type="http://schemas.openxmlformats.org/officeDocument/2006/relationships/notesSlide" Target="/ppt/notesSlides/notesSlide13.xml" Id="R370206536f8d46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ea3dfc0e3e4233" /><Relationship Type="http://schemas.openxmlformats.org/officeDocument/2006/relationships/image" Target="/ppt/media/image2.jpeg" Id="R0e5193b898f14008" /><Relationship Type="http://schemas.openxmlformats.org/officeDocument/2006/relationships/notesSlide" Target="/ppt/notesSlides/notesSlide14.xml" Id="R6ba68f3c60ca46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faef8c348342ea" /><Relationship Type="http://schemas.openxmlformats.org/officeDocument/2006/relationships/image" Target="/ppt/media/image3.jpeg" Id="R7fe756f194f2413e" /><Relationship Type="http://schemas.openxmlformats.org/officeDocument/2006/relationships/image" Target="/ppt/media/image4.jpeg" Id="Rfcc3abc945dd4f48" /><Relationship Type="http://schemas.openxmlformats.org/officeDocument/2006/relationships/notesSlide" Target="/ppt/notesSlides/notesSlide15.xml" Id="Raea7f2d1da9c4f0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df0b1aa4bd4c98" /><Relationship Type="http://schemas.openxmlformats.org/officeDocument/2006/relationships/image" Target="/ppt/media/image2.jpeg" Id="R413246e50c074215" /><Relationship Type="http://schemas.openxmlformats.org/officeDocument/2006/relationships/notesSlide" Target="/ppt/notesSlides/notesSlide16.xml" Id="Re1c848dcba69453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7c4956682c419a" /><Relationship Type="http://schemas.openxmlformats.org/officeDocument/2006/relationships/image" Target="/ppt/media/image5.jpeg" Id="R2e73db8d80774c9c" /><Relationship Type="http://schemas.openxmlformats.org/officeDocument/2006/relationships/image" Target="/ppt/media/image6.jpeg" Id="R43b03d7bd6c34892" /><Relationship Type="http://schemas.openxmlformats.org/officeDocument/2006/relationships/notesSlide" Target="/ppt/notesSlides/notesSlide17.xml" Id="R101b820015474b6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f7ca331c204227" /><Relationship Type="http://schemas.openxmlformats.org/officeDocument/2006/relationships/image" Target="/ppt/media/image7.jpeg" Id="R1245422f75b0407c" /><Relationship Type="http://schemas.openxmlformats.org/officeDocument/2006/relationships/notesSlide" Target="/ppt/notesSlides/notesSlide18.xml" Id="Ra06afbb9c25c41b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093cb071734f48" /><Relationship Type="http://schemas.openxmlformats.org/officeDocument/2006/relationships/image" Target="/ppt/media/image8.jpeg" Id="R9d7991a6d3a2472d" /><Relationship Type="http://schemas.openxmlformats.org/officeDocument/2006/relationships/notesSlide" Target="/ppt/notesSlides/notesSlide19.xml" Id="R43c5500ef0fb484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1f236d333d4428" /><Relationship Type="http://schemas.openxmlformats.org/officeDocument/2006/relationships/notesSlide" Target="/ppt/notesSlides/notesSlide20.xml" Id="Rc2b0ff3554274bf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b33ab45b0f4fc6" /><Relationship Type="http://schemas.openxmlformats.org/officeDocument/2006/relationships/notesSlide" Target="/ppt/notesSlides/notesSlide21.xml" Id="Rd4033cf292714fd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99562fbf19426b" /><Relationship Type="http://schemas.openxmlformats.org/officeDocument/2006/relationships/notesSlide" Target="/ppt/notesSlides/notesSlide22.xml" Id="R0519f793d2c7462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0279296bb94609" /><Relationship Type="http://schemas.openxmlformats.org/officeDocument/2006/relationships/notesSlide" Target="/ppt/notesSlides/notesSlide23.xml" Id="R7b55615452b04b2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92bdadca6149bc" /><Relationship Type="http://schemas.openxmlformats.org/officeDocument/2006/relationships/image" Target="/ppt/media/image3.jpeg" Id="Rb5d4f4c4fef14f96" /><Relationship Type="http://schemas.openxmlformats.org/officeDocument/2006/relationships/image" Target="/ppt/media/image3.svg" Id="R136a5ecd93c7409e" /><Relationship Type="http://schemas.openxmlformats.org/officeDocument/2006/relationships/image" Target="/ppt/media/image6.svg" Id="R339aef68ee064d68" /><Relationship Type="http://schemas.openxmlformats.org/officeDocument/2006/relationships/image" Target="/ppt/media/image6.jpeg" Id="R082a48e38fd24edc" /><Relationship Type="http://schemas.openxmlformats.org/officeDocument/2006/relationships/notesSlide" Target="/ppt/notesSlides/notesSlide24.xml" Id="R78d8bd9d6f174825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000">
                <a:alpha val="100000"/>
              </a:srgbClr>
            </a:gs>
            <a:gs pos="100000">
              <a:srgbClr val="011000">
                <a:alpha val="100000"/>
              </a:srgbClr>
            </a:gs>
          </a:gsLst>
          <a:path path="circle">
            <a:fillToRect l="0" t="0" r="100000" b="100000"/>
          </a:path>
          <a:tileRect l="-100000" t="-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E4219D4-61D4-402D-98C2-699ED31F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3621">
            <a:off x="8935019" y="-1381196"/>
            <a:ext cx="13049392" cy="13049392"/>
          </a:xfrm>
          <a:custGeom xmlns:a="http://schemas.openxmlformats.org/drawingml/2006/main">
            <a:rect l="l" t="t" r="r" b="b"/>
            <a:pathLst>
              <a:path w="13049392" h="13049392">
                <a:moveTo>
                  <a:pt x="0" y="0"/>
                </a:moveTo>
                <a:lnTo>
                  <a:pt x="13049392" y="0"/>
                </a:lnTo>
                <a:lnTo>
                  <a:pt x="13049392" y="13049392"/>
                </a:lnTo>
                <a:lnTo>
                  <a:pt x="0" y="1304939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87ed43e353f489d">
              <a:alphaModFix amt="4000"/>
              <a:extLst>
                <a:ext uri="{96DAC541-7B7A-43D3-8B79-37D633B846F1}">
                  <asvg:svgBlip xmlns:asvg="http://schemas.microsoft.com/office/drawing/2016/SVG/main" r:embed="Raef3ebdb1f0f417a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C2ED51E-45DA-426C-B3D9-D7494EBD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3621">
            <a:off x="6803252" y="-978563"/>
            <a:ext cx="11656973" cy="12244127"/>
          </a:xfrm>
          <a:custGeom xmlns:a="http://schemas.openxmlformats.org/drawingml/2006/main">
            <a:rect l="l" t="t" r="r" b="b"/>
            <a:pathLst>
              <a:path w="11656973" h="12244127">
                <a:moveTo>
                  <a:pt x="0" y="0"/>
                </a:moveTo>
                <a:lnTo>
                  <a:pt x="11656973" y="0"/>
                </a:lnTo>
                <a:lnTo>
                  <a:pt x="11656973" y="12244126"/>
                </a:lnTo>
                <a:lnTo>
                  <a:pt x="0" y="122441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5044b3c9c014bda">
              <a:extLst>
                <a:ext uri="{96DAC541-7B7A-43D3-8B79-37D633B846F1}">
                  <asvg:svgBlip xmlns:asvg="http://schemas.microsoft.com/office/drawing/2016/SVG/main" r:embed="Rc9b5cd51baa34721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456F44E-9F0F-4B2E-9B65-93797545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13113"/>
            <a:ext cx="654141" cy="594674"/>
          </a:xfrm>
          <a:custGeom xmlns:a="http://schemas.openxmlformats.org/drawingml/2006/main">
            <a:rect l="l" t="t" r="r" b="b"/>
            <a:pathLst>
              <a:path w="654141" h="594674">
                <a:moveTo>
                  <a:pt x="0" y="0"/>
                </a:moveTo>
                <a:lnTo>
                  <a:pt x="654141" y="0"/>
                </a:lnTo>
                <a:lnTo>
                  <a:pt x="654141" y="594674"/>
                </a:lnTo>
                <a:lnTo>
                  <a:pt x="0" y="59467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dae747f00d84691">
              <a:extLst>
                <a:ext uri="{96DAC541-7B7A-43D3-8B79-37D633B846F1}">
                  <asvg:svgBlip xmlns:asvg="http://schemas.microsoft.com/office/drawing/2016/SVG/main" r:embed="Rfe101899ff2a4e6f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CB74246-8D61-415D-A405-CAAC9F03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92702"/>
            <a:ext cx="15887700" cy="27084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450000">
              <a:buNone/>
            </a:pPr>
            <a:r>
              <a:rPr sz="8800" b="1">
                <a:solidFill>
                  <a:srgbClr val="FFFFFF"/>
                </a:solidFill>
                <a:latin typeface="Garet Bold"/>
                <a:ea typeface="Garet Bold"/>
                <a:cs typeface="Garet Bold"/>
              </a:rPr>
              <a:t>AI-Powered Family Office Portfolio Dashboard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B915B17-08F9-4514-8706-8992F826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05" y="5051009"/>
            <a:ext cx="11633200" cy="9848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FFFFF"/>
                </a:solidFill>
                <a:latin typeface="Garet Bold"/>
                <a:ea typeface="Garet Bold"/>
                <a:cs typeface="Garet Bold"/>
              </a:rPr>
              <a:t>A Controlled Document-to-Portfolio Decision-Support Proof of Concept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41CF4399-C933-4223-895D-AC7C8BCD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565860"/>
            <a:ext cx="2803306" cy="975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2485"/>
              </a:lnSpc>
              <a:spcBef>
                <a:spcPct val="0"/>
              </a:spcBef>
              <a:buNone/>
            </a:pPr>
            <a:r>
              <a:rPr sz="2436">
                <a:solidFill>
                  <a:srgbClr val="FFFFFF"/>
                </a:solidFill>
                <a:latin typeface="Garet"/>
                <a:ea typeface="Garet"/>
                <a:cs typeface="Garet"/>
              </a:rPr>
              <a:t>Yang Shu</a:t>
            </a:r>
          </a:p>
          <a:p xmlns:a="http://schemas.openxmlformats.org/drawingml/2006/main">
            <a:pPr algn="l">
              <a:lnSpc>
                <a:spcPts val="2485"/>
              </a:lnSpc>
              <a:spcBef>
                <a:spcPct val="0"/>
              </a:spcBef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2485"/>
              </a:lnSpc>
              <a:spcBef>
                <a:spcPct val="0"/>
              </a:spcBef>
              <a:buNone/>
            </a:pPr>
            <a:r>
              <a:rPr sz="2436">
                <a:solidFill>
                  <a:srgbClr val="FFFFFF"/>
                </a:solidFill>
                <a:latin typeface="Garet"/>
                <a:ea typeface="Garet"/>
                <a:cs typeface="Garet"/>
              </a:rPr>
              <a:t>2026.7.29</a:t>
            </a:r>
          </a:p>
        </p:txBody>
      </p:sp>
    </p:spTree>
    <p:extLst>
      <p:ext uri="{BB962C8B-B14F-4D97-AF65-F5344CB8AC3E}">
        <p14:creationId xmlns:p14="http://schemas.microsoft.com/office/powerpoint/2010/main" val="197026090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000">
                <a:alpha val="100000"/>
              </a:srgbClr>
            </a:gs>
            <a:gs pos="100000">
              <a:srgbClr val="011000">
                <a:alpha val="100000"/>
              </a:srgbClr>
            </a:gs>
          </a:gsLst>
          <a:path path="circle">
            <a:fillToRect l="0" t="0" r="100000" b="100000"/>
          </a:path>
          <a:tileRect l="-100000" t="-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51A532C-DE2C-4515-8D0D-53BD2214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16134960" cy="9270268"/>
          </a:xfrm>
          <a:custGeom xmlns:a="http://schemas.openxmlformats.org/drawingml/2006/main">
            <a:rect l="l" t="t" r="r" b="b"/>
            <a:pathLst>
              <a:path w="16134960" h="9270268">
                <a:moveTo>
                  <a:pt x="0" y="0"/>
                </a:moveTo>
                <a:lnTo>
                  <a:pt x="16134960" y="0"/>
                </a:lnTo>
                <a:lnTo>
                  <a:pt x="16134960" y="9270268"/>
                </a:lnTo>
                <a:lnTo>
                  <a:pt x="0" y="92702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c74f6ebacb545a5">
              <a:extLst>
                <a:ext uri="{96DAC541-7B7A-43D3-8B79-37D633B846F1}">
                  <asvg:svgBlip xmlns:asvg="http://schemas.microsoft.com/office/drawing/2016/SVG/main" r:embed="Rfc385f75f15647e9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41931519-BD8C-434C-8F17-0840B7B2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23950"/>
            <a:ext cx="12949774" cy="763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5712"/>
              </a:lnSpc>
              <a:buNone/>
            </a:pPr>
            <a:r>
              <a:rPr sz="5600" b="1">
                <a:solidFill>
                  <a:srgbClr val="FFFFFF"/>
                </a:solidFill>
                <a:latin typeface="Garet Bold"/>
                <a:ea typeface="Garet Bold"/>
                <a:cs typeface="Garet Bold"/>
              </a:rPr>
              <a:t>Research question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FACF218A-BB32-4263-8D6B-D7FFEB7F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7128"/>
            <a:ext cx="16230600" cy="9326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33CC33"/>
                </a:solidFill>
                <a:latin typeface="Garet Bold"/>
                <a:ea typeface="Garet Bold"/>
                <a:cs typeface="Garet Bold"/>
              </a:rPr>
              <a:t>THE CORE PROBLEM IS NOT MISSING DATA. IT IS UNCONTROLLED DATA FLOW.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D26FF08C-51C1-4F26-8D05-3E38109F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3917"/>
            <a:ext cx="16230600" cy="14773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200">
                <a:solidFill>
                  <a:srgbClr val="FFFFFF"/>
                </a:solidFill>
                <a:latin typeface="Garet"/>
                <a:ea typeface="Garet"/>
                <a:cs typeface="Garet"/>
              </a:rPr>
              <a:t>How can a family office convert fragmented private-market documents into timely portfolio, liquidity, and risk information without allowing uncertain data to enter the official reporting state?</a:t>
            </a:r>
          </a:p>
        </p:txBody>
      </p:sp>
    </p:spTree>
    <p:extLst>
      <p:ext uri="{BB962C8B-B14F-4D97-AF65-F5344CB8AC3E}">
        <p14:creationId xmlns:p14="http://schemas.microsoft.com/office/powerpoint/2010/main" val="215812488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000">
                <a:alpha val="100000"/>
              </a:srgbClr>
            </a:gs>
            <a:gs pos="100000">
              <a:srgbClr val="011000">
                <a:alpha val="100000"/>
              </a:srgbClr>
            </a:gs>
          </a:gsLst>
          <a:path path="circle">
            <a:fillToRect l="0" t="0" r="100000" b="100000"/>
          </a:path>
          <a:tileRect l="-100000" t="-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7b4dfac2342f8"/>
          <a:srcRect xmlns:a="http://schemas.openxmlformats.org/drawingml/2006/main" l="38267" t="0" r="382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28700" y="1028700"/>
            <a:ext cx="4955302" cy="8229600"/>
          </a:xfrm>
          <a:prstGeom xmlns:a="http://schemas.openxmlformats.org/drawingml/2006/main" prst="rect">
            <a:avLst/>
          </a:prstGeom>
        </p:spPr>
      </p:pic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855B988B-D30B-422B-BE50-D8CB8CC5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5345" y="2515362"/>
            <a:ext cx="9983955" cy="14805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5712"/>
              </a:lnSpc>
              <a:buNone/>
            </a:pPr>
            <a:r>
              <a:rPr sz="2250" b="1">
                <a:solidFill>
                  <a:srgbClr val="FFFFFF"/>
                </a:solidFill>
                <a:latin typeface="Garet Bold"/>
                <a:ea typeface="Garet Bold"/>
                <a:cs typeface="Garet Bold"/>
              </a:rPr>
              <a:t>WHY THE MANUAL PROCESS BREAKS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19DB119-A4EF-445A-84AE-ED2D87E2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5345" y="4243578"/>
            <a:ext cx="9983955" cy="939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33CC33"/>
                </a:solidFill>
                <a:latin typeface="Garet Bold"/>
                <a:ea typeface="Garet Bold"/>
                <a:cs typeface="Garet Bold"/>
              </a:rPr>
              <a:t>DOCUMENTS ARE FRAGMENTED. DECISIONS CANNOT BE.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13B10385-49EB-45D4-A74D-2DAA760E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5345" y="5421249"/>
            <a:ext cx="9983955" cy="24456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solidFill>
                  <a:srgbClr val="FFFFFF"/>
                </a:solidFill>
                <a:latin typeface="Garet"/>
                <a:ea typeface="Garet"/>
                <a:cs typeface="Garet"/>
              </a:rPr>
              <a:t>Capital calls, distributions, statements, and newsletters arrive in different formats and on different schedules. Analysts re-key amounts and dates, reconcile spreadsheets, and rebuild reporting views. The result is slower reporting, more transcription risk, and weak lineage between a source PDF and a portfolio number.</a:t>
            </a:r>
          </a:p>
        </p:txBody>
      </p:sp>
    </p:spTree>
    <p:extLst>
      <p:ext uri="{BB962C8B-B14F-4D97-AF65-F5344CB8AC3E}">
        <p14:creationId xmlns:p14="http://schemas.microsoft.com/office/powerpoint/2010/main" val="16987220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BDC02DEB-150E-44F0-AE94-7B84B0C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08069"/>
            <a:ext cx="8291149" cy="21762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5712"/>
              </a:lnSpc>
              <a:buNone/>
            </a:pPr>
            <a:r>
              <a:rPr sz="225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 Bold"/>
                <a:ea typeface="Garet Bold"/>
                <a:cs typeface="Garet Bold"/>
              </a:rPr>
              <a:t>RESEARCH FINDINGS BECAME DESIGN PRINCIPLES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EBC941A-8834-4F38-8341-E9A1AB1F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STANDARDIZE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FD277E26-D71E-4011-85A2-35923E33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Manager-specific PDFs require document classification and type-specific schemas before extracted information can be compared or validated.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2FCE557-FC36-4C5C-8BC2-E936C018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02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CONTROL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5DAA96D-6E7E-46A7-9F28-1889057F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02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Ambiguous fields require repeatable validation and human review. Extraction alone must never authorize a financial update.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C8C1EA70-F1D0-410F-AAC7-6E113F84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304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TRACE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6DCCC72-E2A8-4DD1-8859-6989F73C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304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Booked cash, projected events, approved overlays, and blocked records must remain separate and traceable to the source document.</a:t>
            </a:r>
          </a:p>
        </p:txBody>
      </p:sp>
    </p:spTree>
    <p:extLst>
      <p:ext uri="{BB962C8B-B14F-4D97-AF65-F5344CB8AC3E}">
        <p14:creationId xmlns:p14="http://schemas.microsoft.com/office/powerpoint/2010/main" val="1952280529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000">
                <a:alpha val="100000"/>
              </a:srgbClr>
            </a:gs>
            <a:gs pos="100000">
              <a:srgbClr val="011000">
                <a:alpha val="100000"/>
              </a:srgbClr>
            </a:gs>
          </a:gsLst>
          <a:path path="circle">
            <a:fillToRect l="0" t="0" r="100000" b="100000"/>
          </a:path>
          <a:tileRect l="-100000" t="-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4708dfb22422d"/>
          <a:srcRect xmlns:a="http://schemas.openxmlformats.org/drawingml/2006/main" l="9255" t="0" r="92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28700" y="2439434"/>
            <a:ext cx="7878828" cy="3767871"/>
          </a:xfrm>
          <a:prstGeom xmlns:a="http://schemas.openxmlformats.org/drawingml/2006/main" prst="rect">
            <a:avLst/>
          </a:prstGeom>
        </p:spPr>
      </p:pic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860D6B6-652B-4CAC-ABA9-5EF32CF6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96939"/>
            <a:ext cx="16230600" cy="21762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712"/>
              </a:lnSpc>
              <a:buNone/>
            </a:pPr>
            <a:r>
              <a:rPr sz="2250" b="1">
                <a:solidFill>
                  <a:srgbClr val="FFFFFF"/>
                </a:solidFill>
                <a:latin typeface="Garet Bold"/>
                <a:ea typeface="Garet Bold"/>
                <a:cs typeface="Garet Bold"/>
              </a:rPr>
              <a:t>A SYNTHETIC PORTFOLIO BUILT TO REPRODUCE REAL REPORTING DEPENDENCIES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8B10DB7-8A3E-40C9-B762-FC40AB48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5565"/>
            <a:ext cx="7878828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33CC33"/>
                </a:solidFill>
                <a:latin typeface="Garet Bold"/>
                <a:ea typeface="Garet Bold"/>
                <a:cs typeface="Garet Bold"/>
              </a:rPr>
              <a:t>USD 750M MULTI-ASSET OFFICE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A077923-62EF-4111-B41B-F6418F33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117461"/>
            <a:ext cx="7878828" cy="2140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solidFill>
                  <a:srgbClr val="FFFFFF"/>
                </a:solidFill>
                <a:latin typeface="Garet"/>
                <a:ea typeface="Garet"/>
                <a:cs typeface="Garet"/>
              </a:rPr>
              <a:t>Singapore-based and USD-reporting, with public securities, private funds, hedge funds, cash, multiple entities, currencies, geographies, and long/short exposure.</a:t>
            </a:r>
          </a:p>
        </p:txBody>
      </p:sp>
      <p:pic>
        <p:nvPicPr>
          <p:cNvPr id="1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4708dfb22422d"/>
          <a:srcRect xmlns:a="http://schemas.openxmlformats.org/drawingml/2006/main" l="9255" t="0" r="92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380472" y="2439434"/>
            <a:ext cx="7878828" cy="3767871"/>
          </a:xfrm>
          <a:prstGeom xmlns:a="http://schemas.openxmlformats.org/drawingml/2006/main" prst="rect">
            <a:avLst/>
          </a:prstGeom>
        </p:spPr>
      </p:pic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6826CE42-71D2-479B-9FED-98842193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472" y="6425565"/>
            <a:ext cx="7878828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33CC33"/>
                </a:solidFill>
                <a:latin typeface="Garet Bold"/>
                <a:ea typeface="Garet Bold"/>
                <a:cs typeface="Garet Bold"/>
              </a:rPr>
              <a:t>PRIVATE-MARKET COMPLEXITY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1C36635-93D6-4F49-BDF0-64A0A331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472" y="7117461"/>
            <a:ext cx="7878828" cy="2140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solidFill>
                  <a:srgbClr val="FFFFFF"/>
                </a:solidFill>
                <a:latin typeface="Garet"/>
                <a:ea typeface="Garet"/>
                <a:cs typeface="Garet"/>
              </a:rPr>
              <a:t>Twenty-one funds, USD 500m commitments, USD 365m paid-in capital, USD 135m unfunded commitments, statement lags, and document-driven cash flows.</a:t>
            </a:r>
          </a:p>
        </p:txBody>
      </p:sp>
    </p:spTree>
    <p:extLst>
      <p:ext uri="{BB962C8B-B14F-4D97-AF65-F5344CB8AC3E}">
        <p14:creationId xmlns:p14="http://schemas.microsoft.com/office/powerpoint/2010/main" val="1863643609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000">
                <a:alpha val="100000"/>
              </a:srgbClr>
            </a:gs>
            <a:gs pos="100000">
              <a:srgbClr val="011000">
                <a:alpha val="100000"/>
              </a:srgbClr>
            </a:gs>
          </a:gsLst>
          <a:path path="circle">
            <a:fillToRect l="0" t="0" r="100000" b="100000"/>
          </a:path>
          <a:tileRect l="-100000" t="-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64bba1bec44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28700" y="2439434"/>
            <a:ext cx="7878828" cy="3767871"/>
          </a:xfrm>
          <a:prstGeom xmlns:a="http://schemas.openxmlformats.org/drawingml/2006/main" prst="rect">
            <a:avLst/>
          </a:prstGeom>
        </p:spPr>
      </p:pic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860D6B6-652B-4CAC-ABA9-5EF32CF6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96939"/>
            <a:ext cx="16230600" cy="21762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712"/>
              </a:lnSpc>
              <a:buNone/>
            </a:pPr>
            <a:r>
              <a:rPr sz="2250" b="1">
                <a:solidFill>
                  <a:srgbClr val="FFFFFF"/>
                </a:solidFill>
                <a:latin typeface="Garet Bold"/>
                <a:ea typeface="Garet Bold"/>
                <a:cs typeface="Garet Bold"/>
              </a:rPr>
              <a:t>THE PROJECT SEPARATES OFFICIAL PORTFOLIO STATE FROM NEW DOCUMENT EVENTS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8B10DB7-8A3E-40C9-B762-FC40AB48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5565"/>
            <a:ext cx="7878828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33CC33"/>
                </a:solidFill>
                <a:latin typeface="Garet Bold"/>
                <a:ea typeface="Garet Bold"/>
                <a:cs typeface="Garet Bold"/>
              </a:rPr>
              <a:t>30 APRIL OFFICIAL BASELINE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A077923-62EF-4111-B41B-F6418F33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117461"/>
            <a:ext cx="7878828" cy="2140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solidFill>
                  <a:srgbClr val="FFFFFF"/>
                </a:solidFill>
                <a:latin typeface="Garet"/>
                <a:ea typeface="Garet"/>
                <a:cs typeface="Garet"/>
              </a:rPr>
              <a:t>The official reporting cut-off remains locked. Booked portfolio values and cash balances are not silently restated by later documents.</a:t>
            </a:r>
          </a:p>
        </p:txBody>
      </p:sp>
      <p:pic>
        <p:nvPicPr>
          <p:cNvPr id="1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64bba1bec44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380472" y="2439434"/>
            <a:ext cx="7878828" cy="3767871"/>
          </a:xfrm>
          <a:prstGeom xmlns:a="http://schemas.openxmlformats.org/drawingml/2006/main" prst="rect">
            <a:avLst/>
          </a:prstGeom>
        </p:spPr>
      </p:pic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6826CE42-71D2-479B-9FED-98842193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472" y="6425565"/>
            <a:ext cx="7878828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33CC33"/>
                </a:solidFill>
                <a:latin typeface="Garet Bold"/>
                <a:ea typeface="Garet Bold"/>
                <a:cs typeface="Garet Bold"/>
              </a:rPr>
              <a:t>MAY APPROVED OVERLAY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1C36635-93D6-4F49-BDF0-64A0A331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472" y="7117461"/>
            <a:ext cx="7878828" cy="2140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solidFill>
                  <a:srgbClr val="FFFFFF"/>
                </a:solidFill>
                <a:latin typeface="Garet"/>
                <a:ea typeface="Garet"/>
                <a:cs typeface="Garet"/>
              </a:rPr>
              <a:t>Six May PDFs are processed as an overlay. Approved records can update decision views; needs-review and rejected records remain visible but blocked.</a:t>
            </a:r>
          </a:p>
        </p:txBody>
      </p:sp>
    </p:spTree>
    <p:extLst>
      <p:ext uri="{BB962C8B-B14F-4D97-AF65-F5344CB8AC3E}">
        <p14:creationId xmlns:p14="http://schemas.microsoft.com/office/powerpoint/2010/main" val="18636436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BDC02DEB-150E-44F0-AE94-7B84B0C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08069"/>
            <a:ext cx="8291149" cy="21762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5712"/>
              </a:lnSpc>
              <a:buNone/>
            </a:pPr>
            <a:r>
              <a:rPr sz="225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 Bold"/>
                <a:ea typeface="Garet Bold"/>
                <a:cs typeface="Garet Bold"/>
              </a:rPr>
              <a:t>SIX MOCK PDFS TEST DIFFERENT BUSINESS EFFECTS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EBC941A-8834-4F38-8341-E9A1AB1F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CASH EVENTS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FD277E26-D71E-4011-85A2-35923E33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Two capital calls and one distribution test due dates, amounts, funding obligations, distribution components, and liquidity effects.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2FCE557-FC36-4C5C-8BC2-E936C018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02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POSITION UPDATES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5DAA96D-6E7E-46A7-9F28-1889057F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02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Two capital-account statements test NAV roll-forward, commitments, paid-in capital, unfunded balances, and deliberate inconsistencies.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C8C1EA70-F1D0-410F-AAC7-6E113F84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304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COMMENTARY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6DCCC72-E2A8-4DD1-8859-6989F73C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304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One manager newsletter tests qualitative extraction and proves that approved narrative information can be applied without changing financial balances.</a:t>
            </a:r>
          </a:p>
        </p:txBody>
      </p:sp>
    </p:spTree>
    <p:extLst>
      <p:ext uri="{BB962C8B-B14F-4D97-AF65-F5344CB8AC3E}">
        <p14:creationId xmlns:p14="http://schemas.microsoft.com/office/powerpoint/2010/main" val="195228052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28079FB9-73C8-417F-ABDC-A82F1CC0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5345" y="2877312"/>
            <a:ext cx="9983955" cy="14508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5712"/>
              </a:lnSpc>
              <a:buNone/>
            </a:pPr>
            <a:r>
              <a:rPr sz="225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 Bold"/>
                <a:ea typeface="Garet Bold"/>
                <a:cs typeface="Garet Bold"/>
              </a:rPr>
              <a:t>END-TO-END SYSTEM DESIGN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4B5394B8-EFEA-4AFA-B883-933BD032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5345" y="3881628"/>
            <a:ext cx="9983955" cy="13990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DOCUMENT EVIDENCE BECOMES PORTFOLIO INFORMATION ONLY THROUGH A CONTROLLED GATE.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EC8C3F0-BB37-45DB-BFDA-E6F8CD09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5345" y="5059299"/>
            <a:ext cx="9983955" cy="24456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PDF intake → classification → schema-based extraction → structured JSON → validation rules → human review → approved-only updates → processed datasets → dashboard → public-proxy risk. Every stage persists evidence; no stage can silently bypass approval.</a:t>
            </a:r>
          </a:p>
        </p:txBody>
      </p:sp>
      <p:pic>
        <p:nvPicPr>
          <p:cNvPr id="1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0778b0d9a48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28700" y="1028700"/>
            <a:ext cx="4955302" cy="4032955"/>
          </a:xfrm>
          <a:prstGeom xmlns:a="http://schemas.openxmlformats.org/drawingml/2006/main" prst="rect">
            <a:avLst/>
          </a:prstGeom>
        </p:spPr>
      </p:pic>
      <p:pic>
        <p:nvPicPr>
          <p:cNvPr id="11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0778b0d9a48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28700" y="5225345"/>
            <a:ext cx="4955302" cy="40329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6413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BDC02DEB-150E-44F0-AE94-7B84B0C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08069"/>
            <a:ext cx="8291149" cy="14508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5712"/>
              </a:lnSpc>
              <a:buNone/>
            </a:pPr>
            <a:r>
              <a:rPr sz="225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 Bold"/>
                <a:ea typeface="Garet Bold"/>
                <a:cs typeface="Garet Bold"/>
              </a:rPr>
              <a:t>WHAT I DESIGNED AND COMPLETED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EBC941A-8834-4F38-8341-E9A1AB1F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RESEARCH &amp; SETTING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FD277E26-D71E-4011-85A2-35923E33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Defined the family-office reporting problem, research question, synthetic portfolio, reporting dates, and success criteria.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2FCE557-FC36-4C5C-8BC2-E936C018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02" y="3498396"/>
            <a:ext cx="5168996" cy="9326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DOCUMENT WORKFLOW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5DAA96D-6E7E-46A7-9F28-1889057F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02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Designed six mock PDFs and built classification, extraction, schemas, validation rules, review status, and approved-only update logic.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C8C1EA70-F1D0-410F-AAC7-6E113F84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304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DECISION PRODUCT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6DCCC72-E2A8-4DD1-8859-6989F73C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304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Built the Streamlit dashboard, public-proxy risk overlay, QA checks, automated tests, documentation, and repeatable demo workflow.</a:t>
            </a:r>
          </a:p>
        </p:txBody>
      </p:sp>
    </p:spTree>
    <p:extLst>
      <p:ext uri="{BB962C8B-B14F-4D97-AF65-F5344CB8AC3E}">
        <p14:creationId xmlns:p14="http://schemas.microsoft.com/office/powerpoint/2010/main" val="19522805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679BEFD1-E375-46E9-B2FC-AFDF778A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0064" y="1055514"/>
            <a:ext cx="7516734" cy="8202786"/>
          </a:xfrm>
          <a:custGeom xmlns:a="http://schemas.openxmlformats.org/drawingml/2006/main">
            <a:rect l="l" t="t" r="r" b="b"/>
            <a:pathLst>
              <a:path w="7516734" h="8202786">
                <a:moveTo>
                  <a:pt x="0" y="0"/>
                </a:moveTo>
                <a:lnTo>
                  <a:pt x="7516735" y="0"/>
                </a:lnTo>
                <a:lnTo>
                  <a:pt x="7516735" y="8202786"/>
                </a:lnTo>
                <a:lnTo>
                  <a:pt x="0" y="820278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939405af48e457a">
              <a:alphaModFix amt="42000"/>
              <a:extLst>
                <a:ext uri="{96DAC541-7B7A-43D3-8B79-37D633B846F1}">
                  <asvg:svgBlip xmlns:asvg="http://schemas.microsoft.com/office/drawing/2016/SVG/main" r:embed="Rf5797728e075495e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B35B2E30-B849-4B0C-896A-BEBDA665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7312"/>
            <a:ext cx="9983955" cy="14508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5712"/>
              </a:lnSpc>
              <a:buNone/>
            </a:pPr>
            <a:r>
              <a:rPr sz="225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 Bold"/>
                <a:ea typeface="Garet Bold"/>
                <a:cs typeface="Garet Bold"/>
              </a:rPr>
              <a:t>HUMAN REVIEW IS A CONTROL, NOT A FAILURE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031E8EA3-747D-4341-848C-1CBC2A4B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1628"/>
            <a:ext cx="9983955" cy="939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EXTRACTION PREPARES THE DECISION.</a:t>
            </a:r>
          </a:p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PEOPLE CONTROL THE STATE.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846C24BE-5507-4CD7-A7F8-18FD228A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59299"/>
            <a:ext cx="9983955" cy="24456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The validation layer checks required fields, aliases, dates, cash sufficiency, commitment consistency, distribution components, NAV roll-forward, and confidence. Records roll up to approved, needs review, or rejected. Only approved records can change portfolio state.</a:t>
            </a:r>
          </a:p>
        </p:txBody>
      </p:sp>
    </p:spTree>
    <p:extLst>
      <p:ext uri="{BB962C8B-B14F-4D97-AF65-F5344CB8AC3E}">
        <p14:creationId xmlns:p14="http://schemas.microsoft.com/office/powerpoint/2010/main" val="3256520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BDC02DEB-150E-44F0-AE94-7B84B0C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08069"/>
            <a:ext cx="8291149" cy="21762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5712"/>
              </a:lnSpc>
              <a:buNone/>
            </a:pPr>
            <a:r>
              <a:rPr sz="225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 Bold"/>
                <a:ea typeface="Garet Bold"/>
                <a:cs typeface="Garet Bold"/>
              </a:rPr>
              <a:t>SIX DOCUMENTS, THREE CONTROL OUTCOMES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EBC941A-8834-4F38-8341-E9A1AB1F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3 APPROVED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FD277E26-D71E-4011-85A2-35923E33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Harbor Peak distribution, Northstar PCAP, and Blue Horizon newsletter passed their required checks and entered the approved May overlay.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2FCE557-FC36-4C5C-8BC2-E936C018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02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2 NEEDS REVIEW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5DAA96D-6E7E-46A7-9F28-1889057F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02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Both capital calls remain blocked because commitment context and alias/missing-field exceptions require analyst resolution.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C8C1EA70-F1D0-410F-AAC7-6E113F84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304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1 REJECTED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6DCCC72-E2A8-4DD1-8859-6989F73C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304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LionRock PCAP fails the commitment/NAV consistency threshold and cannot enter portfolio state.</a:t>
            </a:r>
          </a:p>
        </p:txBody>
      </p:sp>
    </p:spTree>
    <p:extLst>
      <p:ext uri="{BB962C8B-B14F-4D97-AF65-F5344CB8AC3E}">
        <p14:creationId xmlns:p14="http://schemas.microsoft.com/office/powerpoint/2010/main" val="1952280529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000">
                <a:alpha val="100000"/>
              </a:srgbClr>
            </a:gs>
            <a:gs pos="100000">
              <a:srgbClr val="011000">
                <a:alpha val="100000"/>
              </a:srgbClr>
            </a:gs>
          </a:gsLst>
          <a:path path="circle">
            <a:fillToRect l="0" t="0" r="100000" b="100000"/>
          </a:path>
          <a:tileRect l="-100000" t="-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25ded5d0d41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28700" y="2439434"/>
            <a:ext cx="7878828" cy="3767871"/>
          </a:xfrm>
          <a:prstGeom xmlns:a="http://schemas.openxmlformats.org/drawingml/2006/main" prst="rect">
            <a:avLst/>
          </a:prstGeom>
        </p:spPr>
      </p:pic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860D6B6-652B-4CAC-ABA9-5EF32CF6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96939"/>
            <a:ext cx="16230600" cy="21762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712"/>
              </a:lnSpc>
              <a:buNone/>
            </a:pPr>
            <a:r>
              <a:rPr sz="2250" b="1">
                <a:solidFill>
                  <a:srgbClr val="FFFFFF"/>
                </a:solidFill>
                <a:latin typeface="Garet Bold"/>
                <a:ea typeface="Garet Bold"/>
                <a:cs typeface="Garet Bold"/>
              </a:rPr>
              <a:t>APPROVED INFORMATION CHANGES THE DASHBOARD; UNRESOLVED INFORMATION DOES NOT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8B10DB7-8A3E-40C9-B762-FC40AB48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5565"/>
            <a:ext cx="7878828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33CC33"/>
                </a:solidFill>
                <a:latin typeface="Garet Bold"/>
                <a:ea typeface="Garet Bold"/>
                <a:cs typeface="Garet Bold"/>
              </a:rPr>
              <a:t>PDF_003 + PDF_004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A077923-62EF-4111-B41B-F6418F33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117461"/>
            <a:ext cx="7878828" cy="2140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solidFill>
                  <a:srgbClr val="FFFFFF"/>
                </a:solidFill>
                <a:latin typeface="Garet"/>
                <a:ea typeface="Garet"/>
                <a:cs typeface="Garet"/>
              </a:rPr>
              <a:t>Harbor Peak adds a projected USD 3.1m distribution; Northstar PCAP updates the private-market position. Both effects remain source-linked.</a:t>
            </a:r>
          </a:p>
        </p:txBody>
      </p:sp>
      <p:pic>
        <p:nvPicPr>
          <p:cNvPr id="1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25ded5d0d41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380472" y="2439434"/>
            <a:ext cx="7878828" cy="3767871"/>
          </a:xfrm>
          <a:prstGeom xmlns:a="http://schemas.openxmlformats.org/drawingml/2006/main" prst="rect">
            <a:avLst/>
          </a:prstGeom>
        </p:spPr>
      </p:pic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6826CE42-71D2-479B-9FED-98842193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472" y="6425565"/>
            <a:ext cx="7878828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33CC33"/>
                </a:solidFill>
                <a:latin typeface="Garet Bold"/>
                <a:ea typeface="Garet Bold"/>
                <a:cs typeface="Garet Bold"/>
              </a:rPr>
              <a:t>PDF_002 + PDF_005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1C36635-93D6-4F49-BDF0-64A0A331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472" y="7117461"/>
            <a:ext cx="7878828" cy="2140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solidFill>
                  <a:srgbClr val="FFFFFF"/>
                </a:solidFill>
                <a:latin typeface="Garet"/>
                <a:ea typeface="Garet"/>
                <a:cs typeface="Garet"/>
              </a:rPr>
              <a:t>SeedSpring needs review and LionRock is rejected. Neither record changes cash, NAV, commitments, or projected approved capital calls.</a:t>
            </a:r>
          </a:p>
        </p:txBody>
      </p:sp>
    </p:spTree>
    <p:extLst>
      <p:ext uri="{BB962C8B-B14F-4D97-AF65-F5344CB8AC3E}">
        <p14:creationId xmlns:p14="http://schemas.microsoft.com/office/powerpoint/2010/main" val="1863643609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000">
                <a:alpha val="100000"/>
              </a:srgbClr>
            </a:gs>
            <a:gs pos="100000">
              <a:srgbClr val="011000">
                <a:alpha val="100000"/>
              </a:srgbClr>
            </a:gs>
          </a:gsLst>
          <a:path path="circle">
            <a:fillToRect l="0" t="0" r="100000" b="100000"/>
          </a:path>
          <a:tileRect l="-100000" t="-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303B748-E5F8-464C-A415-BF705058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3656278"/>
            <a:ext cx="16230600" cy="1202436"/>
          </a:xfrm>
          <a:custGeom xmlns:a="http://schemas.openxmlformats.org/drawingml/2006/main">
            <a:rect l="l" t="t" r="r" b="b"/>
            <a:pathLst>
              <a:path w="4274726" h="316691">
                <a:moveTo>
                  <a:pt x="0" y="0"/>
                </a:moveTo>
                <a:lnTo>
                  <a:pt x="4274726" y="0"/>
                </a:lnTo>
                <a:lnTo>
                  <a:pt x="4274726" y="316691"/>
                </a:lnTo>
                <a:lnTo>
                  <a:pt x="0" y="316691"/>
                </a:lnTo>
                <a:close/>
              </a:path>
            </a:pathLst>
          </a:custGeom>
          <a:ln xmlns:a="http://schemas.openxmlformats.org/drawingml/2006/main" w="38100">
            <a:solidFill>
              <a:srgbClr val="33CC3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BC73F11C-288D-4892-B250-0E2713E4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3873269"/>
            <a:ext cx="16230600" cy="98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54000" tIns="254000" rIns="254000" bIns="254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672"/>
              </a:lnSpc>
              <a:buNone/>
            </a:pPr>
            <a:r>
              <a:rPr sz="2250" b="1">
                <a:solidFill>
                  <a:srgbClr val="33CC33"/>
                </a:solidFill>
                <a:latin typeface="Garet Bold"/>
                <a:ea typeface="Garet Bold"/>
                <a:cs typeface="Garet Bold"/>
              </a:rPr>
              <a:t>26 / 26 DATA QA CHECKS PASSED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472B19F8-9A68-460C-9E4B-FDB6EF08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99157"/>
            <a:ext cx="12949774" cy="7566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712"/>
              </a:lnSpc>
              <a:buNone/>
            </a:pPr>
            <a:r>
              <a:rPr sz="5600" b="1">
                <a:solidFill>
                  <a:srgbClr val="FFFFFF"/>
                </a:solidFill>
                <a:latin typeface="Garet Bold"/>
                <a:ea typeface="Garet Bold"/>
                <a:cs typeface="Garet Bold"/>
              </a:rPr>
              <a:t>FINAL DELIVERY EVIDENCE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7A9359C5-3891-407B-BAF4-FCB963E7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5216271"/>
            <a:ext cx="16230600" cy="1202436"/>
          </a:xfrm>
          <a:custGeom xmlns:a="http://schemas.openxmlformats.org/drawingml/2006/main">
            <a:rect l="l" t="t" r="r" b="b"/>
            <a:pathLst>
              <a:path w="4274726" h="316691">
                <a:moveTo>
                  <a:pt x="0" y="0"/>
                </a:moveTo>
                <a:lnTo>
                  <a:pt x="4274726" y="0"/>
                </a:lnTo>
                <a:lnTo>
                  <a:pt x="4274726" y="316691"/>
                </a:lnTo>
                <a:lnTo>
                  <a:pt x="0" y="316691"/>
                </a:lnTo>
                <a:close/>
              </a:path>
            </a:pathLst>
          </a:custGeom>
          <a:ln xmlns:a="http://schemas.openxmlformats.org/drawingml/2006/main" w="38100">
            <a:solidFill>
              <a:srgbClr val="33CC3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ECE55B9-66C7-485D-A331-464E60A3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5433262"/>
            <a:ext cx="16230600" cy="98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54000" tIns="254000" rIns="254000" bIns="254000" anchor="ctr"/>
          <a:lstStyle xmlns:a="http://schemas.openxmlformats.org/drawingml/2006/main"/>
          <a:p xmlns:a="http://schemas.openxmlformats.org/drawingml/2006/main">
            <a:pPr algn="ctr">
              <a:lnSpc>
                <a:spcPts val="3672"/>
              </a:lnSpc>
              <a:buNone/>
            </a:pPr>
            <a:r>
              <a:rPr sz="3600" b="1">
                <a:solidFill>
                  <a:srgbClr val="33CC33"/>
                </a:solidFill>
                <a:latin typeface="Garet Bold"/>
                <a:ea typeface="Garet Bold"/>
                <a:cs typeface="Garet Bold"/>
              </a:rPr>
              <a:t>129 AUTOMATED TESTS PASSED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8C37C59-920C-4F6D-A8F2-438B4DEC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6780657"/>
            <a:ext cx="16230600" cy="1202436"/>
          </a:xfrm>
          <a:custGeom xmlns:a="http://schemas.openxmlformats.org/drawingml/2006/main">
            <a:rect l="l" t="t" r="r" b="b"/>
            <a:pathLst>
              <a:path w="4274726" h="316691">
                <a:moveTo>
                  <a:pt x="0" y="0"/>
                </a:moveTo>
                <a:lnTo>
                  <a:pt x="4274726" y="0"/>
                </a:lnTo>
                <a:lnTo>
                  <a:pt x="4274726" y="316691"/>
                </a:lnTo>
                <a:lnTo>
                  <a:pt x="0" y="316691"/>
                </a:lnTo>
                <a:close/>
              </a:path>
            </a:pathLst>
          </a:custGeom>
          <a:ln xmlns:a="http://schemas.openxmlformats.org/drawingml/2006/main" w="38100">
            <a:solidFill>
              <a:srgbClr val="33CC3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C10DFD78-7AC6-4CEB-BB13-A95854F3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6997648"/>
            <a:ext cx="16230600" cy="98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254000" tIns="254000" rIns="254000" bIns="254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672"/>
              </a:lnSpc>
              <a:buNone/>
            </a:pPr>
            <a:r>
              <a:rPr sz="3600" b="1">
                <a:solidFill>
                  <a:srgbClr val="33CC33"/>
                </a:solidFill>
                <a:latin typeface="Garet Bold"/>
                <a:ea typeface="Garet Bold"/>
                <a:cs typeface="Garet Bold"/>
              </a:rPr>
              <a:t>20 / 20 DEMO CHECKS · 3 APPLIED · 3 BLOCKED</a:t>
            </a:r>
          </a:p>
        </p:txBody>
      </p:sp>
    </p:spTree>
    <p:extLst>
      <p:ext uri="{BB962C8B-B14F-4D97-AF65-F5344CB8AC3E}">
        <p14:creationId xmlns:p14="http://schemas.microsoft.com/office/powerpoint/2010/main" val="173601360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EEF8D6C4-662F-4685-BF98-88D8C678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09799"/>
            <a:ext cx="16230600" cy="7566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5712"/>
              </a:lnSpc>
              <a:buNone/>
            </a:pPr>
            <a:r>
              <a:rPr sz="225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 Bold"/>
                <a:ea typeface="Garet Bold"/>
                <a:cs typeface="Garet Bold"/>
              </a:rPr>
              <a:t>DASHBOARD INFORMATION ARCHITECTURE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44F52158-3CC1-47AE-92E5-27BAFB68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961740"/>
            <a:ext cx="16230600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EVERY PAGE DECLARES ITS DATA-STATE BOUNDARY.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4DA3CE8E-8B4F-47A3-984E-524D0C41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727061"/>
            <a:ext cx="16230600" cy="15312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The dashboard separates the 30 April official baseline, the 31 May approved overlay, projected approved events, blocked documents, and the public-proxy risk overlay. Users can see what is official, what is newly approved, and what remains uncertain.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193b898f1400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028700" y="1028700"/>
            <a:ext cx="16230600" cy="426703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30679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000">
                <a:alpha val="100000"/>
              </a:srgbClr>
            </a:gs>
            <a:gs pos="100000">
              <a:srgbClr val="011000">
                <a:alpha val="100000"/>
              </a:srgbClr>
            </a:gs>
          </a:gsLst>
          <a:path path="circle">
            <a:fillToRect l="0" t="0" r="100000" b="100000"/>
          </a:path>
          <a:tileRect l="-100000" t="-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860D6B6-652B-4CAC-ABA9-5EF32CF6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96939"/>
            <a:ext cx="16230600" cy="7566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712"/>
              </a:lnSpc>
              <a:buNone/>
            </a:pPr>
            <a:r>
              <a:rPr sz="2250" b="1">
                <a:solidFill>
                  <a:srgbClr val="FFFFFF"/>
                </a:solidFill>
                <a:latin typeface="Garet Bold"/>
                <a:ea typeface="Garet Bold"/>
                <a:cs typeface="Garet Bold"/>
              </a:rPr>
              <a:t>OVERVIEW &amp; ASSET CLASS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8B10DB7-8A3E-40C9-B762-FC40AB48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5565"/>
            <a:ext cx="7878828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33CC33"/>
                </a:solidFill>
                <a:latin typeface="Garet Bold"/>
                <a:ea typeface="Garet Bold"/>
                <a:cs typeface="Garet Bold"/>
              </a:rPr>
              <a:t>PORTFOLIO STATE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A077923-62EF-4111-B41B-F6418F33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117461"/>
            <a:ext cx="7878828" cy="2140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solidFill>
                  <a:srgbClr val="FFFFFF"/>
                </a:solidFill>
                <a:latin typeface="Garet"/>
                <a:ea typeface="Garet"/>
                <a:cs typeface="Garet"/>
              </a:rPr>
              <a:t>Overview establishes the official baseline, approved overlay, external-market cut-off, AUM, applied updates, and staged-document status.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6826CE42-71D2-479B-9FED-98842193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472" y="6425565"/>
            <a:ext cx="7878828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33CC33"/>
                </a:solidFill>
                <a:latin typeface="Garet Bold"/>
                <a:ea typeface="Garet Bold"/>
                <a:cs typeface="Garet Bold"/>
              </a:rPr>
              <a:t>EXPOSURE STRUCTURE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1C36635-93D6-4F49-BDF0-64A0A331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472" y="7117461"/>
            <a:ext cx="7878828" cy="2140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solidFill>
                  <a:srgbClr val="FFFFFF"/>
                </a:solidFill>
                <a:latin typeface="Garet"/>
                <a:ea typeface="Garet"/>
                <a:cs typeface="Garet"/>
              </a:rPr>
              <a:t>Asset Class shows gross and net exposure, liquid assets, largest allocations, and change through time across long and short positioning.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756f194f241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028700" y="2439434"/>
            <a:ext cx="7878828" cy="3767871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3abc945dd4f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380472" y="2439434"/>
            <a:ext cx="7878828" cy="37678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64360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EEF8D6C4-662F-4685-BF98-88D8C678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09799"/>
            <a:ext cx="16230600" cy="7566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5712"/>
              </a:lnSpc>
              <a:buNone/>
            </a:pPr>
            <a:r>
              <a:rPr sz="225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 Bold"/>
                <a:ea typeface="Garet Bold"/>
                <a:cs typeface="Garet Bold"/>
              </a:rPr>
              <a:t>PUBLIC MARKETS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44F52158-3CC1-47AE-92E5-27BAFB68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961740"/>
            <a:ext cx="16230600" cy="9326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THE LIQUID SLEEVE CONNECTS HOLDINGS, EXPOSURE, AND REAL MARKET CONTEXT.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4DA3CE8E-8B4F-47A3-984E-524D0C41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727061"/>
            <a:ext cx="16230600" cy="15312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Public Markets combines portfolio weights, long/short exposure, sector and market-cap views, proxy mapping, performance, and drawdown. The page is market-linked but remains a monitoring overlay for synthetic holdings.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246e50c0742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028700" y="1028700"/>
            <a:ext cx="16230600" cy="426703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30679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000">
                <a:alpha val="100000"/>
              </a:srgbClr>
            </a:gs>
            <a:gs pos="100000">
              <a:srgbClr val="011000">
                <a:alpha val="100000"/>
              </a:srgbClr>
            </a:gs>
          </a:gsLst>
          <a:path path="circle">
            <a:fillToRect l="0" t="0" r="100000" b="100000"/>
          </a:path>
          <a:tileRect l="-100000" t="-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860D6B6-652B-4CAC-ABA9-5EF32CF6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96939"/>
            <a:ext cx="16230600" cy="7566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712"/>
              </a:lnSpc>
              <a:buNone/>
            </a:pPr>
            <a:r>
              <a:rPr sz="2250" b="1">
                <a:solidFill>
                  <a:srgbClr val="FFFFFF"/>
                </a:solidFill>
                <a:latin typeface="Garet Bold"/>
                <a:ea typeface="Garet Bold"/>
                <a:cs typeface="Garet Bold"/>
              </a:rPr>
              <a:t>PRIVATE MARKETS &amp; LIQUIDITY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8B10DB7-8A3E-40C9-B762-FC40AB48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25565"/>
            <a:ext cx="7878828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33CC33"/>
                </a:solidFill>
                <a:latin typeface="Garet Bold"/>
                <a:ea typeface="Garet Bold"/>
                <a:cs typeface="Garet Bold"/>
              </a:rPr>
              <a:t>PRIVATE-MARKET STATE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A077923-62EF-4111-B41B-F6418F33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117461"/>
            <a:ext cx="7878828" cy="2140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solidFill>
                  <a:srgbClr val="FFFFFF"/>
                </a:solidFill>
                <a:latin typeface="Garet"/>
                <a:ea typeface="Garet"/>
                <a:cs typeface="Garet"/>
              </a:rPr>
              <a:t>USD 356.9m NAV, USD 500m commitments, USD 365m paid-in, USD 135m unfunded, 21 funds, cash flows, statement lag, and manager commentary.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6826CE42-71D2-479B-9FED-98842193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472" y="6425565"/>
            <a:ext cx="7878828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33CC33"/>
                </a:solidFill>
                <a:latin typeface="Garet Bold"/>
                <a:ea typeface="Garet Bold"/>
                <a:cs typeface="Garet Bold"/>
              </a:rPr>
              <a:t>BOOKED VS PROJECTED CASH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1C36635-93D6-4F49-BDF0-64A0A331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472" y="7117461"/>
            <a:ext cx="7878828" cy="2140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solidFill>
                  <a:srgbClr val="FFFFFF"/>
                </a:solidFill>
                <a:latin typeface="Garet"/>
                <a:ea typeface="Garet"/>
                <a:cs typeface="Garet"/>
              </a:rPr>
              <a:t>USD 22.5m booked cash and USD 12m operating cash remain separate from the approved USD 3.1m projected distribution and blocked capital calls.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3db8d80774c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028700" y="2439434"/>
            <a:ext cx="7878828" cy="3767871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03d7bd6c348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380472" y="2439434"/>
            <a:ext cx="7878828" cy="37678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64360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EEF8D6C4-662F-4685-BF98-88D8C678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09799"/>
            <a:ext cx="16230600" cy="7566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712"/>
              </a:lnSpc>
              <a:buNone/>
            </a:pPr>
            <a:r>
              <a:rPr sz="225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 Bold"/>
                <a:ea typeface="Garet Bold"/>
                <a:cs typeface="Garet Bold"/>
              </a:rPr>
              <a:t>WORKFLOW &amp; CONTROLS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44F52158-3CC1-47AE-92E5-27BAFB68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961740"/>
            <a:ext cx="16230600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EVERY APPLIED OR BLOCKED UPDATE REMAINS EXPLAINABLE.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4DA3CE8E-8B4F-47A3-984E-524D0C41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727061"/>
            <a:ext cx="16230600" cy="15312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The page exposes extraction outputs, validation results, document status, review queue items, decisions, applied updates, and blocked records. It turns the workflow into audit evidence rather than a hidden backend process.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5422f75b040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028700" y="1028700"/>
            <a:ext cx="16230600" cy="426703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3067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EEF8D6C4-662F-4685-BF98-88D8C678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09799"/>
            <a:ext cx="16230600" cy="7566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712"/>
              </a:lnSpc>
              <a:buNone/>
            </a:pPr>
            <a:r>
              <a:rPr sz="225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 Bold"/>
                <a:ea typeface="Garet Bold"/>
                <a:cs typeface="Garet Bold"/>
              </a:rPr>
              <a:t>PUBLIC-PROXY RISK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44F52158-3CC1-47AE-92E5-27BAFB68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961740"/>
            <a:ext cx="16230600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REAL MARKET CONTEXT, WITH AN EXPLICIT MODEL BOUNDARY.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4DA3CE8E-8B4F-47A3-984E-524D0C41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727061"/>
            <a:ext cx="16230600" cy="15312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Thirty real proxy tickers support 36 mapped synthetic holdings, 11.3% annualized volatility, -21.7% maximum drawdown, a 1.22 Sharpe ratio, and five stress scenarios. It is directional monitoring—not a complete family-office risk engine.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991a6d3a247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028700" y="1028700"/>
            <a:ext cx="16230600" cy="426703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3067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BDC02DEB-150E-44F0-AE94-7B84B0C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08069"/>
            <a:ext cx="8291149" cy="14508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5712"/>
              </a:lnSpc>
              <a:buNone/>
            </a:pPr>
            <a:r>
              <a:rPr sz="225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 Bold"/>
                <a:ea typeface="Garet Bold"/>
                <a:cs typeface="Garet Bold"/>
              </a:rPr>
              <a:t>WHO THE SYSTEM SUPPORTS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EBC941A-8834-4F38-8341-E9A1AB1F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CIO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FD277E26-D71E-4011-85A2-35923E33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Review allocation, liquidity coverage, concentration, proxy risk, approved events, and unresolved uncertainty before making portfolio decisions.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2FCE557-FC36-4C5C-8BC2-E936C018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02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INVESTMENT ANALYST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5DAA96D-6E7E-46A7-9F28-1889057F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02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Trace fund-level NAV, commitments, cash flows, exposures, performance, proxy mapping, and manager commentary back to supporting evidence.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C8C1EA70-F1D0-410F-AAC7-6E113F84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304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OPS / FINANCE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6DCCC72-E2A8-4DD1-8859-6989F73C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304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Monitor intake, validation exceptions, review queues, approval status, applied updates, blocked records, and booked-versus-projected cash.</a:t>
            </a:r>
          </a:p>
        </p:txBody>
      </p:sp>
    </p:spTree>
    <p:extLst>
      <p:ext uri="{BB962C8B-B14F-4D97-AF65-F5344CB8AC3E}">
        <p14:creationId xmlns:p14="http://schemas.microsoft.com/office/powerpoint/2010/main" val="195228052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BDC02DEB-150E-44F0-AE94-7B84B0C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08069"/>
            <a:ext cx="8291149" cy="21762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5712"/>
              </a:lnSpc>
              <a:buNone/>
            </a:pPr>
            <a:r>
              <a:rPr sz="225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 Bold"/>
                <a:ea typeface="Garet Bold"/>
                <a:cs typeface="Garet Bold"/>
              </a:rPr>
              <a:t>WHY THE CONTROLLED WORKFLOW IS BETTER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EBC941A-8834-4F38-8341-E9A1AB1F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PREPARE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FD277E26-D71E-4011-85A2-35923E33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Replace repeated document reading and re-keying with standardized extraction into document-type schemas.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2FCE557-FC36-4C5C-8BC2-E936C018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02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CONTROL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5DAA96D-6E7E-46A7-9F28-1889057F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02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Apply repeatable checks and maker-checker review before any value can update portfolio or liquidity state.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C8C1EA70-F1D0-410F-AAC7-6E113F84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304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EXPLAIN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6DCCC72-E2A8-4DD1-8859-6989F73C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304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Feed approved data into consistent decision views while preserving source IDs, validation results, status, and update reasons.</a:t>
            </a:r>
          </a:p>
        </p:txBody>
      </p:sp>
    </p:spTree>
    <p:extLst>
      <p:ext uri="{BB962C8B-B14F-4D97-AF65-F5344CB8AC3E}">
        <p14:creationId xmlns:p14="http://schemas.microsoft.com/office/powerpoint/2010/main" val="195228052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BDC02DEB-150E-44F0-AE94-7B84B0C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08069"/>
            <a:ext cx="8291149" cy="14508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5712"/>
              </a:lnSpc>
              <a:buNone/>
            </a:pPr>
            <a:r>
              <a:rPr sz="225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 Bold"/>
                <a:ea typeface="Garet Bold"/>
                <a:cs typeface="Garet Bold"/>
              </a:rPr>
              <a:t>GOVERNANCE AND LIMITATIONS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EBC941A-8834-4F38-8341-E9A1AB1F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DATA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FD277E26-D71E-4011-85A2-35923E33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All family-office information is synthetic. Production use requires security architecture, permissions, encryption, retention, and audit controls.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2FCE557-FC36-4C5C-8BC2-E936C018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02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DECISIONS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5DAA96D-6E7E-46A7-9F28-1889057F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02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Human approval remains necessary for payment, valuation, reporting, and investment authority. The system is decision support, not autonomous posting.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C8C1EA70-F1D0-410F-AAC7-6E113F84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304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EVIDENCE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6DCCC72-E2A8-4DD1-8859-6989F73C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304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Proxy risk, deterministic extraction, and proof-of-concept QA demonstrate feasibility. Commercial ROI and production accuracy require a measured pilot.</a:t>
            </a:r>
          </a:p>
        </p:txBody>
      </p:sp>
    </p:spTree>
    <p:extLst>
      <p:ext uri="{BB962C8B-B14F-4D97-AF65-F5344CB8AC3E}">
        <p14:creationId xmlns:p14="http://schemas.microsoft.com/office/powerpoint/2010/main" val="195228052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BDC02DEB-150E-44F0-AE94-7B84B0C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08069"/>
            <a:ext cx="8291149" cy="14508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5712"/>
              </a:lnSpc>
              <a:buNone/>
            </a:pPr>
            <a:r>
              <a:rPr sz="225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 Bold"/>
                <a:ea typeface="Garet Bold"/>
                <a:cs typeface="Garet Bold"/>
              </a:rPr>
              <a:t>IMPLEMENTATION ROADMAP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EBC941A-8834-4F38-8341-E9A1AB1F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PILOT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FD277E26-D71E-4011-85A2-35923E33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Define owners, review roles, thresholds, benchmark documents, time savings, correction rates, and acceptance criteria.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2FCE557-FC36-4C5C-8BC2-E936C018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02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HARDEN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5DAA96D-6E7E-46A7-9F28-1889057F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02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Add approved source integrations, identity and access management, encryption, monitoring, retries, audit retention, and incident procedures.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C8C1EA70-F1D0-410F-AAC7-6E113F84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304" y="3498396"/>
            <a:ext cx="5168996" cy="482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3672"/>
              </a:lnSpc>
              <a:buNone/>
            </a:pPr>
            <a:r>
              <a:rPr sz="3600" b="1">
                <a:solidFill>
                  <a:srgbClr val="006000"/>
                </a:solidFill>
                <a:latin typeface="Garet Bold"/>
                <a:ea typeface="Garet Bold"/>
                <a:cs typeface="Garet Bold"/>
              </a:rPr>
              <a:t>EXPAND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6DCCC72-E2A8-4DD1-8859-6989F73C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304" y="4209342"/>
            <a:ext cx="5168996" cy="36648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448"/>
              </a:lnSpc>
              <a:buNone/>
            </a:pPr>
            <a:r>
              <a:rPr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011000">
                        <a:alpha val="100000"/>
                      </a:srgbClr>
                    </a:gs>
                  </a:gsLst>
                  <a:path path="circle">
                    <a:fillToRect l="0" t="0" r="100000" b="100000"/>
                  </a:path>
                  <a:tileRect l="-100000" t="-100000"/>
                </a:gradFill>
                <a:latin typeface="Garet"/>
                <a:ea typeface="Garet"/>
                <a:cs typeface="Garet"/>
              </a:rPr>
              <a:t>Add field-level model evaluation, accounting/PMS integration, richer private cash-flow forecasts, look-through exposure, and approved risk methodology.</a:t>
            </a:r>
          </a:p>
        </p:txBody>
      </p:sp>
    </p:spTree>
    <p:extLst>
      <p:ext uri="{BB962C8B-B14F-4D97-AF65-F5344CB8AC3E}">
        <p14:creationId xmlns:p14="http://schemas.microsoft.com/office/powerpoint/2010/main" val="1952280529"/>
      </p:ext>
    </p:extLst>
  </p:cSld>
</p:sld>
</file>

<file path=ppt/slides/slide2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0000">
                <a:alpha val="100000"/>
              </a:srgbClr>
            </a:gs>
            <a:gs pos="100000">
              <a:srgbClr val="011000">
                <a:alpha val="100000"/>
              </a:srgbClr>
            </a:gs>
          </a:gsLst>
          <a:path path="circle">
            <a:fillToRect l="0" t="0" r="100000" b="100000"/>
          </a:path>
          <a:tileRect l="-100000" t="-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88FC7BD-A14B-4007-91DB-E996395D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599" y="1270898"/>
            <a:ext cx="654141" cy="594674"/>
          </a:xfrm>
          <a:custGeom xmlns:a="http://schemas.openxmlformats.org/drawingml/2006/main">
            <a:rect l="l" t="t" r="r" b="b"/>
            <a:pathLst>
              <a:path w="654141" h="594674">
                <a:moveTo>
                  <a:pt x="0" y="0"/>
                </a:moveTo>
                <a:lnTo>
                  <a:pt x="654141" y="0"/>
                </a:lnTo>
                <a:lnTo>
                  <a:pt x="654141" y="594674"/>
                </a:lnTo>
                <a:lnTo>
                  <a:pt x="0" y="59467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5d4f4c4fef14f96">
              <a:extLst>
                <a:ext uri="{96DAC541-7B7A-43D3-8B79-37D633B846F1}">
                  <asvg:svgBlip xmlns:asvg="http://schemas.microsoft.com/office/drawing/2016/SVG/main" r:embed="R136a5ecd93c7409e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B68BD65-62D5-465E-9B00-86F4F4A0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0326" y="1855659"/>
            <a:ext cx="7727832" cy="6575683"/>
          </a:xfrm>
          <a:custGeom xmlns:a="http://schemas.openxmlformats.org/drawingml/2006/main">
            <a:rect l="l" t="t" r="r" b="b"/>
            <a:pathLst>
              <a:path w="7727832" h="6575683">
                <a:moveTo>
                  <a:pt x="0" y="0"/>
                </a:moveTo>
                <a:lnTo>
                  <a:pt x="7727832" y="0"/>
                </a:lnTo>
                <a:lnTo>
                  <a:pt x="7727832" y="6575682"/>
                </a:lnTo>
                <a:lnTo>
                  <a:pt x="0" y="657568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2a48e38fd24edc">
              <a:extLst>
                <a:ext uri="{96DAC541-7B7A-43D3-8B79-37D633B846F1}">
                  <asvg:svgBlip xmlns:asvg="http://schemas.microsoft.com/office/drawing/2016/SVG/main" r:embed="R339aef68ee064d68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C994D62D-82DF-415C-8673-30E45597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599" y="4891809"/>
            <a:ext cx="10238701" cy="36821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4244"/>
              </a:lnSpc>
              <a:buNone/>
            </a:pPr>
            <a:r>
              <a:rPr sz="13965" b="1">
                <a:solidFill>
                  <a:srgbClr val="FFFFFF"/>
                </a:solidFill>
                <a:latin typeface="Garet Bold"/>
                <a:ea typeface="Garet Bold"/>
                <a:cs typeface="Garet Bold"/>
              </a:rPr>
              <a:t>CONTROL THE FLOW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27C32E3-C9FB-4329-B0AC-6BCCBAC2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599" y="2223645"/>
            <a:ext cx="2803306" cy="3224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85"/>
              </a:lnSpc>
              <a:spcBef>
                <a:spcPct val="0"/>
              </a:spcBef>
              <a:buNone/>
            </a:pPr>
            <a:r>
              <a:rPr sz="2436">
                <a:solidFill>
                  <a:srgbClr val="FFFFFF"/>
                </a:solidFill>
                <a:latin typeface="Garet"/>
                <a:ea typeface="Garet"/>
                <a:cs typeface="Garet"/>
              </a:rPr>
              <a:t>AI-ENABLED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0B7A4395-9E5F-4FBB-9F53-307D41B8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599" y="2593677"/>
            <a:ext cx="2803306" cy="3224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85"/>
              </a:lnSpc>
              <a:spcBef>
                <a:spcPct val="0"/>
              </a:spcBef>
              <a:buNone/>
            </a:pPr>
            <a:r>
              <a:rPr sz="2436">
                <a:solidFill>
                  <a:srgbClr val="FFFFFF"/>
                </a:solidFill>
                <a:latin typeface="Garet"/>
                <a:ea typeface="Garet"/>
                <a:cs typeface="Garet"/>
              </a:rPr>
              <a:t>REPORTING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4BC96BA-3BA1-4A74-9BDD-29E66F94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599" y="8621567"/>
            <a:ext cx="5355695" cy="6367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ts val="2485"/>
              </a:lnSpc>
              <a:spcBef>
                <a:spcPct val="0"/>
              </a:spcBef>
              <a:buNone/>
            </a:pPr>
            <a:r>
              <a:rPr sz="2436">
                <a:solidFill>
                  <a:srgbClr val="FFFFFF"/>
                </a:solidFill>
                <a:latin typeface="Garet"/>
                <a:ea typeface="Garet"/>
                <a:cs typeface="Garet"/>
              </a:rPr>
              <a:t>AUTOMATE PREPARATION. PRESERVE HUMAN AUTHORITY.</a:t>
            </a:r>
          </a:p>
        </p:txBody>
      </p:sp>
    </p:spTree>
    <p:extLst>
      <p:ext uri="{BB962C8B-B14F-4D97-AF65-F5344CB8AC3E}">
        <p14:creationId xmlns:p14="http://schemas.microsoft.com/office/powerpoint/2010/main" val="28638869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2026-07-29T09:33:46.6550000Z</dcterms:created>
  <dcterms:modified xsi:type="dcterms:W3CDTF">2026-07-29T09:33:46.6550000Z</dcterms:modified>
</coreProperties>
</file>