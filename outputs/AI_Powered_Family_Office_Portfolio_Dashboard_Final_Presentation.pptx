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svg" ContentType="image/svg+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4564a382004d52" /><Relationship Type="http://schemas.openxmlformats.org/officeDocument/2006/relationships/extended-properties" Target="/docProps/app.xml" Id="R8700626e6f2145df" /><Relationship Type="http://schemas.openxmlformats.org/officeDocument/2006/relationships/officeDocument" Target="/ppt/presentation.xml" Id="Rbb6b8ee5b072458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f06d266d04c462a"/>
  </p:sldMasterIdLst>
  <p:notesMasterIdLst>
    <p:notesMasterId xmlns:r="http://schemas.openxmlformats.org/officeDocument/2006/relationships" r:id="R5d5b502f9a874713"/>
  </p:notesMasterIdLst>
  <p:sldIdLst>
    <p:sldId xmlns:r="http://schemas.openxmlformats.org/officeDocument/2006/relationships" id="256" r:id="Rd35506ab3a6e4e94"/>
    <p:sldId xmlns:r="http://schemas.openxmlformats.org/officeDocument/2006/relationships" id="257" r:id="R0ec097660d16455e"/>
    <p:sldId xmlns:r="http://schemas.openxmlformats.org/officeDocument/2006/relationships" id="258" r:id="Rcbf28543e72d45af"/>
    <p:sldId xmlns:r="http://schemas.openxmlformats.org/officeDocument/2006/relationships" id="259" r:id="R86db8f4f91734942"/>
    <p:sldId xmlns:r="http://schemas.openxmlformats.org/officeDocument/2006/relationships" id="260" r:id="Rd18cd96aba6f45d5"/>
    <p:sldId xmlns:r="http://schemas.openxmlformats.org/officeDocument/2006/relationships" id="261" r:id="Rd2350d6212aa492d"/>
    <p:sldId xmlns:r="http://schemas.openxmlformats.org/officeDocument/2006/relationships" id="262" r:id="Reb227b8c80424fb6"/>
    <p:sldId xmlns:r="http://schemas.openxmlformats.org/officeDocument/2006/relationships" id="263" r:id="Rddc217b78bdf4e11"/>
    <p:sldId xmlns:r="http://schemas.openxmlformats.org/officeDocument/2006/relationships" id="264" r:id="R4330d1a9b79545d3"/>
    <p:sldId xmlns:r="http://schemas.openxmlformats.org/officeDocument/2006/relationships" id="265" r:id="R48ef8a9f1b034cc0"/>
    <p:sldId xmlns:r="http://schemas.openxmlformats.org/officeDocument/2006/relationships" id="266" r:id="Rade5e222791e41f5"/>
  </p:sldIdLst>
  <p:sldSz cx="18288000" cy="10287000"/>
  <p:notesSz cx="6858000" cy="9144000"/>
  <p:embeddedFontLst>
    <p:embeddedFont>
      <p:font typeface="Garet"/>
      <p:regular xmlns:r="http://schemas.openxmlformats.org/officeDocument/2006/relationships" r:id="R489317efe77b4ee4"/>
    </p:embeddedFont>
    <p:embeddedFont>
      <p:font typeface="Garet Bold"/>
      <p:regular xmlns:r="http://schemas.openxmlformats.org/officeDocument/2006/relationships" r:id="Rf1aa5bb463da41f5"/>
      <p:bold xmlns:r="http://schemas.openxmlformats.org/officeDocument/2006/relationships" r:id="Rb37c6897a85c4a9f"/>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aa51acd2d7a41b3" /><Relationship Type="http://schemas.openxmlformats.org/officeDocument/2006/relationships/slideMaster" Target="/ppt/slideMasters/slideMaster1.xml" Id="R2f06d266d04c462a" /><Relationship Type="http://schemas.openxmlformats.org/officeDocument/2006/relationships/notesMaster" Target="/ppt/notesMasters/notesMaster1.xml" Id="R5d5b502f9a874713" /><Relationship Type="http://schemas.openxmlformats.org/officeDocument/2006/relationships/presProps" Target="/ppt/presProps.xml" Id="R81292b2c576b41b6" /><Relationship Type="http://schemas.openxmlformats.org/officeDocument/2006/relationships/viewProps" Target="/ppt/viewProps.xml" Id="R6259eb661969476b" /><Relationship Type="http://schemas.openxmlformats.org/officeDocument/2006/relationships/tableStyles" Target="/ppt/tableStyles.xml" Id="R85a97fcda6f9407c" /><Relationship Type="http://schemas.openxmlformats.org/officeDocument/2006/relationships/font" Target="/ppt/fonts/font.dat" Id="R489317efe77b4ee4" /><Relationship Type="http://schemas.openxmlformats.org/officeDocument/2006/relationships/font" Target="/ppt/fonts/font2.dat" Id="Rf1aa5bb463da41f5" /><Relationship Type="http://schemas.openxmlformats.org/officeDocument/2006/relationships/font" Target="/ppt/fonts/font3.dat" Id="Rb37c6897a85c4a9f" /><Relationship Type="http://schemas.openxmlformats.org/officeDocument/2006/relationships/slide" Target="/ppt/slides/slide1.xml" Id="Rd35506ab3a6e4e94" /><Relationship Type="http://schemas.openxmlformats.org/officeDocument/2006/relationships/slide" Target="/ppt/slides/slide2.xml" Id="R0ec097660d16455e" /><Relationship Type="http://schemas.openxmlformats.org/officeDocument/2006/relationships/slide" Target="/ppt/slides/slide3.xml" Id="Rcbf28543e72d45af" /><Relationship Type="http://schemas.openxmlformats.org/officeDocument/2006/relationships/slide" Target="/ppt/slides/slide4.xml" Id="R86db8f4f91734942" /><Relationship Type="http://schemas.openxmlformats.org/officeDocument/2006/relationships/slide" Target="/ppt/slides/slide5.xml" Id="Rd18cd96aba6f45d5" /><Relationship Type="http://schemas.openxmlformats.org/officeDocument/2006/relationships/slide" Target="/ppt/slides/slide6.xml" Id="Rd2350d6212aa492d" /><Relationship Type="http://schemas.openxmlformats.org/officeDocument/2006/relationships/slide" Target="/ppt/slides/slide7.xml" Id="Reb227b8c80424fb6" /><Relationship Type="http://schemas.openxmlformats.org/officeDocument/2006/relationships/slide" Target="/ppt/slides/slide8.xml" Id="Rddc217b78bdf4e11" /><Relationship Type="http://schemas.openxmlformats.org/officeDocument/2006/relationships/slide" Target="/ppt/slides/slide9.xml" Id="R4330d1a9b79545d3" /><Relationship Type="http://schemas.openxmlformats.org/officeDocument/2006/relationships/slide" Target="/ppt/slides/slide10.xml" Id="R48ef8a9f1b034cc0" /><Relationship Type="http://schemas.openxmlformats.org/officeDocument/2006/relationships/slide" Target="/ppt/slides/slide11.xml" Id="Rade5e222791e41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dff75d1ce0468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cd2ab3ab82641a8" /><Relationship Type="http://schemas.openxmlformats.org/officeDocument/2006/relationships/notesMaster" Target="/ppt/notesMasters/notesMaster1.xml" Id="Rff5c9ffabd8d41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6983e4388345ce" /><Relationship Type="http://schemas.openxmlformats.org/officeDocument/2006/relationships/notesMaster" Target="/ppt/notesMasters/notesMaster1.xml" Id="R2ace04ba47d74a4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018b0a19a8485c" /><Relationship Type="http://schemas.openxmlformats.org/officeDocument/2006/relationships/notesMaster" Target="/ppt/notesMasters/notesMaster1.xml" Id="R53b78d3631da4b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6d4e2a51a14757" /><Relationship Type="http://schemas.openxmlformats.org/officeDocument/2006/relationships/notesMaster" Target="/ppt/notesMasters/notesMaster1.xml" Id="Rcbd394b4970046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9ad257e5ca4c3e" /><Relationship Type="http://schemas.openxmlformats.org/officeDocument/2006/relationships/notesMaster" Target="/ppt/notesMasters/notesMaster1.xml" Id="R90a58a8368ee416b"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ff5340cde54dc2" /><Relationship Type="http://schemas.openxmlformats.org/officeDocument/2006/relationships/notesMaster" Target="/ppt/notesMasters/notesMaster1.xml" Id="R7cd6ae961d924a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1966637363439f" /><Relationship Type="http://schemas.openxmlformats.org/officeDocument/2006/relationships/notesMaster" Target="/ppt/notesMasters/notesMaster1.xml" Id="R4154d8ffce5044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70d92ff75574a74" /><Relationship Type="http://schemas.openxmlformats.org/officeDocument/2006/relationships/notesMaster" Target="/ppt/notesMasters/notesMaster1.xml" Id="R936ce104a9ba4e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5f0765336f4a85" /><Relationship Type="http://schemas.openxmlformats.org/officeDocument/2006/relationships/notesMaster" Target="/ppt/notesMasters/notesMaster1.xml" Id="R8edff68963c84e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e9ce3da90b46d0" /><Relationship Type="http://schemas.openxmlformats.org/officeDocument/2006/relationships/notesMaster" Target="/ppt/notesMasters/notesMaster1.xml" Id="Rda973422f35640d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15b7bdaf23c4d51" /><Relationship Type="http://schemas.openxmlformats.org/officeDocument/2006/relationships/notesMaster" Target="/ppt/notesMasters/notesMaster1.xml" Id="Re18f74a798af4f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fba248c1d2948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bb848943d0f44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fb1b12d1d76445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8b17e51a60435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5e36c08c5541b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433570cfac2444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189d3c4dbfd24d40"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e8647fff08244a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5fc4d3d7af340b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92a7577fc94482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0a1ab2a4c4f439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ED2D0C4-1047-49B4-BBC7-476438EFCE4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49D4E35-8F41-4397-8016-B99F41BC2446}"/>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F0F3CE85-80B8-4DE5-A60D-E847F3326B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C035DBB3-CDC9-4600-94E8-75763451F59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A04E2A6-DD2D-4C79-9973-1A67A971A13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2C219EC-6D59-4FE7-B683-3A9E49460C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7911B8E-C6F0-485B-AAF0-B021FE2903F3}"/>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C7E55687-7D6E-4347-B054-98AA805CD75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1CD5FE8C-08AE-4EEE-8824-80BC7D9AD13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F75E59AD-AC73-4C88-A41E-0D907F5D65D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67EE0D0-8B2F-4264-A90F-E9E072B2607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77F13D4-066C-4290-9516-39E9AF6D4479}"/>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E854779-4C53-482F-BC73-2E7299D109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0A93EF65-3A60-46BD-B224-AE4DBF6F18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E56466AE-92D5-413F-9312-F3DE662E55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29CE279-A5AD-43EB-A377-BC8058A23C3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BE98C14-C7C2-4B7F-A7FB-4B6B81702DF9}"/>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Content Placeholder 3">
            <a:extLst xmlns:a="http://schemas.openxmlformats.org/drawingml/2006/main">
              <a:ext uri="{FF2B5EF4-FFF2-40B4-BE49-F238E27FC236}">
                <a16:creationId xmlns:a16="http://schemas.microsoft.com/office/drawing/2014/main" id="{2BE72289-8240-4A81-8FE1-FE381E57C459}"/>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Date Placeholder 4">
            <a:extLst xmlns:a="http://schemas.openxmlformats.org/drawingml/2006/main">
              <a:ext uri="{FF2B5EF4-FFF2-40B4-BE49-F238E27FC236}">
                <a16:creationId xmlns:a16="http://schemas.microsoft.com/office/drawing/2014/main" id="{B8F0DB94-BE67-4066-98E2-08BA6945F67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6" name="Footer Placeholder 5">
            <a:extLst xmlns:a="http://schemas.openxmlformats.org/drawingml/2006/main">
              <a:ext uri="{FF2B5EF4-FFF2-40B4-BE49-F238E27FC236}">
                <a16:creationId xmlns:a16="http://schemas.microsoft.com/office/drawing/2014/main" id="{79DF1A30-46F4-4ABC-AC65-78F244869D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FC069C94-F34D-449B-847A-71A372542D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3403AD4-D27B-4773-B8BE-5E1A53B9DF7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0C72F20-9719-49EF-973A-EB154BFA7FC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01CC264A-6E36-4927-A0FF-8D3CD71ED857}"/>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5" name="Text Placeholder 4">
            <a:extLst xmlns:a="http://schemas.openxmlformats.org/drawingml/2006/main">
              <a:ext uri="{FF2B5EF4-FFF2-40B4-BE49-F238E27FC236}">
                <a16:creationId xmlns:a16="http://schemas.microsoft.com/office/drawing/2014/main" id="{63F179F0-784E-4BFD-8D29-73C27D964C31}"/>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51884C34-9342-4698-91ED-2150A1F275A1}"/>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7" name="Date Placeholder 6">
            <a:extLst xmlns:a="http://schemas.openxmlformats.org/drawingml/2006/main">
              <a:ext uri="{FF2B5EF4-FFF2-40B4-BE49-F238E27FC236}">
                <a16:creationId xmlns:a16="http://schemas.microsoft.com/office/drawing/2014/main" id="{C35FF9C4-B2C9-4EB4-ADB0-150177154E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8" name="Footer Placeholder 7">
            <a:extLst xmlns:a="http://schemas.openxmlformats.org/drawingml/2006/main">
              <a:ext uri="{FF2B5EF4-FFF2-40B4-BE49-F238E27FC236}">
                <a16:creationId xmlns:a16="http://schemas.microsoft.com/office/drawing/2014/main" id="{8C40FB6B-7B51-48B8-B906-03833D4DF3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FBCFFEEA-B453-47A9-8FB2-036F4A1B3E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C4A8CB4-BB67-4CCF-AA89-9F99126375A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FA01DD1A-8083-4EF0-8468-C1FD7E65C5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4" name="Footer Placeholder 3">
            <a:extLst xmlns:a="http://schemas.openxmlformats.org/drawingml/2006/main">
              <a:ext uri="{FF2B5EF4-FFF2-40B4-BE49-F238E27FC236}">
                <a16:creationId xmlns:a16="http://schemas.microsoft.com/office/drawing/2014/main" id="{C233406E-2F6B-4D22-BB25-0807D100B5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12F0A5C2-0EC4-47EF-B074-6D4CEB1A07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730985F-B22F-491E-8CAC-B58A02845D9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3" name="Footer Placeholder 2">
            <a:extLst xmlns:a="http://schemas.openxmlformats.org/drawingml/2006/main">
              <a:ext uri="{FF2B5EF4-FFF2-40B4-BE49-F238E27FC236}">
                <a16:creationId xmlns:a16="http://schemas.microsoft.com/office/drawing/2014/main" id="{6519F5A8-1FDE-4DC2-87BA-9E031CCD60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25694DB9-DDB7-41FB-9291-4530403415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79BAFD-7508-493D-B9B0-333A5499C05B}"/>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804E4FF-19C8-4CDE-BBFB-94B861910642}"/>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Text Placeholder 3">
            <a:extLst xmlns:a="http://schemas.openxmlformats.org/drawingml/2006/main">
              <a:ext uri="{FF2B5EF4-FFF2-40B4-BE49-F238E27FC236}">
                <a16:creationId xmlns:a16="http://schemas.microsoft.com/office/drawing/2014/main" id="{161D6F44-7D74-4875-9634-D1DBB7B3B5A2}"/>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D7078E0-013A-4809-99A3-5C82487A1B7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6" name="Footer Placeholder 5">
            <a:extLst xmlns:a="http://schemas.openxmlformats.org/drawingml/2006/main">
              <a:ext uri="{FF2B5EF4-FFF2-40B4-BE49-F238E27FC236}">
                <a16:creationId xmlns:a16="http://schemas.microsoft.com/office/drawing/2014/main" id="{0AC332CB-FEAE-4D19-A019-3007C43651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12587E8E-DC2D-45CE-9760-0EE1079C5A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410F1B7-BA0B-4D54-89B3-92B49954D981}"/>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5F3A30D7-150D-4D7B-BD4E-2A6A4D148472}"/>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C23B05B0-699A-46CB-9CB3-9A1AE72C2DE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680F1E9-6732-46A1-A592-F0D730157A4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6" name="Footer Placeholder 5">
            <a:extLst xmlns:a="http://schemas.openxmlformats.org/drawingml/2006/main">
              <a:ext uri="{FF2B5EF4-FFF2-40B4-BE49-F238E27FC236}">
                <a16:creationId xmlns:a16="http://schemas.microsoft.com/office/drawing/2014/main" id="{2F123FFA-E0B1-49A2-BF9D-92334028D8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05A6F62E-D859-459A-84B4-EA11A36498E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8F43BDF-6BCC-4582-BE89-EE2CDAD349A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164EDBCD-9EE8-4F63-A029-8174CBD0B688}"/>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F626D81E-7F93-44AB-ACB8-B8EE31B045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DC0A93CF-EE3D-44C6-919A-658EC952F7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D543D805-F059-49B4-9892-0F4B2AFDB1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ABEF8CF5-A211-4861-9994-4D319BA8E219}"/>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22EC991-2433-4C0A-B1FA-90DD760809A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1789D288-7122-43DB-886B-FBB451CFD1C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E6B3230F-91C0-4B88-8B41-C5CEB8E72F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9FF162D2-4179-4299-AB08-1CA7BE4D1CC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1892d7a85b4228" /><Relationship Type="http://schemas.openxmlformats.org/officeDocument/2006/relationships/slideLayout" Target="/ppt/slideLayouts/slideLayout1.xml" Id="R22e4e374bb5f43b4" /><Relationship Type="http://schemas.openxmlformats.org/officeDocument/2006/relationships/slideLayout" Target="/ppt/slideLayouts/slideLayout2.xml" Id="R583c7efff7e74f35" /><Relationship Type="http://schemas.openxmlformats.org/officeDocument/2006/relationships/slideLayout" Target="/ppt/slideLayouts/slideLayout3.xml" Id="R745d4de7e94d4603" /><Relationship Type="http://schemas.openxmlformats.org/officeDocument/2006/relationships/slideLayout" Target="/ppt/slideLayouts/slideLayout4.xml" Id="R8a677f45f37a4897" /><Relationship Type="http://schemas.openxmlformats.org/officeDocument/2006/relationships/slideLayout" Target="/ppt/slideLayouts/slideLayout5.xml" Id="R5d747ff721df42a0" /><Relationship Type="http://schemas.openxmlformats.org/officeDocument/2006/relationships/slideLayout" Target="/ppt/slideLayouts/slideLayout6.xml" Id="R1eb7896b3d8640e6" /><Relationship Type="http://schemas.openxmlformats.org/officeDocument/2006/relationships/slideLayout" Target="/ppt/slideLayouts/slideLayout7.xml" Id="R65987711348a4a3f" /><Relationship Type="http://schemas.openxmlformats.org/officeDocument/2006/relationships/slideLayout" Target="/ppt/slideLayouts/slideLayout8.xml" Id="R2fd8bc77b29c44d4" /><Relationship Type="http://schemas.openxmlformats.org/officeDocument/2006/relationships/slideLayout" Target="/ppt/slideLayouts/slideLayout9.xml" Id="Radb7f618cedb4ba9" /><Relationship Type="http://schemas.openxmlformats.org/officeDocument/2006/relationships/slideLayout" Target="/ppt/slideLayouts/slideLayout10.xml" Id="R2a4c2815b05847e5" /><Relationship Type="http://schemas.openxmlformats.org/officeDocument/2006/relationships/slideLayout" Target="/ppt/slideLayouts/slideLayout11.xml" Id="R136a80b7fd06488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9A267B7B-7CD8-4DBC-9C9C-A8C3CBDEB2B5}"/>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B7AF7AB-6F80-4414-A7BF-034BC16FE9B9}"/>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a:buNone/>
            </a:pPr>
            <a:r>
              <a:t>Click to edit Master text styles</a:t>
            </a:r>
          </a:p>
          <a:p xmlns:a="http://schemas.openxmlformats.org/drawingml/2006/main">
            <a:pPr>
              <a:buNone/>
            </a:pPr>
            <a:r>
              <a:t>Second level</a:t>
            </a:r>
          </a:p>
          <a:p xmlns:a="http://schemas.openxmlformats.org/drawingml/2006/main">
            <a:pPr>
              <a:buNone/>
            </a:pPr>
            <a:r>
              <a:t>Third level</a:t>
            </a:r>
          </a:p>
          <a:p xmlns:a="http://schemas.openxmlformats.org/drawingml/2006/main">
            <a:pPr>
              <a:buNone/>
            </a:pPr>
            <a:r>
              <a:t>Fourth level</a:t>
            </a:r>
          </a:p>
          <a:p xmlns:a="http://schemas.openxmlformats.org/drawingml/2006/main">
            <a:pPr>
              <a:buNone/>
            </a:pPr>
            <a:r>
              <a:t>Fifth level</a:t>
            </a:r>
          </a:p>
        </p:txBody>
      </p:sp>
      <p:sp>
        <p:nvSpPr>
          <p:cNvPr id="4" name="Date Placeholder 3">
            <a:extLst xmlns:a="http://schemas.openxmlformats.org/drawingml/2006/main">
              <a:ext uri="{FF2B5EF4-FFF2-40B4-BE49-F238E27FC236}">
                <a16:creationId xmlns:a16="http://schemas.microsoft.com/office/drawing/2014/main" id="{43BBDB0B-5D7E-4071-8265-18F253FC468C}"/>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5/27/26</a:t>
            </a:fld>
          </a:p>
        </p:txBody>
      </p:sp>
      <p:sp>
        <p:nvSpPr>
          <p:cNvPr id="5" name="Footer Placeholder 4">
            <a:extLst xmlns:a="http://schemas.openxmlformats.org/drawingml/2006/main">
              <a:ext uri="{FF2B5EF4-FFF2-40B4-BE49-F238E27FC236}">
                <a16:creationId xmlns:a16="http://schemas.microsoft.com/office/drawing/2014/main" id="{499A33AA-D809-4190-B0C6-E845C9343F05}"/>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870A5625-9ECB-45BE-AFA0-27D2905245F7}"/>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2e4e374bb5f43b4"/>
    <p:sldLayoutId xmlns:r="http://schemas.openxmlformats.org/officeDocument/2006/relationships" id="2147483650" r:id="R583c7efff7e74f35"/>
    <p:sldLayoutId xmlns:r="http://schemas.openxmlformats.org/officeDocument/2006/relationships" id="2147483651" r:id="R745d4de7e94d4603"/>
    <p:sldLayoutId xmlns:r="http://schemas.openxmlformats.org/officeDocument/2006/relationships" id="2147483652" r:id="R8a677f45f37a4897"/>
    <p:sldLayoutId xmlns:r="http://schemas.openxmlformats.org/officeDocument/2006/relationships" id="2147483653" r:id="R5d747ff721df42a0"/>
    <p:sldLayoutId xmlns:r="http://schemas.openxmlformats.org/officeDocument/2006/relationships" id="2147483654" r:id="R1eb7896b3d8640e6"/>
    <p:sldLayoutId xmlns:r="http://schemas.openxmlformats.org/officeDocument/2006/relationships" id="2147483655" r:id="R65987711348a4a3f"/>
    <p:sldLayoutId xmlns:r="http://schemas.openxmlformats.org/officeDocument/2006/relationships" id="2147483656" r:id="R2fd8bc77b29c44d4"/>
    <p:sldLayoutId xmlns:r="http://schemas.openxmlformats.org/officeDocument/2006/relationships" id="2147483657" r:id="Radb7f618cedb4ba9"/>
    <p:sldLayoutId xmlns:r="http://schemas.openxmlformats.org/officeDocument/2006/relationships" id="2147483658" r:id="R2a4c2815b05847e5"/>
    <p:sldLayoutId xmlns:r="http://schemas.openxmlformats.org/officeDocument/2006/relationships" id="2147483659" r:id="R136a80b7fd06488b"/>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df47a7f11d844ef5" /><Relationship Type="http://schemas.openxmlformats.org/officeDocument/2006/relationships/image" Target="/ppt/media/image.jpeg" Id="Rf32fabd1e38e421a" /><Relationship Type="http://schemas.openxmlformats.org/officeDocument/2006/relationships/image" Target="/ppt/media/image.svg" Id="R053c9b01673e4883" /><Relationship Type="http://schemas.openxmlformats.org/officeDocument/2006/relationships/image" Target="/ppt/media/image.png" Id="Ra2e0967afd4b4c59" /><Relationship Type="http://schemas.openxmlformats.org/officeDocument/2006/relationships/image" Target="/ppt/media/image2.svg" Id="Rb90e6a78afea43bd" /><Relationship Type="http://schemas.openxmlformats.org/officeDocument/2006/relationships/image" Target="/ppt/media/image2.png" Id="R4b2edb938c9744ad" /><Relationship Type="http://schemas.openxmlformats.org/officeDocument/2006/relationships/image" Target="/ppt/media/image3.svg" Id="R5585ec1951444a85" /><Relationship Type="http://schemas.openxmlformats.org/officeDocument/2006/relationships/notesSlide" Target="/ppt/notesSlides/notesSlide1.xml" Id="R3beac1d301a241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8aed0acbdac349d1" /><Relationship Type="http://schemas.openxmlformats.org/officeDocument/2006/relationships/image" Target="/ppt/media/image3.png" Id="R64583dc572de4b62" /><Relationship Type="http://schemas.openxmlformats.org/officeDocument/2006/relationships/image" Target="/ppt/media/image4.svg" Id="R888b37747d8448e9" /><Relationship Type="http://schemas.openxmlformats.org/officeDocument/2006/relationships/notesSlide" Target="/ppt/notesSlides/notesSlide2.xml" Id="R8ae6747a917848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912714245a7c4186" /><Relationship Type="http://schemas.openxmlformats.org/officeDocument/2006/relationships/image" Target="/ppt/media/image4.png" Id="R5983c3b9779047a9" /><Relationship Type="http://schemas.openxmlformats.org/officeDocument/2006/relationships/notesSlide" Target="/ppt/notesSlides/notesSlide3.xml" Id="R6073b8f888ad4e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2b49aee177b4467d" /><Relationship Type="http://schemas.openxmlformats.org/officeDocument/2006/relationships/notesSlide" Target="/ppt/notesSlides/notesSlide4.xml" Id="Re714a265f539424b"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466754e815b24ed0" /><Relationship Type="http://schemas.openxmlformats.org/officeDocument/2006/relationships/image" Target="/ppt/media/image.jpeg" Id="R8822073722b84ec4" /><Relationship Type="http://schemas.openxmlformats.org/officeDocument/2006/relationships/notesSlide" Target="/ppt/notesSlides/notesSlide5.xml" Id="Rd067babecc014698"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a3ae98edb7bf433b" /><Relationship Type="http://schemas.openxmlformats.org/officeDocument/2006/relationships/image" Target="/ppt/media/image.jpeg" Id="R1447b4f4dba045ca" /><Relationship Type="http://schemas.openxmlformats.org/officeDocument/2006/relationships/notesSlide" Target="/ppt/notesSlides/notesSlide6.xml" Id="R88e47e33317548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8840b755f61d4b9e" /><Relationship Type="http://schemas.openxmlformats.org/officeDocument/2006/relationships/image" Target="/ppt/media/image.jpeg" Id="R517b2328ee774469" /><Relationship Type="http://schemas.openxmlformats.org/officeDocument/2006/relationships/notesSlide" Target="/ppt/notesSlides/notesSlide7.xml" Id="Re7f12af0e8074c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fc7382721c174408" /><Relationship Type="http://schemas.openxmlformats.org/officeDocument/2006/relationships/image" Target="/ppt/media/image5.svg" Id="R78a80d56e41d4b9e" /><Relationship Type="http://schemas.openxmlformats.org/officeDocument/2006/relationships/image" Target="/ppt/media/image4.png" Id="R82477e42b5cf4c73" /><Relationship Type="http://schemas.openxmlformats.org/officeDocument/2006/relationships/notesSlide" Target="/ppt/notesSlides/notesSlide8.xml" Id="R78e25a79684045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4220f2984751465f" /><Relationship Type="http://schemas.openxmlformats.org/officeDocument/2006/relationships/image" Target="/ppt/media/image.jpeg" Id="R76e76c1dc7484d6c" /><Relationship Type="http://schemas.openxmlformats.org/officeDocument/2006/relationships/notesSlide" Target="/ppt/notesSlides/notesSlide9.xml" Id="Rbc66ada7f2c946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7e95fad799a7447e" /><Relationship Type="http://schemas.openxmlformats.org/officeDocument/2006/relationships/notesSlide" Target="/ppt/notesSlides/notesSlide10.xml" Id="Rbee71813521f4c0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fa0c3ba77ba64a55" /><Relationship Type="http://schemas.openxmlformats.org/officeDocument/2006/relationships/image" Target="/ppt/media/image2.png" Id="R30d1902eca0f4f20" /><Relationship Type="http://schemas.openxmlformats.org/officeDocument/2006/relationships/image" Target="/ppt/media/image3.svg" Id="R7c3bc2703fe54d95" /><Relationship Type="http://schemas.openxmlformats.org/officeDocument/2006/relationships/image" Target="/ppt/media/image5.png" Id="R2ba14b1f8af3492d" /><Relationship Type="http://schemas.openxmlformats.org/officeDocument/2006/relationships/image" Target="/ppt/media/image6.svg" Id="Redfe9cd436ee4bb6" /><Relationship Type="http://schemas.openxmlformats.org/officeDocument/2006/relationships/notesSlide" Target="/ppt/notesSlides/notesSlide11.xml" Id="R3faac8953928413e" /></Relationships>
</file>

<file path=ppt/slides/slide1.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62DE960E-D960-40EB-B3C3-3B0D720F78E7}"/>
              </a:ext>
            </a:extLst>
          </p:cNvPr>
          <p:cNvSpPr>
            <a:spLocks xmlns:a="http://schemas.openxmlformats.org/drawingml/2006/main" noGrp="1"/>
          </p:cNvSpPr>
          <p:nvPr/>
        </p:nvSpPr>
        <p:spPr>
          <a:xfrm xmlns:a="http://schemas.openxmlformats.org/drawingml/2006/main" rot="243621">
            <a:off x="8935019" y="-1381196"/>
            <a:ext cx="13049392" cy="13049392"/>
          </a:xfrm>
          <a:custGeom xmlns:a="http://schemas.openxmlformats.org/drawingml/2006/main">
            <a:rect l="l" t="t" r="r" b="b"/>
            <a:pathLst>
              <a:path w="13049392" h="13049392">
                <a:moveTo>
                  <a:pt x="0" y="0"/>
                </a:moveTo>
                <a:lnTo>
                  <a:pt x="13049392" y="0"/>
                </a:lnTo>
                <a:lnTo>
                  <a:pt x="13049392" y="13049392"/>
                </a:lnTo>
                <a:lnTo>
                  <a:pt x="0" y="13049392"/>
                </a:lnTo>
                <a:lnTo>
                  <a:pt x="0" y="0"/>
                </a:lnTo>
                <a:close/>
              </a:path>
            </a:pathLst>
          </a:custGeom>
          <a:blipFill xmlns:a="http://schemas.openxmlformats.org/drawingml/2006/main">
            <a:blip xmlns:r="http://schemas.openxmlformats.org/officeDocument/2006/relationships" r:embed="Rf32fabd1e38e421a">
              <a:alphaModFix amt="4000"/>
              <a:extLst>
                <a:ext uri="{96DAC541-7B7A-43D3-8B79-37D633B846F1}">
                  <asvg:svgBlip xmlns:asvg="http://schemas.microsoft.com/office/drawing/2016/SVG/main" r:embed="R053c9b01673e4883"/>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 name="Freeform 3">
            <a:extLst xmlns:a="http://schemas.openxmlformats.org/drawingml/2006/main">
              <a:ext uri="{FF2B5EF4-FFF2-40B4-BE49-F238E27FC236}">
                <a16:creationId xmlns:a16="http://schemas.microsoft.com/office/drawing/2014/main" id="{D27CBF71-753A-4AF1-A5AE-9C27F53EFBD8}"/>
              </a:ext>
            </a:extLst>
          </p:cNvPr>
          <p:cNvSpPr>
            <a:spLocks xmlns:a="http://schemas.openxmlformats.org/drawingml/2006/main" noGrp="1"/>
          </p:cNvSpPr>
          <p:nvPr/>
        </p:nvSpPr>
        <p:spPr>
          <a:xfrm xmlns:a="http://schemas.openxmlformats.org/drawingml/2006/main" rot="243621">
            <a:off x="6803252" y="-978563"/>
            <a:ext cx="11656973" cy="12244127"/>
          </a:xfrm>
          <a:custGeom xmlns:a="http://schemas.openxmlformats.org/drawingml/2006/main">
            <a:rect l="l" t="t" r="r" b="b"/>
            <a:pathLst>
              <a:path w="11656973" h="12244127">
                <a:moveTo>
                  <a:pt x="0" y="0"/>
                </a:moveTo>
                <a:lnTo>
                  <a:pt x="11656973" y="0"/>
                </a:lnTo>
                <a:lnTo>
                  <a:pt x="11656973" y="12244126"/>
                </a:lnTo>
                <a:lnTo>
                  <a:pt x="0" y="12244126"/>
                </a:lnTo>
                <a:lnTo>
                  <a:pt x="0" y="0"/>
                </a:lnTo>
                <a:close/>
              </a:path>
            </a:pathLst>
          </a:custGeom>
          <a:blipFill xmlns:a="http://schemas.openxmlformats.org/drawingml/2006/main">
            <a:blip xmlns:r="http://schemas.openxmlformats.org/officeDocument/2006/relationships" r:embed="Ra2e0967afd4b4c59">
              <a:extLst>
                <a:ext uri="{96DAC541-7B7A-43D3-8B79-37D633B846F1}">
                  <asvg:svgBlip xmlns:asvg="http://schemas.microsoft.com/office/drawing/2016/SVG/main" r:embed="Rb90e6a78afea43bd"/>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Freeform 4">
            <a:extLst xmlns:a="http://schemas.openxmlformats.org/drawingml/2006/main">
              <a:ext uri="{FF2B5EF4-FFF2-40B4-BE49-F238E27FC236}">
                <a16:creationId xmlns:a16="http://schemas.microsoft.com/office/drawing/2014/main" id="{EF22D6E3-11F3-43F7-AE5A-F772A94343BB}"/>
              </a:ext>
            </a:extLst>
          </p:cNvPr>
          <p:cNvSpPr>
            <a:spLocks xmlns:a="http://schemas.openxmlformats.org/drawingml/2006/main" noGrp="1"/>
          </p:cNvSpPr>
          <p:nvPr/>
        </p:nvSpPr>
        <p:spPr>
          <a:xfrm xmlns:a="http://schemas.openxmlformats.org/drawingml/2006/main">
            <a:off x="1028700" y="7613113"/>
            <a:ext cx="654141" cy="594674"/>
          </a:xfrm>
          <a:custGeom xmlns:a="http://schemas.openxmlformats.org/drawingml/2006/main">
            <a:rect l="l" t="t" r="r" b="b"/>
            <a:pathLst>
              <a:path w="654141" h="594674">
                <a:moveTo>
                  <a:pt x="0" y="0"/>
                </a:moveTo>
                <a:lnTo>
                  <a:pt x="654141" y="0"/>
                </a:lnTo>
                <a:lnTo>
                  <a:pt x="654141" y="594674"/>
                </a:lnTo>
                <a:lnTo>
                  <a:pt x="0" y="594674"/>
                </a:lnTo>
                <a:lnTo>
                  <a:pt x="0" y="0"/>
                </a:lnTo>
                <a:close/>
              </a:path>
            </a:pathLst>
          </a:custGeom>
          <a:blipFill xmlns:a="http://schemas.openxmlformats.org/drawingml/2006/main">
            <a:blip xmlns:r="http://schemas.openxmlformats.org/officeDocument/2006/relationships" r:embed="R4b2edb938c9744ad">
              <a:extLst>
                <a:ext uri="{96DAC541-7B7A-43D3-8B79-37D633B846F1}">
                  <asvg:svgBlip xmlns:asvg="http://schemas.microsoft.com/office/drawing/2016/SVG/main" r:embed="R5585ec1951444a8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5" name="TextBox 5">
            <a:extLst xmlns:a="http://schemas.openxmlformats.org/drawingml/2006/main">
              <a:ext uri="{FF2B5EF4-FFF2-40B4-BE49-F238E27FC236}">
                <a16:creationId xmlns:a16="http://schemas.microsoft.com/office/drawing/2014/main" id="{638CC22D-D2E8-4367-A5FB-9514301572AE}"/>
              </a:ext>
            </a:extLst>
          </p:cNvPr>
          <p:cNvSpPr>
            <a:spLocks xmlns:a="http://schemas.openxmlformats.org/drawingml/2006/main" noGrp="1"/>
          </p:cNvSpPr>
          <p:nvPr/>
        </p:nvSpPr>
        <p:spPr>
          <a:xfrm xmlns:a="http://schemas.openxmlformats.org/drawingml/2006/main">
            <a:off x="381000" y="1692702"/>
            <a:ext cx="15887700" cy="2708434"/>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pPr marL="450000">
              <a:buNone/>
            </a:pPr>
            <a:r>
              <a:rPr sz="8800" b="1">
                <a:solidFill>
                  <a:srgbClr val="FFFFFF"/>
                </a:solidFill>
                <a:latin typeface="Garet Bold"/>
                <a:ea typeface="Garet Bold"/>
                <a:cs typeface="Garet Bold"/>
              </a:rPr>
              <a:t>AI-Powered Family Office Portfolio Dashboard</a:t>
            </a:r>
          </a:p>
        </p:txBody>
      </p:sp>
      <p:sp>
        <p:nvSpPr>
          <p:cNvPr id="6" name="TextBox 6">
            <a:extLst xmlns:a="http://schemas.openxmlformats.org/drawingml/2006/main">
              <a:ext uri="{FF2B5EF4-FFF2-40B4-BE49-F238E27FC236}">
                <a16:creationId xmlns:a16="http://schemas.microsoft.com/office/drawing/2014/main" id="{77DE8DED-137E-47F5-B4B4-4495F6ED66AA}"/>
              </a:ext>
            </a:extLst>
          </p:cNvPr>
          <p:cNvSpPr>
            <a:spLocks xmlns:a="http://schemas.openxmlformats.org/drawingml/2006/main" noGrp="1"/>
          </p:cNvSpPr>
          <p:nvPr/>
        </p:nvSpPr>
        <p:spPr>
          <a:xfrm xmlns:a="http://schemas.openxmlformats.org/drawingml/2006/main">
            <a:off x="981605" y="5051009"/>
            <a:ext cx="11633200" cy="984885"/>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r>
              <a:rPr sz="3200" b="1">
                <a:solidFill>
                  <a:srgbClr val="FFFFFF"/>
                </a:solidFill>
                <a:latin typeface="Garet Bold"/>
                <a:ea typeface="Garet Bold"/>
                <a:cs typeface="Garet Bold"/>
              </a:rPr>
              <a:t>A Controlled Document-to-Dashboard Proof of Concept</a:t>
            </a:r>
          </a:p>
        </p:txBody>
      </p:sp>
      <p:sp>
        <p:nvSpPr>
          <p:cNvPr id="7" name="TextBox 7">
            <a:extLst xmlns:a="http://schemas.openxmlformats.org/drawingml/2006/main">
              <a:ext uri="{FF2B5EF4-FFF2-40B4-BE49-F238E27FC236}">
                <a16:creationId xmlns:a16="http://schemas.microsoft.com/office/drawing/2014/main" id="{A9A11399-6644-4923-B7CC-F0AE956DAE3B}"/>
              </a:ext>
            </a:extLst>
          </p:cNvPr>
          <p:cNvSpPr>
            <a:spLocks xmlns:a="http://schemas.openxmlformats.org/drawingml/2006/main" noGrp="1"/>
          </p:cNvSpPr>
          <p:nvPr/>
        </p:nvSpPr>
        <p:spPr>
          <a:xfrm xmlns:a="http://schemas.openxmlformats.org/drawingml/2006/main">
            <a:off x="1028700" y="8565860"/>
            <a:ext cx="2803306" cy="975332"/>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85"/>
              </a:lnSpc>
              <a:spcBef>
                <a:spcPct val="0"/>
              </a:spcBef>
              <a:buNone/>
            </a:pPr>
            <a:r>
              <a:rPr sz="2436">
                <a:solidFill>
                  <a:srgbClr val="FFFFFF"/>
                </a:solidFill>
                <a:latin typeface="Garet"/>
                <a:ea typeface="Garet"/>
                <a:cs typeface="Garet"/>
              </a:rPr>
              <a:t>Yang Shu</a:t>
            </a:r>
          </a:p>
          <a:p xmlns:a="http://schemas.openxmlformats.org/drawingml/2006/main">
            <a:pPr algn="l">
              <a:lnSpc>
                <a:spcPts val="2485"/>
              </a:lnSpc>
              <a:spcBef>
                <a:spcPct val="0"/>
              </a:spcBef>
              <a:buNone/>
            </a:pPr>
            <a:r>
              <a:t/>
            </a:r>
          </a:p>
          <a:p xmlns:a="http://schemas.openxmlformats.org/drawingml/2006/main">
            <a:pPr algn="l">
              <a:lnSpc>
                <a:spcPts val="2485"/>
              </a:lnSpc>
              <a:spcBef>
                <a:spcPct val="0"/>
              </a:spcBef>
              <a:buNone/>
            </a:pPr>
            <a:r>
              <a:rPr sz="2436">
                <a:solidFill>
                  <a:srgbClr val="FFFFFF"/>
                </a:solidFill>
                <a:latin typeface="Garet"/>
                <a:ea typeface="Garet"/>
                <a:cs typeface="Garet"/>
              </a:rPr>
              <a:t>2026.7.17</a:t>
            </a:r>
          </a:p>
        </p:txBody>
      </p:sp>
    </p:spTree>
    <p:extLst>
      <p:ext uri="{BB962C8B-B14F-4D97-AF65-F5344CB8AC3E}">
        <p14:creationId xmlns:p14="http://schemas.microsoft.com/office/powerpoint/2010/main" val="1792711874"/>
      </p:ext>
    </p:extLst>
  </p:cSld>
</p:sld>
</file>

<file path=ppt/slides/slide2.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22A39535-D2BB-4BFF-BED5-BEFE9ACD2E61}"/>
              </a:ext>
            </a:extLst>
          </p:cNvPr>
          <p:cNvSpPr>
            <a:spLocks xmlns:a="http://schemas.openxmlformats.org/drawingml/2006/main" noGrp="1"/>
          </p:cNvSpPr>
          <p:nvPr/>
        </p:nvSpPr>
        <p:spPr>
          <a:xfrm xmlns:a="http://schemas.openxmlformats.org/drawingml/2006/main">
            <a:off x="1028700" y="5143500"/>
            <a:ext cx="16134960" cy="9270268"/>
          </a:xfrm>
          <a:custGeom xmlns:a="http://schemas.openxmlformats.org/drawingml/2006/main">
            <a:rect l="l" t="t" r="r" b="b"/>
            <a:pathLst>
              <a:path w="16134960" h="9270268">
                <a:moveTo>
                  <a:pt x="0" y="0"/>
                </a:moveTo>
                <a:lnTo>
                  <a:pt x="16134960" y="0"/>
                </a:lnTo>
                <a:lnTo>
                  <a:pt x="16134960" y="9270268"/>
                </a:lnTo>
                <a:lnTo>
                  <a:pt x="0" y="9270268"/>
                </a:lnTo>
                <a:lnTo>
                  <a:pt x="0" y="0"/>
                </a:lnTo>
                <a:close/>
              </a:path>
            </a:pathLst>
          </a:custGeom>
          <a:blipFill xmlns:a="http://schemas.openxmlformats.org/drawingml/2006/main">
            <a:blip xmlns:r="http://schemas.openxmlformats.org/officeDocument/2006/relationships" r:embed="R64583dc572de4b62">
              <a:extLst>
                <a:ext uri="{96DAC541-7B7A-43D3-8B79-37D633B846F1}">
                  <asvg:svgBlip xmlns:asvg="http://schemas.microsoft.com/office/drawing/2016/SVG/main" r:embed="R888b37747d8448e9"/>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 name="TextBox 3">
            <a:extLst xmlns:a="http://schemas.openxmlformats.org/drawingml/2006/main">
              <a:ext uri="{FF2B5EF4-FFF2-40B4-BE49-F238E27FC236}">
                <a16:creationId xmlns:a16="http://schemas.microsoft.com/office/drawing/2014/main" id="{96D9C829-F6CE-402A-8404-50E95E07765C}"/>
              </a:ext>
            </a:extLst>
          </p:cNvPr>
          <p:cNvSpPr>
            <a:spLocks xmlns:a="http://schemas.openxmlformats.org/drawingml/2006/main" noGrp="1"/>
          </p:cNvSpPr>
          <p:nvPr/>
        </p:nvSpPr>
        <p:spPr>
          <a:xfrm xmlns:a="http://schemas.openxmlformats.org/drawingml/2006/main">
            <a:off x="1028700" y="1123950"/>
            <a:ext cx="12949774" cy="763671"/>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solidFill>
                  <a:srgbClr val="FFFFFF"/>
                </a:solidFill>
                <a:latin typeface="Garet Bold"/>
                <a:ea typeface="Garet Bold"/>
                <a:cs typeface="Garet Bold"/>
              </a:rPr>
              <a:t>Question statement</a:t>
            </a:r>
          </a:p>
        </p:txBody>
      </p:sp>
      <p:sp>
        <p:nvSpPr>
          <p:cNvPr id="4" name="TextBox 4">
            <a:extLst xmlns:a="http://schemas.openxmlformats.org/drawingml/2006/main">
              <a:ext uri="{FF2B5EF4-FFF2-40B4-BE49-F238E27FC236}">
                <a16:creationId xmlns:a16="http://schemas.microsoft.com/office/drawing/2014/main" id="{D3EBC1C8-9CE1-4A1C-A742-BD2BA1401167}"/>
              </a:ext>
            </a:extLst>
          </p:cNvPr>
          <p:cNvSpPr>
            <a:spLocks xmlns:a="http://schemas.openxmlformats.org/drawingml/2006/main" noGrp="1"/>
          </p:cNvSpPr>
          <p:nvPr/>
        </p:nvSpPr>
        <p:spPr>
          <a:xfrm xmlns:a="http://schemas.openxmlformats.org/drawingml/2006/main">
            <a:off x="1028700" y="2127128"/>
            <a:ext cx="16230600"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THE REAL CHALLENGE IS CONTROLLED DATA FLOW.</a:t>
            </a:r>
          </a:p>
        </p:txBody>
      </p:sp>
      <p:sp>
        <p:nvSpPr>
          <p:cNvPr id="5" name="TextBox 5">
            <a:extLst xmlns:a="http://schemas.openxmlformats.org/drawingml/2006/main">
              <a:ext uri="{FF2B5EF4-FFF2-40B4-BE49-F238E27FC236}">
                <a16:creationId xmlns:a16="http://schemas.microsoft.com/office/drawing/2014/main" id="{A05F3133-CFC4-4BF1-B646-C7961C8D2125}"/>
              </a:ext>
            </a:extLst>
          </p:cNvPr>
          <p:cNvSpPr>
            <a:spLocks xmlns:a="http://schemas.openxmlformats.org/drawingml/2006/main" noGrp="1"/>
          </p:cNvSpPr>
          <p:nvPr/>
        </p:nvSpPr>
        <p:spPr>
          <a:xfrm xmlns:a="http://schemas.openxmlformats.org/drawingml/2006/main">
            <a:off x="1028700" y="3103917"/>
            <a:ext cx="16230600" cy="147732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buNone/>
            </a:pPr>
            <a:r>
              <a:rPr sz="3200">
                <a:solidFill>
                  <a:srgbClr val="FFFFFF"/>
                </a:solidFill>
                <a:latin typeface="Garet"/>
                <a:ea typeface="Garet"/>
                <a:cs typeface="Garet"/>
              </a:rPr>
              <a:t>How can an AI-enabled workflow extract information from private-market documents, combine it with portfolio and market data, and support reporting, liquidity planning, and risk monitoring for a family office?</a:t>
            </a:r>
          </a:p>
        </p:txBody>
      </p:sp>
    </p:spTree>
    <p:extLst>
      <p:ext uri="{BB962C8B-B14F-4D97-AF65-F5344CB8AC3E}">
        <p14:creationId xmlns:p14="http://schemas.microsoft.com/office/powerpoint/2010/main" val="165161975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E9F689FB-52B5-46A8-800A-99BA124FD153}"/>
              </a:ext>
            </a:extLst>
          </p:cNvPr>
          <p:cNvSpPr>
            <a:spLocks xmlns:a="http://schemas.openxmlformats.org/drawingml/2006/main" noGrp="1"/>
          </p:cNvSpPr>
          <p:nvPr/>
        </p:nvSpPr>
        <p:spPr>
          <a:xfrm xmlns:a="http://schemas.openxmlformats.org/drawingml/2006/main" flipH="1">
            <a:off x="12313699" y="1028700"/>
            <a:ext cx="11948603" cy="8229600"/>
          </a:xfrm>
          <a:custGeom xmlns:a="http://schemas.openxmlformats.org/drawingml/2006/main">
            <a:rect l="l" t="t" r="r" b="b"/>
            <a:pathLst>
              <a:path w="11948603" h="8229600">
                <a:moveTo>
                  <a:pt x="11948602" y="0"/>
                </a:moveTo>
                <a:lnTo>
                  <a:pt x="0" y="0"/>
                </a:lnTo>
                <a:lnTo>
                  <a:pt x="0" y="8229600"/>
                </a:lnTo>
                <a:lnTo>
                  <a:pt x="11948602" y="8229600"/>
                </a:lnTo>
                <a:lnTo>
                  <a:pt x="11948602" y="0"/>
                </a:lnTo>
                <a:close/>
              </a:path>
            </a:pathLst>
          </a:custGeom>
          <a:blipFill xmlns:a="http://schemas.openxmlformats.org/drawingml/2006/main">
            <a:blip xmlns:r="http://schemas.openxmlformats.org/officeDocument/2006/relationships" r:embed="R5983c3b9779047a9"/>
            <a:stretch>
              <a:fillRect l="0" t="0" r="0" b="0"/>
            </a:stretch>
          </a:blipFill>
        </p:spPr>
        <p:txBody>
          <a:bodyPr xmlns:a="http://schemas.openxmlformats.org/drawingml/2006/main"/>
          <a:lstStyle xmlns:a="http://schemas.openxmlformats.org/drawingml/2006/main"/>
          <a:p xmlns:a="http://schemas.openxmlformats.org/drawingml/2006/main"/>
        </p:txBody>
      </p:sp>
      <p:sp>
        <p:nvSpPr>
          <p:cNvPr id="3" name="TextBox 3">
            <a:extLst xmlns:a="http://schemas.openxmlformats.org/drawingml/2006/main">
              <a:ext uri="{FF2B5EF4-FFF2-40B4-BE49-F238E27FC236}">
                <a16:creationId xmlns:a16="http://schemas.microsoft.com/office/drawing/2014/main" id="{305CC4FA-8F36-4553-915F-34477974B37C}"/>
              </a:ext>
            </a:extLst>
          </p:cNvPr>
          <p:cNvSpPr>
            <a:spLocks xmlns:a="http://schemas.openxmlformats.org/drawingml/2006/main" noGrp="1"/>
          </p:cNvSpPr>
          <p:nvPr/>
        </p:nvSpPr>
        <p:spPr>
          <a:xfrm xmlns:a="http://schemas.openxmlformats.org/drawingml/2006/main">
            <a:off x="1028700" y="3105912"/>
            <a:ext cx="9983955"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THE ANSWER</a:t>
            </a:r>
          </a:p>
        </p:txBody>
      </p:sp>
      <p:sp>
        <p:nvSpPr>
          <p:cNvPr id="4" name="TextBox 4">
            <a:extLst xmlns:a="http://schemas.openxmlformats.org/drawingml/2006/main">
              <a:ext uri="{FF2B5EF4-FFF2-40B4-BE49-F238E27FC236}">
                <a16:creationId xmlns:a16="http://schemas.microsoft.com/office/drawing/2014/main" id="{87EA9217-2132-43A3-A971-8087A430F7CA}"/>
              </a:ext>
            </a:extLst>
          </p:cNvPr>
          <p:cNvSpPr>
            <a:spLocks xmlns:a="http://schemas.openxmlformats.org/drawingml/2006/main" noGrp="1"/>
          </p:cNvSpPr>
          <p:nvPr/>
        </p:nvSpPr>
        <p:spPr>
          <a:xfrm xmlns:a="http://schemas.openxmlformats.org/drawingml/2006/main">
            <a:off x="1028700" y="4753772"/>
            <a:ext cx="10553700" cy="3341299"/>
          </a:xfrm>
          <a:prstGeom xmlns:a="http://schemas.openxmlformats.org/drawingml/2006/main" prst="rect">
            <a:avLst/>
          </a:prstGeom>
        </p:spPr>
        <p:txBody>
          <a:bodyPr xmlns:a="http://schemas.openxmlformats.org/drawingml/2006/main" wrap="square" lIns="0" tIns="0" rIns="0" bIns="0" anchor="t">
            <a:spAutoFit/>
          </a:bodyPr>
          <a:lstStyle xmlns:a="http://schemas.openxmlformats.org/drawingml/2006/main"/>
          <a:p xmlns:a="http://schemas.openxmlformats.org/drawingml/2006/main">
            <a:pPr>
              <a:lnSpc>
                <a:spcPts val="3672"/>
              </a:lnSpc>
              <a:buNone/>
            </a:pPr>
            <a:r>
              <a:rPr sz="4000" b="1">
                <a:solidFill>
                  <a:srgbClr val="006000"/>
                </a:solidFill>
                <a:latin typeface="Garet Bold"/>
                <a:ea typeface="Garet Bold"/>
                <a:cs typeface="Garet Bold"/>
              </a:rPr>
              <a:t>Build a traceable workflow: classify documents, extract structured fields, validate business rules, route exceptions to people, apply approved updates only, and surface both insights and controls in one dashboard.</a:t>
            </a:r>
          </a:p>
        </p:txBody>
      </p:sp>
    </p:spTree>
    <p:extLst>
      <p:ext uri="{BB962C8B-B14F-4D97-AF65-F5344CB8AC3E}">
        <p14:creationId xmlns:p14="http://schemas.microsoft.com/office/powerpoint/2010/main" val="645469021"/>
      </p:ext>
    </p:extLst>
  </p:cSld>
</p:sld>
</file>

<file path=ppt/slides/slide4.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2D245C63-4746-4956-A3C0-3332B2EDCF13}"/>
              </a:ext>
            </a:extLst>
          </p:cNvPr>
          <p:cNvSpPr>
            <a:spLocks xmlns:a="http://schemas.openxmlformats.org/drawingml/2006/main" noGrp="1"/>
          </p:cNvSpPr>
          <p:nvPr/>
        </p:nvSpPr>
        <p:spPr>
          <a:xfrm xmlns:a="http://schemas.openxmlformats.org/drawingml/2006/main" rot="0" flipH="0" flipV="0">
            <a:off x="1028700" y="3656278"/>
            <a:ext cx="16230600" cy="1202436"/>
          </a:xfrm>
          <a:custGeom xmlns:a="http://schemas.openxmlformats.org/drawingml/2006/main">
            <a:rect l="l" t="t" r="r" b="b"/>
            <a:pathLst>
              <a:path w="4274726" h="316691">
                <a:moveTo>
                  <a:pt x="0" y="0"/>
                </a:moveTo>
                <a:lnTo>
                  <a:pt x="4274726" y="0"/>
                </a:lnTo>
                <a:lnTo>
                  <a:pt x="4274726" y="316691"/>
                </a:lnTo>
                <a:lnTo>
                  <a:pt x="0" y="316691"/>
                </a:lnTo>
                <a:close/>
              </a:path>
            </a:pathLst>
          </a:custGeom>
          <a:ln xmlns:a="http://schemas.openxmlformats.org/drawingml/2006/main" w="38100">
            <a:solidFill>
              <a:srgbClr val="33CC33"/>
            </a:solidFill>
            <a:prstDash val="solid"/>
          </a:ln>
        </p:spPr>
        <p:txBody>
          <a:bodyPr xmlns:a="http://schemas.openxmlformats.org/drawingml/2006/main"/>
          <a:lstStyle xmlns:a="http://schemas.openxmlformats.org/drawingml/2006/main"/>
          <a:p xmlns:a="http://schemas.openxmlformats.org/drawingml/2006/main"/>
        </p:txBody>
      </p:sp>
      <p:sp>
        <p:nvSpPr>
          <p:cNvPr id="4" name="TextBox 4">
            <a:extLst xmlns:a="http://schemas.openxmlformats.org/drawingml/2006/main">
              <a:ext uri="{FF2B5EF4-FFF2-40B4-BE49-F238E27FC236}">
                <a16:creationId xmlns:a16="http://schemas.microsoft.com/office/drawing/2014/main" id="{E89A59D2-4B94-48A6-A1E1-5AB16DA0803A}"/>
              </a:ext>
            </a:extLst>
          </p:cNvPr>
          <p:cNvSpPr>
            <a:spLocks xmlns:a="http://schemas.openxmlformats.org/drawingml/2006/main" noGrp="1"/>
          </p:cNvSpPr>
          <p:nvPr/>
        </p:nvSpPr>
        <p:spPr>
          <a:xfrm xmlns:a="http://schemas.openxmlformats.org/drawingml/2006/main" rot="0" flipH="0" flipV="0">
            <a:off x="1028700" y="3873269"/>
            <a:ext cx="16230600" cy="985444"/>
          </a:xfrm>
          <a:prstGeom xmlns:a="http://schemas.openxmlformats.org/drawingml/2006/main" prst="rect">
            <a:avLst/>
          </a:prstGeom>
        </p:spPr>
        <p:txBody>
          <a:bodyPr xmlns:a="http://schemas.openxmlformats.org/drawingml/2006/main" lIns="254000" tIns="254000" rIns="254000" bIns="254000" anchor="ctr"/>
          <a:lstStyle xmlns:a="http://schemas.openxmlformats.org/drawingml/2006/main"/>
          <a:p xmlns:a="http://schemas.openxmlformats.org/drawingml/2006/main">
            <a:pPr algn="ctr">
              <a:lnSpc>
                <a:spcPts val="3672"/>
              </a:lnSpc>
              <a:buNone/>
            </a:pPr>
            <a:r>
              <a:rPr sz="3600" b="1">
                <a:solidFill>
                  <a:srgbClr val="33CC33"/>
                </a:solidFill>
                <a:latin typeface="Garet Bold"/>
                <a:ea typeface="Garet Bold"/>
                <a:cs typeface="Garet Bold"/>
              </a:rPr>
              <a:t>FINAL DELIVERY PROOF</a:t>
            </a:r>
          </a:p>
        </p:txBody>
      </p:sp>
      <p:sp>
        <p:nvSpPr>
          <p:cNvPr id="5" name="TextBox 5">
            <a:extLst xmlns:a="http://schemas.openxmlformats.org/drawingml/2006/main">
              <a:ext uri="{FF2B5EF4-FFF2-40B4-BE49-F238E27FC236}">
                <a16:creationId xmlns:a16="http://schemas.microsoft.com/office/drawing/2014/main" id="{D9D844DC-5795-4B33-AEF8-52AEE6286F50}"/>
              </a:ext>
            </a:extLst>
          </p:cNvPr>
          <p:cNvSpPr>
            <a:spLocks xmlns:a="http://schemas.openxmlformats.org/drawingml/2006/main" noGrp="1"/>
          </p:cNvSpPr>
          <p:nvPr/>
        </p:nvSpPr>
        <p:spPr>
          <a:xfrm xmlns:a="http://schemas.openxmlformats.org/drawingml/2006/main">
            <a:off x="1028700" y="2399157"/>
            <a:ext cx="12949774"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solidFill>
                  <a:srgbClr val="FFFFFF"/>
                </a:solidFill>
                <a:latin typeface="Garet Bold"/>
                <a:ea typeface="Garet Bold"/>
                <a:cs typeface="Garet Bold"/>
              </a:rPr>
              <a:t>26 / 26 DATA QA PASSED</a:t>
            </a:r>
          </a:p>
        </p:txBody>
      </p:sp>
      <p:sp>
        <p:nvSpPr>
          <p:cNvPr id="7" name="Freeform 7">
            <a:extLst xmlns:a="http://schemas.openxmlformats.org/drawingml/2006/main">
              <a:ext uri="{FF2B5EF4-FFF2-40B4-BE49-F238E27FC236}">
                <a16:creationId xmlns:a16="http://schemas.microsoft.com/office/drawing/2014/main" id="{40F08EE0-3445-49E3-A5DE-7BBE8FF058A2}"/>
              </a:ext>
            </a:extLst>
          </p:cNvPr>
          <p:cNvSpPr>
            <a:spLocks xmlns:a="http://schemas.openxmlformats.org/drawingml/2006/main" noGrp="1"/>
          </p:cNvSpPr>
          <p:nvPr/>
        </p:nvSpPr>
        <p:spPr>
          <a:xfrm xmlns:a="http://schemas.openxmlformats.org/drawingml/2006/main" rot="0" flipH="0" flipV="0">
            <a:off x="1028700" y="5216271"/>
            <a:ext cx="16230600" cy="1202436"/>
          </a:xfrm>
          <a:custGeom xmlns:a="http://schemas.openxmlformats.org/drawingml/2006/main">
            <a:rect l="l" t="t" r="r" b="b"/>
            <a:pathLst>
              <a:path w="4274726" h="316691">
                <a:moveTo>
                  <a:pt x="0" y="0"/>
                </a:moveTo>
                <a:lnTo>
                  <a:pt x="4274726" y="0"/>
                </a:lnTo>
                <a:lnTo>
                  <a:pt x="4274726" y="316691"/>
                </a:lnTo>
                <a:lnTo>
                  <a:pt x="0" y="316691"/>
                </a:lnTo>
                <a:close/>
              </a:path>
            </a:pathLst>
          </a:custGeom>
          <a:ln xmlns:a="http://schemas.openxmlformats.org/drawingml/2006/main" w="38100">
            <a:solidFill>
              <a:srgbClr val="33CC33"/>
            </a:solidFill>
            <a:prstDash val="solid"/>
          </a:ln>
        </p:spPr>
        <p:txBody>
          <a:bodyPr xmlns:a="http://schemas.openxmlformats.org/drawingml/2006/main"/>
          <a:lstStyle xmlns:a="http://schemas.openxmlformats.org/drawingml/2006/main"/>
          <a:p xmlns:a="http://schemas.openxmlformats.org/drawingml/2006/main"/>
        </p:txBody>
      </p:sp>
      <p:sp>
        <p:nvSpPr>
          <p:cNvPr id="8" name="TextBox 8">
            <a:extLst xmlns:a="http://schemas.openxmlformats.org/drawingml/2006/main">
              <a:ext uri="{FF2B5EF4-FFF2-40B4-BE49-F238E27FC236}">
                <a16:creationId xmlns:a16="http://schemas.microsoft.com/office/drawing/2014/main" id="{4A528C54-CE04-4662-82FC-678E603E3ECD}"/>
              </a:ext>
            </a:extLst>
          </p:cNvPr>
          <p:cNvSpPr>
            <a:spLocks xmlns:a="http://schemas.openxmlformats.org/drawingml/2006/main" noGrp="1"/>
          </p:cNvSpPr>
          <p:nvPr/>
        </p:nvSpPr>
        <p:spPr>
          <a:xfrm xmlns:a="http://schemas.openxmlformats.org/drawingml/2006/main" rot="0" flipH="0" flipV="0">
            <a:off x="1028700" y="5433262"/>
            <a:ext cx="16230600" cy="985444"/>
          </a:xfrm>
          <a:prstGeom xmlns:a="http://schemas.openxmlformats.org/drawingml/2006/main" prst="rect">
            <a:avLst/>
          </a:prstGeom>
        </p:spPr>
        <p:txBody>
          <a:bodyPr xmlns:a="http://schemas.openxmlformats.org/drawingml/2006/main" lIns="254000" tIns="254000" rIns="254000" bIns="254000" anchor="ctr"/>
          <a:lstStyle xmlns:a="http://schemas.openxmlformats.org/drawingml/2006/main"/>
          <a:p xmlns:a="http://schemas.openxmlformats.org/drawingml/2006/main">
            <a:pPr algn="ctr">
              <a:lnSpc>
                <a:spcPts val="3672"/>
              </a:lnSpc>
              <a:buNone/>
            </a:pPr>
            <a:r>
              <a:rPr sz="3600" b="1">
                <a:solidFill>
                  <a:srgbClr val="33CC33"/>
                </a:solidFill>
                <a:latin typeface="Garet Bold"/>
                <a:ea typeface="Garet Bold"/>
                <a:cs typeface="Garet Bold"/>
              </a:rPr>
              <a:t>129 AUTOMATED TESTS PASSED</a:t>
            </a:r>
          </a:p>
        </p:txBody>
      </p:sp>
      <p:sp>
        <p:nvSpPr>
          <p:cNvPr id="10" name="Freeform 10">
            <a:extLst xmlns:a="http://schemas.openxmlformats.org/drawingml/2006/main">
              <a:ext uri="{FF2B5EF4-FFF2-40B4-BE49-F238E27FC236}">
                <a16:creationId xmlns:a16="http://schemas.microsoft.com/office/drawing/2014/main" id="{E4ABC8A5-305B-4CD2-8AF4-26738949972C}"/>
              </a:ext>
            </a:extLst>
          </p:cNvPr>
          <p:cNvSpPr>
            <a:spLocks xmlns:a="http://schemas.openxmlformats.org/drawingml/2006/main" noGrp="1"/>
          </p:cNvSpPr>
          <p:nvPr/>
        </p:nvSpPr>
        <p:spPr>
          <a:xfrm xmlns:a="http://schemas.openxmlformats.org/drawingml/2006/main" rot="0" flipH="0" flipV="0">
            <a:off x="1028700" y="6780657"/>
            <a:ext cx="16230600" cy="1202436"/>
          </a:xfrm>
          <a:custGeom xmlns:a="http://schemas.openxmlformats.org/drawingml/2006/main">
            <a:rect l="l" t="t" r="r" b="b"/>
            <a:pathLst>
              <a:path w="4274726" h="316691">
                <a:moveTo>
                  <a:pt x="0" y="0"/>
                </a:moveTo>
                <a:lnTo>
                  <a:pt x="4274726" y="0"/>
                </a:lnTo>
                <a:lnTo>
                  <a:pt x="4274726" y="316691"/>
                </a:lnTo>
                <a:lnTo>
                  <a:pt x="0" y="316691"/>
                </a:lnTo>
                <a:close/>
              </a:path>
            </a:pathLst>
          </a:custGeom>
          <a:ln xmlns:a="http://schemas.openxmlformats.org/drawingml/2006/main" w="38100">
            <a:solidFill>
              <a:srgbClr val="33CC33"/>
            </a:solidFill>
            <a:prstDash val="solid"/>
          </a:ln>
        </p:spPr>
        <p:txBody>
          <a:bodyPr xmlns:a="http://schemas.openxmlformats.org/drawingml/2006/main"/>
          <a:lstStyle xmlns:a="http://schemas.openxmlformats.org/drawingml/2006/main"/>
          <a:p xmlns:a="http://schemas.openxmlformats.org/drawingml/2006/main"/>
        </p:txBody>
      </p:sp>
      <p:sp>
        <p:nvSpPr>
          <p:cNvPr id="11" name="TextBox 11">
            <a:extLst xmlns:a="http://schemas.openxmlformats.org/drawingml/2006/main">
              <a:ext uri="{FF2B5EF4-FFF2-40B4-BE49-F238E27FC236}">
                <a16:creationId xmlns:a16="http://schemas.microsoft.com/office/drawing/2014/main" id="{06EFDFBB-D521-4686-A0F2-E242881CFA6F}"/>
              </a:ext>
            </a:extLst>
          </p:cNvPr>
          <p:cNvSpPr>
            <a:spLocks xmlns:a="http://schemas.openxmlformats.org/drawingml/2006/main" noGrp="1"/>
          </p:cNvSpPr>
          <p:nvPr/>
        </p:nvSpPr>
        <p:spPr>
          <a:xfrm xmlns:a="http://schemas.openxmlformats.org/drawingml/2006/main" rot="0" flipH="0" flipV="0">
            <a:off x="1028700" y="6997648"/>
            <a:ext cx="16230600" cy="985444"/>
          </a:xfrm>
          <a:prstGeom xmlns:a="http://schemas.openxmlformats.org/drawingml/2006/main" prst="rect">
            <a:avLst/>
          </a:prstGeom>
        </p:spPr>
        <p:txBody>
          <a:bodyPr xmlns:a="http://schemas.openxmlformats.org/drawingml/2006/main" lIns="254000" tIns="254000" rIns="254000" bIns="254000" anchor="ctr"/>
          <a:lstStyle xmlns:a="http://schemas.openxmlformats.org/drawingml/2006/main"/>
          <a:p xmlns:a="http://schemas.openxmlformats.org/drawingml/2006/main">
            <a:pPr algn="ctr">
              <a:lnSpc>
                <a:spcPts val="3672"/>
              </a:lnSpc>
              <a:buNone/>
            </a:pPr>
            <a:r>
              <a:rPr sz="3600" b="1">
                <a:solidFill>
                  <a:srgbClr val="33CC33"/>
                </a:solidFill>
                <a:latin typeface="Garet Bold"/>
                <a:ea typeface="Garet Bold"/>
                <a:cs typeface="Garet Bold"/>
              </a:rPr>
              <a:t>3 APPLIED · 3 BLOCKED</a:t>
            </a:r>
          </a:p>
        </p:txBody>
      </p:sp>
    </p:spTree>
    <p:extLst>
      <p:ext uri="{BB962C8B-B14F-4D97-AF65-F5344CB8AC3E}">
        <p14:creationId xmlns:p14="http://schemas.microsoft.com/office/powerpoint/2010/main" val="2022406008"/>
      </p:ext>
    </p:extLst>
  </p:cSld>
</p:sld>
</file>

<file path=ppt/slides/slide5.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pic>
        <p:nvPicPr>
          <p:cNvPr id="8" name="Picture 3"/>
          <p:cNvPicPr>
            <a:picLocks xmlns:a="http://schemas.openxmlformats.org/drawingml/2006/main" noChangeAspect="1"/>
          </p:cNvPicPr>
          <p:nvPr/>
        </p:nvPicPr>
        <p:blipFill>
          <a:blip xmlns:r="http://schemas.openxmlformats.org/officeDocument/2006/relationships" xmlns:a="http://schemas.openxmlformats.org/drawingml/2006/main" r:embed="R8822073722b84ec4"/>
          <a:srcRect xmlns:a="http://schemas.openxmlformats.org/drawingml/2006/main" l="38267" t="0" r="38267" b="0"/>
          <a:stretch xmlns:a="http://schemas.openxmlformats.org/drawingml/2006/main">
            <a:fillRect l="0" t="0" r="0" b="0"/>
          </a:stretch>
        </p:blipFill>
        <p:spPr>
          <a:xfrm xmlns:a="http://schemas.openxmlformats.org/drawingml/2006/main" rot="0" flipH="0" flipV="0">
            <a:off x="1028700" y="1028700"/>
            <a:ext cx="4955302" cy="8229600"/>
          </a:xfrm>
          <a:prstGeom xmlns:a="http://schemas.openxmlformats.org/drawingml/2006/main" prst="rect">
            <a:avLst/>
          </a:prstGeom>
        </p:spPr>
      </p:pic>
      <p:sp>
        <p:nvSpPr>
          <p:cNvPr id="4" name="TextBox 4">
            <a:extLst xmlns:a="http://schemas.openxmlformats.org/drawingml/2006/main">
              <a:ext uri="{FF2B5EF4-FFF2-40B4-BE49-F238E27FC236}">
                <a16:creationId xmlns:a16="http://schemas.microsoft.com/office/drawing/2014/main" id="{25E5D417-AFDA-40FC-BB34-1821DA7E36C8}"/>
              </a:ext>
            </a:extLst>
          </p:cNvPr>
          <p:cNvSpPr>
            <a:spLocks xmlns:a="http://schemas.openxmlformats.org/drawingml/2006/main" noGrp="1"/>
          </p:cNvSpPr>
          <p:nvPr/>
        </p:nvSpPr>
        <p:spPr>
          <a:xfrm xmlns:a="http://schemas.openxmlformats.org/drawingml/2006/main">
            <a:off x="7275345" y="2515362"/>
            <a:ext cx="9983955" cy="14805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solidFill>
                  <a:srgbClr val="FFFFFF"/>
                </a:solidFill>
                <a:latin typeface="Garet Bold"/>
                <a:ea typeface="Garet Bold"/>
                <a:cs typeface="Garet Bold"/>
              </a:rPr>
              <a:t>WHY PRIVATE-MARKET REPORTING BREAKS</a:t>
            </a:r>
          </a:p>
        </p:txBody>
      </p:sp>
      <p:sp>
        <p:nvSpPr>
          <p:cNvPr id="5" name="TextBox 5">
            <a:extLst xmlns:a="http://schemas.openxmlformats.org/drawingml/2006/main">
              <a:ext uri="{FF2B5EF4-FFF2-40B4-BE49-F238E27FC236}">
                <a16:creationId xmlns:a16="http://schemas.microsoft.com/office/drawing/2014/main" id="{C5A41880-ABDA-4B46-A6D1-58BD5B5F5378}"/>
              </a:ext>
            </a:extLst>
          </p:cNvPr>
          <p:cNvSpPr>
            <a:spLocks xmlns:a="http://schemas.openxmlformats.org/drawingml/2006/main" noGrp="1"/>
          </p:cNvSpPr>
          <p:nvPr/>
        </p:nvSpPr>
        <p:spPr>
          <a:xfrm xmlns:a="http://schemas.openxmlformats.org/drawingml/2006/main">
            <a:off x="7275345" y="4243578"/>
            <a:ext cx="9983955" cy="9395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DOCUMENTS ARE FRAGMENTED. DECISIONS CANNOT BE.</a:t>
            </a:r>
          </a:p>
        </p:txBody>
      </p:sp>
      <p:sp>
        <p:nvSpPr>
          <p:cNvPr id="6" name="TextBox 6">
            <a:extLst xmlns:a="http://schemas.openxmlformats.org/drawingml/2006/main">
              <a:ext uri="{FF2B5EF4-FFF2-40B4-BE49-F238E27FC236}">
                <a16:creationId xmlns:a16="http://schemas.microsoft.com/office/drawing/2014/main" id="{373B5E37-2112-4FA2-BF81-820E7D750038}"/>
              </a:ext>
            </a:extLst>
          </p:cNvPr>
          <p:cNvSpPr>
            <a:spLocks xmlns:a="http://schemas.openxmlformats.org/drawingml/2006/main" noGrp="1"/>
          </p:cNvSpPr>
          <p:nvPr/>
        </p:nvSpPr>
        <p:spPr>
          <a:xfrm xmlns:a="http://schemas.openxmlformats.org/drawingml/2006/main">
            <a:off x="7275345" y="5421249"/>
            <a:ext cx="9983955" cy="24456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solidFill>
                  <a:srgbClr val="FFFFFF"/>
                </a:solidFill>
                <a:latin typeface="Garet"/>
                <a:ea typeface="Garet"/>
                <a:cs typeface="Garet"/>
              </a:rPr>
              <a:t>Capital calls, distributions, statements, and newsletters arrive in inconsistent formats and on different schedules. Their fields affect cash, NAV, commitments, reporting, and risk. The bottleneck is not visualization—it is converting document meaning into reconciled, reviewable portfolio data without allowing automation to scale errors.</a:t>
            </a:r>
          </a:p>
        </p:txBody>
      </p:sp>
    </p:spTree>
    <p:extLst>
      <p:ext uri="{BB962C8B-B14F-4D97-AF65-F5344CB8AC3E}">
        <p14:creationId xmlns:p14="http://schemas.microsoft.com/office/powerpoint/2010/main" val="24983743"/>
      </p:ext>
    </p:extLst>
  </p:cSld>
</p:sld>
</file>

<file path=ppt/slides/slide6.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pic>
        <p:nvPicPr>
          <p:cNvPr id="13" name="Picture 3"/>
          <p:cNvPicPr>
            <a:picLocks xmlns:a="http://schemas.openxmlformats.org/drawingml/2006/main" noChangeAspect="1"/>
          </p:cNvPicPr>
          <p:nvPr/>
        </p:nvPicPr>
        <p:blipFill>
          <a:blip xmlns:r="http://schemas.openxmlformats.org/officeDocument/2006/relationships" xmlns:a="http://schemas.openxmlformats.org/drawingml/2006/main" r:embed="R1447b4f4dba045ca"/>
          <a:srcRect xmlns:a="http://schemas.openxmlformats.org/drawingml/2006/main" l="9255" t="0" r="9255" b="0"/>
          <a:stretch xmlns:a="http://schemas.openxmlformats.org/drawingml/2006/main">
            <a:fillRect l="0" t="0" r="0" b="0"/>
          </a:stretch>
        </p:blipFill>
        <p:spPr>
          <a:xfrm xmlns:a="http://schemas.openxmlformats.org/drawingml/2006/main" rot="0" flipH="0" flipV="0">
            <a:off x="1028700" y="2439434"/>
            <a:ext cx="7878828" cy="3767871"/>
          </a:xfrm>
          <a:prstGeom xmlns:a="http://schemas.openxmlformats.org/drawingml/2006/main" prst="rect">
            <a:avLst/>
          </a:prstGeom>
        </p:spPr>
      </p:pic>
      <p:sp>
        <p:nvSpPr>
          <p:cNvPr id="4" name="TextBox 4">
            <a:extLst xmlns:a="http://schemas.openxmlformats.org/drawingml/2006/main">
              <a:ext uri="{FF2B5EF4-FFF2-40B4-BE49-F238E27FC236}">
                <a16:creationId xmlns:a16="http://schemas.microsoft.com/office/drawing/2014/main" id="{840A2AD5-E15F-4719-B99A-10C7AEFF7F74}"/>
              </a:ext>
            </a:extLst>
          </p:cNvPr>
          <p:cNvSpPr>
            <a:spLocks xmlns:a="http://schemas.openxmlformats.org/drawingml/2006/main" noGrp="1"/>
          </p:cNvSpPr>
          <p:nvPr/>
        </p:nvSpPr>
        <p:spPr>
          <a:xfrm xmlns:a="http://schemas.openxmlformats.org/drawingml/2006/main">
            <a:off x="1028700" y="996939"/>
            <a:ext cx="16230600" cy="145084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5712"/>
              </a:lnSpc>
              <a:buNone/>
            </a:pPr>
            <a:r>
              <a:rPr sz="5600" b="1">
                <a:solidFill>
                  <a:srgbClr val="FFFFFF"/>
                </a:solidFill>
                <a:latin typeface="Garet Bold"/>
                <a:ea typeface="Garet Bold"/>
                <a:cs typeface="Garet Bold"/>
              </a:rPr>
              <a:t>A SYNTHETIC PORTFOLIO BUILT TO TEST THE HARD PARTS</a:t>
            </a:r>
          </a:p>
        </p:txBody>
      </p:sp>
      <p:sp>
        <p:nvSpPr>
          <p:cNvPr id="5" name="TextBox 5">
            <a:extLst xmlns:a="http://schemas.openxmlformats.org/drawingml/2006/main">
              <a:ext uri="{FF2B5EF4-FFF2-40B4-BE49-F238E27FC236}">
                <a16:creationId xmlns:a16="http://schemas.microsoft.com/office/drawing/2014/main" id="{331FD917-B228-4556-BC0F-2DA8B0B92224}"/>
              </a:ext>
            </a:extLst>
          </p:cNvPr>
          <p:cNvSpPr>
            <a:spLocks xmlns:a="http://schemas.openxmlformats.org/drawingml/2006/main" noGrp="1"/>
          </p:cNvSpPr>
          <p:nvPr/>
        </p:nvSpPr>
        <p:spPr>
          <a:xfrm xmlns:a="http://schemas.openxmlformats.org/drawingml/2006/main">
            <a:off x="1028700" y="6425565"/>
            <a:ext cx="7878828"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USD 750M GLOBAL PORTFOLIO</a:t>
            </a:r>
          </a:p>
        </p:txBody>
      </p:sp>
      <p:sp>
        <p:nvSpPr>
          <p:cNvPr id="6" name="TextBox 6">
            <a:extLst xmlns:a="http://schemas.openxmlformats.org/drawingml/2006/main">
              <a:ext uri="{FF2B5EF4-FFF2-40B4-BE49-F238E27FC236}">
                <a16:creationId xmlns:a16="http://schemas.microsoft.com/office/drawing/2014/main" id="{57DDB295-5981-4317-B7D4-B43B88893A31}"/>
              </a:ext>
            </a:extLst>
          </p:cNvPr>
          <p:cNvSpPr>
            <a:spLocks xmlns:a="http://schemas.openxmlformats.org/drawingml/2006/main" noGrp="1"/>
          </p:cNvSpPr>
          <p:nvPr/>
        </p:nvSpPr>
        <p:spPr>
          <a:xfrm xmlns:a="http://schemas.openxmlformats.org/drawingml/2006/main">
            <a:off x="1028700" y="7117461"/>
            <a:ext cx="7878828" cy="2140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solidFill>
                  <a:srgbClr val="FFFFFF"/>
                </a:solidFill>
                <a:latin typeface="Garet"/>
                <a:ea typeface="Garet"/>
                <a:cs typeface="Garet"/>
              </a:rPr>
              <a:t>A Singapore-based family office with public equities, fixed income, hedge funds, cash, and 49% private-market exposure. The mix creates observable market data alongside document-heavy private investments.</a:t>
            </a:r>
          </a:p>
        </p:txBody>
      </p:sp>
      <p:pic>
        <p:nvPicPr>
          <p:cNvPr id="17" name="Picture 8"/>
          <p:cNvPicPr>
            <a:picLocks xmlns:a="http://schemas.openxmlformats.org/drawingml/2006/main" noChangeAspect="1"/>
          </p:cNvPicPr>
          <p:nvPr/>
        </p:nvPicPr>
        <p:blipFill>
          <a:blip xmlns:r="http://schemas.openxmlformats.org/officeDocument/2006/relationships" xmlns:a="http://schemas.openxmlformats.org/drawingml/2006/main" r:embed="R1447b4f4dba045ca"/>
          <a:srcRect xmlns:a="http://schemas.openxmlformats.org/drawingml/2006/main" l="9255" t="0" r="9255" b="0"/>
          <a:stretch xmlns:a="http://schemas.openxmlformats.org/drawingml/2006/main">
            <a:fillRect l="0" t="0" r="0" b="0"/>
          </a:stretch>
        </p:blipFill>
        <p:spPr>
          <a:xfrm xmlns:a="http://schemas.openxmlformats.org/drawingml/2006/main" rot="0" flipH="0" flipV="0">
            <a:off x="9380472" y="2439434"/>
            <a:ext cx="7878828" cy="3767871"/>
          </a:xfrm>
          <a:prstGeom xmlns:a="http://schemas.openxmlformats.org/drawingml/2006/main" prst="rect">
            <a:avLst/>
          </a:prstGeom>
        </p:spPr>
      </p:pic>
      <p:sp>
        <p:nvSpPr>
          <p:cNvPr id="9" name="TextBox 9">
            <a:extLst xmlns:a="http://schemas.openxmlformats.org/drawingml/2006/main">
              <a:ext uri="{FF2B5EF4-FFF2-40B4-BE49-F238E27FC236}">
                <a16:creationId xmlns:a16="http://schemas.microsoft.com/office/drawing/2014/main" id="{8D9919C2-4741-4DB9-9072-BF761A8239B3}"/>
              </a:ext>
            </a:extLst>
          </p:cNvPr>
          <p:cNvSpPr>
            <a:spLocks xmlns:a="http://schemas.openxmlformats.org/drawingml/2006/main" noGrp="1"/>
          </p:cNvSpPr>
          <p:nvPr/>
        </p:nvSpPr>
        <p:spPr>
          <a:xfrm xmlns:a="http://schemas.openxmlformats.org/drawingml/2006/main">
            <a:off x="9380472" y="6425565"/>
            <a:ext cx="7878828"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33CC33"/>
                </a:solidFill>
                <a:latin typeface="Garet Bold"/>
                <a:ea typeface="Garet Bold"/>
                <a:cs typeface="Garet Bold"/>
              </a:rPr>
              <a:t>APRIL BASELINE + MAY OVERLAY</a:t>
            </a:r>
          </a:p>
        </p:txBody>
      </p:sp>
      <p:sp>
        <p:nvSpPr>
          <p:cNvPr id="10" name="TextBox 10">
            <a:extLst xmlns:a="http://schemas.openxmlformats.org/drawingml/2006/main">
              <a:ext uri="{FF2B5EF4-FFF2-40B4-BE49-F238E27FC236}">
                <a16:creationId xmlns:a16="http://schemas.microsoft.com/office/drawing/2014/main" id="{082953FC-DE8C-457E-8ADC-65002EE16181}"/>
              </a:ext>
            </a:extLst>
          </p:cNvPr>
          <p:cNvSpPr>
            <a:spLocks xmlns:a="http://schemas.openxmlformats.org/drawingml/2006/main" noGrp="1"/>
          </p:cNvSpPr>
          <p:nvPr/>
        </p:nvSpPr>
        <p:spPr>
          <a:xfrm xmlns:a="http://schemas.openxmlformats.org/drawingml/2006/main">
            <a:off x="9380472" y="7117461"/>
            <a:ext cx="7878828" cy="2140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solidFill>
                  <a:srgbClr val="FFFFFF"/>
                </a:solidFill>
                <a:latin typeface="Garet"/>
                <a:ea typeface="Garet"/>
                <a:cs typeface="Garet"/>
              </a:rPr>
              <a:t>The official close remains 30 April 2026. Six mock May documents create a controlled overlay, keeping approved projected activity separate from booked baseline cash and unresolved records.</a:t>
            </a:r>
          </a:p>
        </p:txBody>
      </p:sp>
    </p:spTree>
    <p:extLst>
      <p:ext uri="{BB962C8B-B14F-4D97-AF65-F5344CB8AC3E}">
        <p14:creationId xmlns:p14="http://schemas.microsoft.com/office/powerpoint/2010/main" val="205473203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1BD04FA8-C670-407F-9E44-AEA133ED8EB2}"/>
              </a:ext>
            </a:extLst>
          </p:cNvPr>
          <p:cNvSpPr>
            <a:spLocks xmlns:a="http://schemas.openxmlformats.org/drawingml/2006/main" noGrp="1"/>
          </p:cNvSpPr>
          <p:nvPr/>
        </p:nvSpPr>
        <p:spPr>
          <a:xfrm xmlns:a="http://schemas.openxmlformats.org/drawingml/2006/main">
            <a:off x="7275345" y="2877312"/>
            <a:ext cx="9983955"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CONTROLLED WORKFLOW</a:t>
            </a:r>
          </a:p>
        </p:txBody>
      </p:sp>
      <p:sp>
        <p:nvSpPr>
          <p:cNvPr id="3" name="TextBox 3">
            <a:extLst xmlns:a="http://schemas.openxmlformats.org/drawingml/2006/main">
              <a:ext uri="{FF2B5EF4-FFF2-40B4-BE49-F238E27FC236}">
                <a16:creationId xmlns:a16="http://schemas.microsoft.com/office/drawing/2014/main" id="{0A8BF1E1-FCAC-46BE-9E34-1925DFEAA2CB}"/>
              </a:ext>
            </a:extLst>
          </p:cNvPr>
          <p:cNvSpPr>
            <a:spLocks xmlns:a="http://schemas.openxmlformats.org/drawingml/2006/main" noGrp="1"/>
          </p:cNvSpPr>
          <p:nvPr/>
        </p:nvSpPr>
        <p:spPr>
          <a:xfrm xmlns:a="http://schemas.openxmlformats.org/drawingml/2006/main">
            <a:off x="7275345" y="3881628"/>
            <a:ext cx="9983955" cy="9395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FROM PDF INTAKE TO A REVIEWABLE PORTFOLIO STATE.</a:t>
            </a:r>
          </a:p>
        </p:txBody>
      </p:sp>
      <p:sp>
        <p:nvSpPr>
          <p:cNvPr id="4" name="TextBox 4">
            <a:extLst xmlns:a="http://schemas.openxmlformats.org/drawingml/2006/main">
              <a:ext uri="{FF2B5EF4-FFF2-40B4-BE49-F238E27FC236}">
                <a16:creationId xmlns:a16="http://schemas.microsoft.com/office/drawing/2014/main" id="{D3B1D7A3-097D-48D6-A830-ADB709D2B277}"/>
              </a:ext>
            </a:extLst>
          </p:cNvPr>
          <p:cNvSpPr>
            <a:spLocks xmlns:a="http://schemas.openxmlformats.org/drawingml/2006/main" noGrp="1"/>
          </p:cNvSpPr>
          <p:nvPr/>
        </p:nvSpPr>
        <p:spPr>
          <a:xfrm xmlns:a="http://schemas.openxmlformats.org/drawingml/2006/main">
            <a:off x="7275345" y="5059299"/>
            <a:ext cx="9983955" cy="24456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PDF intake → classification → schema-based extraction → validation rules → human review → approved-only portfolio update → dashboard → public-proxy risk. The standard demo is deterministic and API-free; an optional LLM mode supports later comparison, not core delivery.</a:t>
            </a:r>
          </a:p>
        </p:txBody>
      </p:sp>
      <p:pic>
        <p:nvPicPr>
          <p:cNvPr id="10" name="Picture 6"/>
          <p:cNvPicPr>
            <a:picLocks xmlns:a="http://schemas.openxmlformats.org/drawingml/2006/main" noChangeAspect="1"/>
          </p:cNvPicPr>
          <p:nvPr/>
        </p:nvPicPr>
        <p:blipFill>
          <a:blip xmlns:r="http://schemas.openxmlformats.org/officeDocument/2006/relationships" xmlns:a="http://schemas.openxmlformats.org/drawingml/2006/main" r:embed="R517b2328ee774469"/>
          <a:srcRect xmlns:a="http://schemas.openxmlformats.org/drawingml/2006/main" l="26058" t="0" r="26058" b="0"/>
          <a:stretch xmlns:a="http://schemas.openxmlformats.org/drawingml/2006/main">
            <a:fillRect l="0" t="0" r="0" b="0"/>
          </a:stretch>
        </p:blipFill>
        <p:spPr>
          <a:xfrm xmlns:a="http://schemas.openxmlformats.org/drawingml/2006/main" rot="0" flipH="0" flipV="0">
            <a:off x="1028700" y="1028700"/>
            <a:ext cx="4955302" cy="4032955"/>
          </a:xfrm>
          <a:prstGeom xmlns:a="http://schemas.openxmlformats.org/drawingml/2006/main" prst="rect">
            <a:avLst/>
          </a:prstGeom>
        </p:spPr>
      </p:pic>
      <p:pic>
        <p:nvPicPr>
          <p:cNvPr id="11" name="Picture 8"/>
          <p:cNvPicPr>
            <a:picLocks xmlns:a="http://schemas.openxmlformats.org/drawingml/2006/main" noChangeAspect="1"/>
          </p:cNvPicPr>
          <p:nvPr/>
        </p:nvPicPr>
        <p:blipFill>
          <a:blip xmlns:r="http://schemas.openxmlformats.org/officeDocument/2006/relationships" xmlns:a="http://schemas.openxmlformats.org/drawingml/2006/main" r:embed="R517b2328ee774469"/>
          <a:srcRect xmlns:a="http://schemas.openxmlformats.org/drawingml/2006/main" l="26058" t="0" r="26058" b="0"/>
          <a:stretch xmlns:a="http://schemas.openxmlformats.org/drawingml/2006/main">
            <a:fillRect l="0" t="0" r="0" b="0"/>
          </a:stretch>
        </p:blipFill>
        <p:spPr>
          <a:xfrm xmlns:a="http://schemas.openxmlformats.org/drawingml/2006/main" rot="0" flipH="0" flipV="0">
            <a:off x="1028700" y="5225345"/>
            <a:ext cx="4955302" cy="4032955"/>
          </a:xfrm>
          <a:prstGeom xmlns:a="http://schemas.openxmlformats.org/drawingml/2006/main" prst="rect">
            <a:avLst/>
          </a:prstGeom>
        </p:spPr>
      </p:pic>
    </p:spTree>
    <p:extLst>
      <p:ext uri="{BB962C8B-B14F-4D97-AF65-F5344CB8AC3E}">
        <p14:creationId xmlns:p14="http://schemas.microsoft.com/office/powerpoint/2010/main" val="30723989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90B6639-1D52-43F1-9D7C-860F102BD709}"/>
              </a:ext>
            </a:extLst>
          </p:cNvPr>
          <p:cNvSpPr>
            <a:spLocks xmlns:a="http://schemas.openxmlformats.org/drawingml/2006/main" noGrp="1"/>
          </p:cNvSpPr>
          <p:nvPr/>
        </p:nvSpPr>
        <p:spPr>
          <a:xfrm xmlns:a="http://schemas.openxmlformats.org/drawingml/2006/main">
            <a:off x="12120064" y="1055514"/>
            <a:ext cx="7516734" cy="8202786"/>
          </a:xfrm>
          <a:custGeom xmlns:a="http://schemas.openxmlformats.org/drawingml/2006/main">
            <a:rect l="l" t="t" r="r" b="b"/>
            <a:pathLst>
              <a:path w="7516734" h="8202786">
                <a:moveTo>
                  <a:pt x="0" y="0"/>
                </a:moveTo>
                <a:lnTo>
                  <a:pt x="7516735" y="0"/>
                </a:lnTo>
                <a:lnTo>
                  <a:pt x="7516735" y="8202786"/>
                </a:lnTo>
                <a:lnTo>
                  <a:pt x="0" y="8202786"/>
                </a:lnTo>
                <a:lnTo>
                  <a:pt x="0" y="0"/>
                </a:lnTo>
                <a:close/>
              </a:path>
            </a:pathLst>
          </a:custGeom>
          <a:blipFill xmlns:a="http://schemas.openxmlformats.org/drawingml/2006/main">
            <a:blip xmlns:r="http://schemas.openxmlformats.org/officeDocument/2006/relationships" r:embed="R82477e42b5cf4c73">
              <a:alphaModFix amt="42000"/>
              <a:extLst>
                <a:ext uri="{96DAC541-7B7A-43D3-8B79-37D633B846F1}">
                  <asvg:svgBlip xmlns:asvg="http://schemas.microsoft.com/office/drawing/2016/SVG/main" r:embed="R78a80d56e41d4b9e"/>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 name="TextBox 3">
            <a:extLst xmlns:a="http://schemas.openxmlformats.org/drawingml/2006/main">
              <a:ext uri="{FF2B5EF4-FFF2-40B4-BE49-F238E27FC236}">
                <a16:creationId xmlns:a16="http://schemas.microsoft.com/office/drawing/2014/main" id="{25B68331-CA10-47AB-9C38-D52AEB35AC41}"/>
              </a:ext>
            </a:extLst>
          </p:cNvPr>
          <p:cNvSpPr>
            <a:spLocks xmlns:a="http://schemas.openxmlformats.org/drawingml/2006/main" noGrp="1"/>
          </p:cNvSpPr>
          <p:nvPr/>
        </p:nvSpPr>
        <p:spPr>
          <a:xfrm xmlns:a="http://schemas.openxmlformats.org/drawingml/2006/main">
            <a:off x="1028700" y="2877312"/>
            <a:ext cx="9983955"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HUMAN REVIEW</a:t>
            </a:r>
          </a:p>
        </p:txBody>
      </p:sp>
      <p:sp>
        <p:nvSpPr>
          <p:cNvPr id="4" name="TextBox 4">
            <a:extLst xmlns:a="http://schemas.openxmlformats.org/drawingml/2006/main">
              <a:ext uri="{FF2B5EF4-FFF2-40B4-BE49-F238E27FC236}">
                <a16:creationId xmlns:a16="http://schemas.microsoft.com/office/drawing/2014/main" id="{245A0F10-D4B8-42C6-A0DB-93C87A45AAB2}"/>
              </a:ext>
            </a:extLst>
          </p:cNvPr>
          <p:cNvSpPr>
            <a:spLocks xmlns:a="http://schemas.openxmlformats.org/drawingml/2006/main" noGrp="1"/>
          </p:cNvSpPr>
          <p:nvPr/>
        </p:nvSpPr>
        <p:spPr>
          <a:xfrm xmlns:a="http://schemas.openxmlformats.org/drawingml/2006/main">
            <a:off x="1028700" y="3881628"/>
            <a:ext cx="9983955" cy="9395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EXTRACTION PREPARES THE DECISION.</a:t>
            </a:r>
          </a:p>
          <a:p xmlns:a="http://schemas.openxmlformats.org/drawingml/2006/main">
            <a:pPr algn="l">
              <a:lnSpc>
                <a:spcPts val="3672"/>
              </a:lnSpc>
              <a:buNone/>
            </a:pPr>
            <a:r>
              <a:rPr sz="3600" b="1">
                <a:solidFill>
                  <a:srgbClr val="006000"/>
                </a:solidFill>
                <a:latin typeface="Garet Bold"/>
                <a:ea typeface="Garet Bold"/>
                <a:cs typeface="Garet Bold"/>
              </a:rPr>
              <a:t>PEOPLE CONTROL THE STATE.</a:t>
            </a:r>
          </a:p>
        </p:txBody>
      </p:sp>
      <p:sp>
        <p:nvSpPr>
          <p:cNvPr id="5" name="TextBox 5">
            <a:extLst xmlns:a="http://schemas.openxmlformats.org/drawingml/2006/main">
              <a:ext uri="{FF2B5EF4-FFF2-40B4-BE49-F238E27FC236}">
                <a16:creationId xmlns:a16="http://schemas.microsoft.com/office/drawing/2014/main" id="{4D05326D-94C8-4AD2-B6FE-39669526FD69}"/>
              </a:ext>
            </a:extLst>
          </p:cNvPr>
          <p:cNvSpPr>
            <a:spLocks xmlns:a="http://schemas.openxmlformats.org/drawingml/2006/main" noGrp="1"/>
          </p:cNvSpPr>
          <p:nvPr/>
        </p:nvSpPr>
        <p:spPr>
          <a:xfrm xmlns:a="http://schemas.openxmlformats.org/drawingml/2006/main">
            <a:off x="1028700" y="5059299"/>
            <a:ext cx="9983955" cy="24456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The six-document batch finishes at 3 approved, 2 needs review, and 1 rejected. Only the approved distribution, capital statement, and newsletter flow into processed outputs. Two capital calls and one inconsistent statement remain blocked, preserving the boundary between model output and operational authority.</a:t>
            </a:r>
          </a:p>
        </p:txBody>
      </p:sp>
    </p:spTree>
    <p:extLst>
      <p:ext uri="{BB962C8B-B14F-4D97-AF65-F5344CB8AC3E}">
        <p14:creationId xmlns:p14="http://schemas.microsoft.com/office/powerpoint/2010/main" val="209323037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C8F90871-10AE-437F-92A2-FCD907B2244B}"/>
              </a:ext>
            </a:extLst>
          </p:cNvPr>
          <p:cNvSpPr>
            <a:spLocks xmlns:a="http://schemas.openxmlformats.org/drawingml/2006/main" noGrp="1"/>
          </p:cNvSpPr>
          <p:nvPr/>
        </p:nvSpPr>
        <p:spPr>
          <a:xfrm xmlns:a="http://schemas.openxmlformats.org/drawingml/2006/main">
            <a:off x="1028700" y="5909799"/>
            <a:ext cx="16230600"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ONE DASHBOARD, TWO STORIES</a:t>
            </a:r>
          </a:p>
        </p:txBody>
      </p:sp>
      <p:sp>
        <p:nvSpPr>
          <p:cNvPr id="3" name="TextBox 3">
            <a:extLst xmlns:a="http://schemas.openxmlformats.org/drawingml/2006/main">
              <a:ext uri="{FF2B5EF4-FFF2-40B4-BE49-F238E27FC236}">
                <a16:creationId xmlns:a16="http://schemas.microsoft.com/office/drawing/2014/main" id="{F11DA2A1-C8DB-4590-A6DA-F9EF8F68087E}"/>
              </a:ext>
            </a:extLst>
          </p:cNvPr>
          <p:cNvSpPr>
            <a:spLocks xmlns:a="http://schemas.openxmlformats.org/drawingml/2006/main" noGrp="1"/>
          </p:cNvSpPr>
          <p:nvPr/>
        </p:nvSpPr>
        <p:spPr>
          <a:xfrm xmlns:a="http://schemas.openxmlformats.org/drawingml/2006/main">
            <a:off x="1028700" y="6961740"/>
            <a:ext cx="16230600"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PORTFOLIO INSIGHT AND WORKFLOW EVIDENCE STAY CONNECTED.</a:t>
            </a:r>
          </a:p>
        </p:txBody>
      </p:sp>
      <p:sp>
        <p:nvSpPr>
          <p:cNvPr id="4" name="TextBox 4">
            <a:extLst xmlns:a="http://schemas.openxmlformats.org/drawingml/2006/main">
              <a:ext uri="{FF2B5EF4-FFF2-40B4-BE49-F238E27FC236}">
                <a16:creationId xmlns:a16="http://schemas.microsoft.com/office/drawing/2014/main" id="{FB8CDD08-B7B9-45F7-9D1F-BFB2B528CCD0}"/>
              </a:ext>
            </a:extLst>
          </p:cNvPr>
          <p:cNvSpPr>
            <a:spLocks xmlns:a="http://schemas.openxmlformats.org/drawingml/2006/main" noGrp="1"/>
          </p:cNvSpPr>
          <p:nvPr/>
        </p:nvSpPr>
        <p:spPr>
          <a:xfrm xmlns:a="http://schemas.openxmlformats.org/drawingml/2006/main">
            <a:off x="1028700" y="7727061"/>
            <a:ext cx="16230600" cy="15312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Eight delivery pages cover overview, asset class, region and currency, public markets, private markets, liquidity and commitments, risk profile, and workflow controls. Users can see both the portfolio result and the extraction, validation, review, and update status that produced it.</a:t>
            </a:r>
          </a:p>
        </p:txBody>
      </p:sp>
      <p:pic>
        <p:nvPicPr>
          <p:cNvPr id="9" name="Picture 6"/>
          <p:cNvPicPr>
            <a:picLocks xmlns:a="http://schemas.openxmlformats.org/drawingml/2006/main" noChangeAspect="1"/>
          </p:cNvPicPr>
          <p:nvPr/>
        </p:nvPicPr>
        <p:blipFill>
          <a:blip xmlns:r="http://schemas.openxmlformats.org/officeDocument/2006/relationships" xmlns:a="http://schemas.openxmlformats.org/drawingml/2006/main" r:embed="R76e76c1dc7484d6c"/>
          <a:srcRect xmlns:a="http://schemas.openxmlformats.org/drawingml/2006/main" l="0" t="16268" r="0" b="16268"/>
          <a:stretch xmlns:a="http://schemas.openxmlformats.org/drawingml/2006/main">
            <a:fillRect l="0" t="0" r="0" b="0"/>
          </a:stretch>
        </p:blipFill>
        <p:spPr>
          <a:xfrm xmlns:a="http://schemas.openxmlformats.org/drawingml/2006/main" rot="0" flipH="0" flipV="0">
            <a:off x="1028700" y="1028700"/>
            <a:ext cx="16230600" cy="4267032"/>
          </a:xfrm>
          <a:prstGeom xmlns:a="http://schemas.openxmlformats.org/drawingml/2006/main" prst="rect">
            <a:avLst/>
          </a:prstGeom>
        </p:spPr>
      </p:pic>
    </p:spTree>
    <p:extLst>
      <p:ext uri="{BB962C8B-B14F-4D97-AF65-F5344CB8AC3E}">
        <p14:creationId xmlns:p14="http://schemas.microsoft.com/office/powerpoint/2010/main" val="184920960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Box 2">
            <a:extLst xmlns:a="http://schemas.openxmlformats.org/drawingml/2006/main">
              <a:ext uri="{FF2B5EF4-FFF2-40B4-BE49-F238E27FC236}">
                <a16:creationId xmlns:a16="http://schemas.microsoft.com/office/drawing/2014/main" id="{F2EAF877-2985-4258-BBF3-5A6872809757}"/>
              </a:ext>
            </a:extLst>
          </p:cNvPr>
          <p:cNvSpPr>
            <a:spLocks xmlns:a="http://schemas.openxmlformats.org/drawingml/2006/main" noGrp="1"/>
          </p:cNvSpPr>
          <p:nvPr/>
        </p:nvSpPr>
        <p:spPr>
          <a:xfrm xmlns:a="http://schemas.openxmlformats.org/drawingml/2006/main">
            <a:off x="1028700" y="2508069"/>
            <a:ext cx="8291149" cy="75666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5712"/>
              </a:lnSpc>
              <a:buNone/>
            </a:pPr>
            <a:r>
              <a:rPr sz="5600" b="1">
                <a:gradFill>
                  <a:gsLst>
                    <a:gs pos="0">
                      <a:srgbClr val="000000">
                        <a:alpha val="100000"/>
                      </a:srgbClr>
                    </a:gs>
                    <a:gs pos="100000">
                      <a:srgbClr val="011000">
                        <a:alpha val="100000"/>
                      </a:srgbClr>
                    </a:gs>
                  </a:gsLst>
                  <a:path path="circle">
                    <a:fillToRect l="0" t="0" r="100000" b="100000"/>
                  </a:path>
                  <a:tileRect l="-100000" t="-100000"/>
                </a:gradFill>
                <a:latin typeface="Garet Bold"/>
                <a:ea typeface="Garet Bold"/>
                <a:cs typeface="Garet Bold"/>
              </a:rPr>
              <a:t>RISK &amp; GOVERNANCE</a:t>
            </a:r>
          </a:p>
        </p:txBody>
      </p:sp>
      <p:sp>
        <p:nvSpPr>
          <p:cNvPr id="3" name="TextBox 3">
            <a:extLst xmlns:a="http://schemas.openxmlformats.org/drawingml/2006/main">
              <a:ext uri="{FF2B5EF4-FFF2-40B4-BE49-F238E27FC236}">
                <a16:creationId xmlns:a16="http://schemas.microsoft.com/office/drawing/2014/main" id="{282A5D37-5647-4B6C-86BD-A4DEDA9C0BC4}"/>
              </a:ext>
            </a:extLst>
          </p:cNvPr>
          <p:cNvSpPr>
            <a:spLocks xmlns:a="http://schemas.openxmlformats.org/drawingml/2006/main" noGrp="1"/>
          </p:cNvSpPr>
          <p:nvPr/>
        </p:nvSpPr>
        <p:spPr>
          <a:xfrm xmlns:a="http://schemas.openxmlformats.org/drawingml/2006/main">
            <a:off x="1028700"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PROXY RISK</a:t>
            </a:r>
          </a:p>
        </p:txBody>
      </p:sp>
      <p:sp>
        <p:nvSpPr>
          <p:cNvPr id="4" name="TextBox 4">
            <a:extLst xmlns:a="http://schemas.openxmlformats.org/drawingml/2006/main">
              <a:ext uri="{FF2B5EF4-FFF2-40B4-BE49-F238E27FC236}">
                <a16:creationId xmlns:a16="http://schemas.microsoft.com/office/drawing/2014/main" id="{D2DEEE2B-E46F-4312-BBEC-0F35ABB47E27}"/>
              </a:ext>
            </a:extLst>
          </p:cNvPr>
          <p:cNvSpPr>
            <a:spLocks xmlns:a="http://schemas.openxmlformats.org/drawingml/2006/main" noGrp="1"/>
          </p:cNvSpPr>
          <p:nvPr/>
        </p:nvSpPr>
        <p:spPr>
          <a:xfrm xmlns:a="http://schemas.openxmlformats.org/drawingml/2006/main">
            <a:off x="1028700"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Thirty real public proxy tickers support volatility, drawdown, correlation, and stress views through April 2026. The result is labeled as a proxy overlay—not a total-portfolio risk engine.</a:t>
            </a:r>
          </a:p>
        </p:txBody>
      </p:sp>
      <p:sp>
        <p:nvSpPr>
          <p:cNvPr id="5" name="TextBox 5">
            <a:extLst xmlns:a="http://schemas.openxmlformats.org/drawingml/2006/main">
              <a:ext uri="{FF2B5EF4-FFF2-40B4-BE49-F238E27FC236}">
                <a16:creationId xmlns:a16="http://schemas.microsoft.com/office/drawing/2014/main" id="{D300E7A2-7563-4D72-9AA5-B335D8303E2B}"/>
              </a:ext>
            </a:extLst>
          </p:cNvPr>
          <p:cNvSpPr>
            <a:spLocks xmlns:a="http://schemas.openxmlformats.org/drawingml/2006/main" noGrp="1"/>
          </p:cNvSpPr>
          <p:nvPr/>
        </p:nvSpPr>
        <p:spPr>
          <a:xfrm xmlns:a="http://schemas.openxmlformats.org/drawingml/2006/main">
            <a:off x="6559502"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DATA CONTROL</a:t>
            </a:r>
          </a:p>
        </p:txBody>
      </p:sp>
      <p:sp>
        <p:nvSpPr>
          <p:cNvPr id="6" name="TextBox 6">
            <a:extLst xmlns:a="http://schemas.openxmlformats.org/drawingml/2006/main">
              <a:ext uri="{FF2B5EF4-FFF2-40B4-BE49-F238E27FC236}">
                <a16:creationId xmlns:a16="http://schemas.microsoft.com/office/drawing/2014/main" id="{8E1A804C-6775-4422-8F89-B8930B106504}"/>
              </a:ext>
            </a:extLst>
          </p:cNvPr>
          <p:cNvSpPr>
            <a:spLocks xmlns:a="http://schemas.openxmlformats.org/drawingml/2006/main" noGrp="1"/>
          </p:cNvSpPr>
          <p:nvPr/>
        </p:nvSpPr>
        <p:spPr>
          <a:xfrm xmlns:a="http://schemas.openxmlformats.org/drawingml/2006/main">
            <a:off x="6559502"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Synthetic family-office data only. Source IDs, extraction mode, validation rules, review decisions, and update reasons remain traceable across outputs.</a:t>
            </a:r>
          </a:p>
        </p:txBody>
      </p:sp>
      <p:sp>
        <p:nvSpPr>
          <p:cNvPr id="7" name="TextBox 7">
            <a:extLst xmlns:a="http://schemas.openxmlformats.org/drawingml/2006/main">
              <a:ext uri="{FF2B5EF4-FFF2-40B4-BE49-F238E27FC236}">
                <a16:creationId xmlns:a16="http://schemas.microsoft.com/office/drawing/2014/main" id="{D0DF4E5F-10F1-4BBD-84AB-88CA953B1083}"/>
              </a:ext>
            </a:extLst>
          </p:cNvPr>
          <p:cNvSpPr>
            <a:spLocks xmlns:a="http://schemas.openxmlformats.org/drawingml/2006/main" noGrp="1"/>
          </p:cNvSpPr>
          <p:nvPr/>
        </p:nvSpPr>
        <p:spPr>
          <a:xfrm xmlns:a="http://schemas.openxmlformats.org/drawingml/2006/main">
            <a:off x="12090304" y="3498396"/>
            <a:ext cx="5168996" cy="482346"/>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3672"/>
              </a:lnSpc>
              <a:buNone/>
            </a:pPr>
            <a:r>
              <a:rPr sz="3600" b="1">
                <a:solidFill>
                  <a:srgbClr val="006000"/>
                </a:solidFill>
                <a:latin typeface="Garet Bold"/>
                <a:ea typeface="Garet Bold"/>
                <a:cs typeface="Garet Bold"/>
              </a:rPr>
              <a:t>NEXT STEP</a:t>
            </a:r>
          </a:p>
        </p:txBody>
      </p:sp>
      <p:sp>
        <p:nvSpPr>
          <p:cNvPr id="8" name="TextBox 8">
            <a:extLst xmlns:a="http://schemas.openxmlformats.org/drawingml/2006/main">
              <a:ext uri="{FF2B5EF4-FFF2-40B4-BE49-F238E27FC236}">
                <a16:creationId xmlns:a16="http://schemas.microsoft.com/office/drawing/2014/main" id="{828B1174-FAF7-44CF-9BC6-1FF333E6AC5B}"/>
              </a:ext>
            </a:extLst>
          </p:cNvPr>
          <p:cNvSpPr>
            <a:spLocks xmlns:a="http://schemas.openxmlformats.org/drawingml/2006/main" noGrp="1"/>
          </p:cNvSpPr>
          <p:nvPr/>
        </p:nvSpPr>
        <p:spPr>
          <a:xfrm xmlns:a="http://schemas.openxmlformats.org/drawingml/2006/main">
            <a:off x="12090304" y="4209342"/>
            <a:ext cx="5168996" cy="3664839"/>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nSpc>
                <a:spcPts val="2448"/>
              </a:lnSpc>
              <a:buNone/>
            </a:pPr>
            <a:r>
              <a:rPr sz="2400">
                <a:gradFill>
                  <a:gsLst>
                    <a:gs pos="0">
                      <a:srgbClr val="000000">
                        <a:alpha val="100000"/>
                      </a:srgbClr>
                    </a:gs>
                    <a:gs pos="100000">
                      <a:srgbClr val="011000">
                        <a:alpha val="100000"/>
                      </a:srgbClr>
                    </a:gs>
                  </a:gsLst>
                  <a:path path="circle">
                    <a:fillToRect l="0" t="0" r="100000" b="100000"/>
                  </a:path>
                  <a:tileRect l="-100000" t="-100000"/>
                </a:gradFill>
                <a:latin typeface="Garet"/>
                <a:ea typeface="Garet"/>
                <a:cs typeface="Garet"/>
              </a:rPr>
              <a:t>Move from proof-of-concept to controlled pilot: define owners and thresholds, connect approved sources, benchmark field accuracy, then add access control, encryption, monitoring, and richer private-market risk methods.</a:t>
            </a:r>
          </a:p>
        </p:txBody>
      </p:sp>
    </p:spTree>
    <p:extLst>
      <p:ext uri="{BB962C8B-B14F-4D97-AF65-F5344CB8AC3E}">
        <p14:creationId xmlns:p14="http://schemas.microsoft.com/office/powerpoint/2010/main" val="225312575"/>
      </p:ext>
    </p:extLst>
  </p:cSld>
</p:sld>
</file>

<file path=ppt/slides/slide11.xml><?xml version="1.0" encoding="utf-8"?>
<p:sld xmlns:p="http://schemas.openxmlformats.org/presentationml/2006/main">
  <p:cSld>
    <p:bg>
      <p:bgPr>
        <a:gradFill xmlns:a="http://schemas.openxmlformats.org/drawingml/2006/main" rotWithShape="1">
          <a:gsLst>
            <a:gs pos="0">
              <a:srgbClr val="000000">
                <a:alpha val="100000"/>
              </a:srgbClr>
            </a:gs>
            <a:gs pos="100000">
              <a:srgbClr val="011000">
                <a:alpha val="100000"/>
              </a:srgbClr>
            </a:gs>
          </a:gsLst>
          <a:path path="circle">
            <a:fillToRect l="0" t="0" r="100000" b="100000"/>
          </a:path>
          <a:tileRect l="-100000" t="-100000"/>
        </a:gradFill>
      </p:bgPr>
    </p:bg>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C2CD02A5-0CFA-47FA-A094-E5385C9351FF}"/>
              </a:ext>
            </a:extLst>
          </p:cNvPr>
          <p:cNvSpPr>
            <a:spLocks xmlns:a="http://schemas.openxmlformats.org/drawingml/2006/main" noGrp="1"/>
          </p:cNvSpPr>
          <p:nvPr/>
        </p:nvSpPr>
        <p:spPr>
          <a:xfrm xmlns:a="http://schemas.openxmlformats.org/drawingml/2006/main">
            <a:off x="7020599" y="1270898"/>
            <a:ext cx="654141" cy="594674"/>
          </a:xfrm>
          <a:custGeom xmlns:a="http://schemas.openxmlformats.org/drawingml/2006/main">
            <a:rect l="l" t="t" r="r" b="b"/>
            <a:pathLst>
              <a:path w="654141" h="594674">
                <a:moveTo>
                  <a:pt x="0" y="0"/>
                </a:moveTo>
                <a:lnTo>
                  <a:pt x="654141" y="0"/>
                </a:lnTo>
                <a:lnTo>
                  <a:pt x="654141" y="594674"/>
                </a:lnTo>
                <a:lnTo>
                  <a:pt x="0" y="594674"/>
                </a:lnTo>
                <a:lnTo>
                  <a:pt x="0" y="0"/>
                </a:lnTo>
                <a:close/>
              </a:path>
            </a:pathLst>
          </a:custGeom>
          <a:blipFill xmlns:a="http://schemas.openxmlformats.org/drawingml/2006/main">
            <a:blip xmlns:r="http://schemas.openxmlformats.org/officeDocument/2006/relationships" r:embed="R30d1902eca0f4f20">
              <a:extLst>
                <a:ext uri="{96DAC541-7B7A-43D3-8B79-37D633B846F1}">
                  <asvg:svgBlip xmlns:asvg="http://schemas.microsoft.com/office/drawing/2016/SVG/main" r:embed="R7c3bc2703fe54d95"/>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3" name="Freeform 3">
            <a:extLst xmlns:a="http://schemas.openxmlformats.org/drawingml/2006/main">
              <a:ext uri="{FF2B5EF4-FFF2-40B4-BE49-F238E27FC236}">
                <a16:creationId xmlns:a16="http://schemas.microsoft.com/office/drawing/2014/main" id="{FA816F0A-A4CF-4F51-A1AD-32537D0CC9C1}"/>
              </a:ext>
            </a:extLst>
          </p:cNvPr>
          <p:cNvSpPr>
            <a:spLocks xmlns:a="http://schemas.openxmlformats.org/drawingml/2006/main" noGrp="1"/>
          </p:cNvSpPr>
          <p:nvPr/>
        </p:nvSpPr>
        <p:spPr>
          <a:xfrm xmlns:a="http://schemas.openxmlformats.org/drawingml/2006/main">
            <a:off x="-2480326" y="1855659"/>
            <a:ext cx="7727832" cy="6575683"/>
          </a:xfrm>
          <a:custGeom xmlns:a="http://schemas.openxmlformats.org/drawingml/2006/main">
            <a:rect l="l" t="t" r="r" b="b"/>
            <a:pathLst>
              <a:path w="7727832" h="6575683">
                <a:moveTo>
                  <a:pt x="0" y="0"/>
                </a:moveTo>
                <a:lnTo>
                  <a:pt x="7727832" y="0"/>
                </a:lnTo>
                <a:lnTo>
                  <a:pt x="7727832" y="6575682"/>
                </a:lnTo>
                <a:lnTo>
                  <a:pt x="0" y="6575682"/>
                </a:lnTo>
                <a:lnTo>
                  <a:pt x="0" y="0"/>
                </a:lnTo>
                <a:close/>
              </a:path>
            </a:pathLst>
          </a:custGeom>
          <a:blipFill xmlns:a="http://schemas.openxmlformats.org/drawingml/2006/main">
            <a:blip xmlns:r="http://schemas.openxmlformats.org/officeDocument/2006/relationships" r:embed="R2ba14b1f8af3492d">
              <a:extLst>
                <a:ext uri="{96DAC541-7B7A-43D3-8B79-37D633B846F1}">
                  <asvg:svgBlip xmlns:asvg="http://schemas.microsoft.com/office/drawing/2016/SVG/main" r:embed="Redfe9cd436ee4bb6"/>
                </a:ext>
              </a:extLst>
            </a:blip>
            <a:stretch>
              <a:fillRect l="0" t="0" r="0" b="0"/>
            </a:stretch>
          </a:blipFill>
        </p:spPr>
        <p:txBody>
          <a:bodyPr xmlns:a="http://schemas.openxmlformats.org/drawingml/2006/main"/>
          <a:lstStyle xmlns:a="http://schemas.openxmlformats.org/drawingml/2006/main"/>
          <a:p xmlns:a="http://schemas.openxmlformats.org/drawingml/2006/main"/>
        </p:txBody>
      </p:sp>
      <p:sp>
        <p:nvSpPr>
          <p:cNvPr id="4" name="TextBox 4">
            <a:extLst xmlns:a="http://schemas.openxmlformats.org/drawingml/2006/main">
              <a:ext uri="{FF2B5EF4-FFF2-40B4-BE49-F238E27FC236}">
                <a16:creationId xmlns:a16="http://schemas.microsoft.com/office/drawing/2014/main" id="{A80EC16A-F60E-485E-AFFE-1648B0C01D2F}"/>
              </a:ext>
            </a:extLst>
          </p:cNvPr>
          <p:cNvSpPr>
            <a:spLocks xmlns:a="http://schemas.openxmlformats.org/drawingml/2006/main" noGrp="1"/>
          </p:cNvSpPr>
          <p:nvPr/>
        </p:nvSpPr>
        <p:spPr>
          <a:xfrm xmlns:a="http://schemas.openxmlformats.org/drawingml/2006/main">
            <a:off x="7020599" y="4891809"/>
            <a:ext cx="10238701" cy="3682134"/>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14244"/>
              </a:lnSpc>
              <a:buNone/>
            </a:pPr>
            <a:r>
              <a:rPr sz="13965" b="1">
                <a:solidFill>
                  <a:srgbClr val="FFFFFF"/>
                </a:solidFill>
                <a:latin typeface="Garet Bold"/>
                <a:ea typeface="Garet Bold"/>
                <a:cs typeface="Garet Bold"/>
              </a:rPr>
              <a:t>CONTROL THE FLOW</a:t>
            </a:r>
          </a:p>
        </p:txBody>
      </p:sp>
      <p:sp>
        <p:nvSpPr>
          <p:cNvPr id="5" name="TextBox 5">
            <a:extLst xmlns:a="http://schemas.openxmlformats.org/drawingml/2006/main">
              <a:ext uri="{FF2B5EF4-FFF2-40B4-BE49-F238E27FC236}">
                <a16:creationId xmlns:a16="http://schemas.microsoft.com/office/drawing/2014/main" id="{90579917-81BE-4647-8E79-BE9906A0B07E}"/>
              </a:ext>
            </a:extLst>
          </p:cNvPr>
          <p:cNvSpPr>
            <a:spLocks xmlns:a="http://schemas.openxmlformats.org/drawingml/2006/main" noGrp="1"/>
          </p:cNvSpPr>
          <p:nvPr/>
        </p:nvSpPr>
        <p:spPr>
          <a:xfrm xmlns:a="http://schemas.openxmlformats.org/drawingml/2006/main">
            <a:off x="7020599" y="2223645"/>
            <a:ext cx="2803306" cy="32240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85"/>
              </a:lnSpc>
              <a:spcBef>
                <a:spcPct val="0"/>
              </a:spcBef>
              <a:buNone/>
            </a:pPr>
            <a:r>
              <a:rPr sz="2436">
                <a:solidFill>
                  <a:srgbClr val="FFFFFF"/>
                </a:solidFill>
                <a:latin typeface="Garet"/>
                <a:ea typeface="Garet"/>
                <a:cs typeface="Garet"/>
              </a:rPr>
              <a:t>AI-ENABLED</a:t>
            </a:r>
          </a:p>
        </p:txBody>
      </p:sp>
      <p:sp>
        <p:nvSpPr>
          <p:cNvPr id="6" name="TextBox 6">
            <a:extLst xmlns:a="http://schemas.openxmlformats.org/drawingml/2006/main">
              <a:ext uri="{FF2B5EF4-FFF2-40B4-BE49-F238E27FC236}">
                <a16:creationId xmlns:a16="http://schemas.microsoft.com/office/drawing/2014/main" id="{4EB32A43-0086-4EAA-8E24-5E1DA1544F36}"/>
              </a:ext>
            </a:extLst>
          </p:cNvPr>
          <p:cNvSpPr>
            <a:spLocks xmlns:a="http://schemas.openxmlformats.org/drawingml/2006/main" noGrp="1"/>
          </p:cNvSpPr>
          <p:nvPr/>
        </p:nvSpPr>
        <p:spPr>
          <a:xfrm xmlns:a="http://schemas.openxmlformats.org/drawingml/2006/main">
            <a:off x="7020599" y="2593677"/>
            <a:ext cx="2803306" cy="322408"/>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85"/>
              </a:lnSpc>
              <a:spcBef>
                <a:spcPct val="0"/>
              </a:spcBef>
              <a:buNone/>
            </a:pPr>
            <a:r>
              <a:rPr sz="2436">
                <a:solidFill>
                  <a:srgbClr val="FFFFFF"/>
                </a:solidFill>
                <a:latin typeface="Garet"/>
                <a:ea typeface="Garet"/>
                <a:cs typeface="Garet"/>
              </a:rPr>
              <a:t>REPORTING</a:t>
            </a:r>
          </a:p>
        </p:txBody>
      </p:sp>
      <p:sp>
        <p:nvSpPr>
          <p:cNvPr id="7" name="TextBox 7">
            <a:extLst xmlns:a="http://schemas.openxmlformats.org/drawingml/2006/main">
              <a:ext uri="{FF2B5EF4-FFF2-40B4-BE49-F238E27FC236}">
                <a16:creationId xmlns:a16="http://schemas.microsoft.com/office/drawing/2014/main" id="{4C0F57E3-C3BE-400E-B777-91CFC1089162}"/>
              </a:ext>
            </a:extLst>
          </p:cNvPr>
          <p:cNvSpPr>
            <a:spLocks xmlns:a="http://schemas.openxmlformats.org/drawingml/2006/main" noGrp="1"/>
          </p:cNvSpPr>
          <p:nvPr/>
        </p:nvSpPr>
        <p:spPr>
          <a:xfrm xmlns:a="http://schemas.openxmlformats.org/drawingml/2006/main">
            <a:off x="7020599" y="8621567"/>
            <a:ext cx="5355695" cy="6367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2485"/>
              </a:lnSpc>
              <a:spcBef>
                <a:spcPct val="0"/>
              </a:spcBef>
              <a:buNone/>
            </a:pPr>
            <a:r>
              <a:rPr sz="2436">
                <a:solidFill>
                  <a:srgbClr val="FFFFFF"/>
                </a:solidFill>
                <a:latin typeface="Garet"/>
                <a:ea typeface="Garet"/>
                <a:cs typeface="Garet"/>
              </a:rPr>
              <a:t>AUTOMATE PREPARATION. KEEP HUMAN AUTHORITY.</a:t>
            </a:r>
          </a:p>
        </p:txBody>
      </p:sp>
    </p:spTree>
    <p:extLst>
      <p:ext uri="{BB962C8B-B14F-4D97-AF65-F5344CB8AC3E}">
        <p14:creationId xmlns:p14="http://schemas.microsoft.com/office/powerpoint/2010/main" val="117588717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2026-07-17T11:51:56.0830000Z</dcterms:created>
  <dcterms:modified xsi:type="dcterms:W3CDTF">2026-07-17T11:51:56.0830000Z</dcterms:modified>
</coreProperties>
</file>