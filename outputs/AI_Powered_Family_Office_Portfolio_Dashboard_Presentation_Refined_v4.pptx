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e41067b00544d9" /><Relationship Type="http://schemas.openxmlformats.org/officeDocument/2006/relationships/extended-properties" Target="/docProps/app.xml" Id="R945354d497be4199" /><Relationship Type="http://schemas.openxmlformats.org/officeDocument/2006/relationships/officeDocument" Target="/ppt/presentation.xml" Id="Rc9b8404af856415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de169b773504911"/>
  </p:sldMasterIdLst>
  <p:notesMasterIdLst>
    <p:notesMasterId xmlns:r="http://schemas.openxmlformats.org/officeDocument/2006/relationships" r:id="Rec8ca8b139894d7c"/>
  </p:notesMasterIdLst>
  <p:sldIdLst>
    <p:sldId xmlns:r="http://schemas.openxmlformats.org/officeDocument/2006/relationships" id="256" r:id="Rd110006e2d8142f6"/>
    <p:sldId xmlns:r="http://schemas.openxmlformats.org/officeDocument/2006/relationships" id="257" r:id="R8aae1e268c2e477a"/>
    <p:sldId xmlns:r="http://schemas.openxmlformats.org/officeDocument/2006/relationships" id="258" r:id="Ra0b40e03586243a7"/>
    <p:sldId xmlns:r="http://schemas.openxmlformats.org/officeDocument/2006/relationships" id="259" r:id="R0afacf9c551e4caa"/>
    <p:sldId xmlns:r="http://schemas.openxmlformats.org/officeDocument/2006/relationships" id="260" r:id="Rf269e55ff7ef4bd0"/>
    <p:sldId xmlns:r="http://schemas.openxmlformats.org/officeDocument/2006/relationships" id="261" r:id="Rb6103e56b5c24497"/>
    <p:sldId xmlns:r="http://schemas.openxmlformats.org/officeDocument/2006/relationships" id="262" r:id="R4f39e19d02db45cb"/>
    <p:sldId xmlns:r="http://schemas.openxmlformats.org/officeDocument/2006/relationships" id="263" r:id="Rd72c321be05c4604"/>
    <p:sldId xmlns:r="http://schemas.openxmlformats.org/officeDocument/2006/relationships" id="264" r:id="R0a8b6c9289984653"/>
    <p:sldId xmlns:r="http://schemas.openxmlformats.org/officeDocument/2006/relationships" id="265" r:id="R801cb9b52c0444f7"/>
    <p:sldId xmlns:r="http://schemas.openxmlformats.org/officeDocument/2006/relationships" id="266" r:id="R90bae68c09cd4c73"/>
    <p:sldId xmlns:r="http://schemas.openxmlformats.org/officeDocument/2006/relationships" id="267" r:id="Rf1412b1a56294a0d"/>
    <p:sldId xmlns:r="http://schemas.openxmlformats.org/officeDocument/2006/relationships" id="268" r:id="R1ebdf1153a8d4c46"/>
    <p:sldId xmlns:r="http://schemas.openxmlformats.org/officeDocument/2006/relationships" id="269" r:id="Re90e1f27e10741d6"/>
    <p:sldId xmlns:r="http://schemas.openxmlformats.org/officeDocument/2006/relationships" id="270" r:id="R2c13337baa6142f3"/>
    <p:sldId xmlns:r="http://schemas.openxmlformats.org/officeDocument/2006/relationships" id="271" r:id="R5f04014495af4204"/>
    <p:sldId xmlns:r="http://schemas.openxmlformats.org/officeDocument/2006/relationships" id="272" r:id="R2644c7f4171d4e21"/>
    <p:sldId xmlns:r="http://schemas.openxmlformats.org/officeDocument/2006/relationships" id="273" r:id="Rd22286750d984ddc"/>
  </p:sldIdLst>
  <p:sldSz cx="18288000" cy="10287000"/>
  <p:notesSz cx="6858000" cy="9144000"/>
  <p:embeddedFontLst>
    <p:embeddedFont>
      <p:font typeface="Garet"/>
      <p:regular xmlns:r="http://schemas.openxmlformats.org/officeDocument/2006/relationships" r:id="Rcc9befc43d404f9a"/>
    </p:embeddedFont>
    <p:embeddedFont>
      <p:font typeface="Garet Bold"/>
      <p:regular xmlns:r="http://schemas.openxmlformats.org/officeDocument/2006/relationships" r:id="Reeb8b8e9bf6746a5"/>
      <p:bold xmlns:r="http://schemas.openxmlformats.org/officeDocument/2006/relationships" r:id="Rf9c6532992294d6a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d0377428634ff5" /><Relationship Type="http://schemas.openxmlformats.org/officeDocument/2006/relationships/slideMaster" Target="/ppt/slideMasters/slideMaster1.xml" Id="Rede169b773504911" /><Relationship Type="http://schemas.openxmlformats.org/officeDocument/2006/relationships/notesMaster" Target="/ppt/notesMasters/notesMaster1.xml" Id="Rec8ca8b139894d7c" /><Relationship Type="http://schemas.openxmlformats.org/officeDocument/2006/relationships/presProps" Target="/ppt/presProps.xml" Id="Ra149440a230c4515" /><Relationship Type="http://schemas.openxmlformats.org/officeDocument/2006/relationships/viewProps" Target="/ppt/viewProps.xml" Id="Rd7f67d6e0fdc4d5b" /><Relationship Type="http://schemas.openxmlformats.org/officeDocument/2006/relationships/tableStyles" Target="/ppt/tableStyles.xml" Id="R362469d994f746e1" /><Relationship Type="http://schemas.openxmlformats.org/officeDocument/2006/relationships/font" Target="/ppt/fonts/font.dat" Id="Rcc9befc43d404f9a" /><Relationship Type="http://schemas.openxmlformats.org/officeDocument/2006/relationships/font" Target="/ppt/fonts/font2.dat" Id="Reeb8b8e9bf6746a5" /><Relationship Type="http://schemas.openxmlformats.org/officeDocument/2006/relationships/font" Target="/ppt/fonts/font3.dat" Id="Rf9c6532992294d6a" /><Relationship Type="http://schemas.openxmlformats.org/officeDocument/2006/relationships/slide" Target="/ppt/slides/slide1.xml" Id="Rd110006e2d8142f6" /><Relationship Type="http://schemas.openxmlformats.org/officeDocument/2006/relationships/slide" Target="/ppt/slides/slide2.xml" Id="R8aae1e268c2e477a" /><Relationship Type="http://schemas.openxmlformats.org/officeDocument/2006/relationships/slide" Target="/ppt/slides/slide3.xml" Id="Ra0b40e03586243a7" /><Relationship Type="http://schemas.openxmlformats.org/officeDocument/2006/relationships/slide" Target="/ppt/slides/slide4.xml" Id="R0afacf9c551e4caa" /><Relationship Type="http://schemas.openxmlformats.org/officeDocument/2006/relationships/slide" Target="/ppt/slides/slide5.xml" Id="Rf269e55ff7ef4bd0" /><Relationship Type="http://schemas.openxmlformats.org/officeDocument/2006/relationships/slide" Target="/ppt/slides/slide6.xml" Id="Rb6103e56b5c24497" /><Relationship Type="http://schemas.openxmlformats.org/officeDocument/2006/relationships/slide" Target="/ppt/slides/slide7.xml" Id="R4f39e19d02db45cb" /><Relationship Type="http://schemas.openxmlformats.org/officeDocument/2006/relationships/slide" Target="/ppt/slides/slide8.xml" Id="Rd72c321be05c4604" /><Relationship Type="http://schemas.openxmlformats.org/officeDocument/2006/relationships/slide" Target="/ppt/slides/slide9.xml" Id="R0a8b6c9289984653" /><Relationship Type="http://schemas.openxmlformats.org/officeDocument/2006/relationships/slide" Target="/ppt/slides/slide10.xml" Id="R801cb9b52c0444f7" /><Relationship Type="http://schemas.openxmlformats.org/officeDocument/2006/relationships/slide" Target="/ppt/slides/slide11.xml" Id="R90bae68c09cd4c73" /><Relationship Type="http://schemas.openxmlformats.org/officeDocument/2006/relationships/slide" Target="/ppt/slides/slide12.xml" Id="Rf1412b1a56294a0d" /><Relationship Type="http://schemas.openxmlformats.org/officeDocument/2006/relationships/slide" Target="/ppt/slides/slide13.xml" Id="R1ebdf1153a8d4c46" /><Relationship Type="http://schemas.openxmlformats.org/officeDocument/2006/relationships/slide" Target="/ppt/slides/slide14.xml" Id="Re90e1f27e10741d6" /><Relationship Type="http://schemas.openxmlformats.org/officeDocument/2006/relationships/slide" Target="/ppt/slides/slide15.xml" Id="R2c13337baa6142f3" /><Relationship Type="http://schemas.openxmlformats.org/officeDocument/2006/relationships/slide" Target="/ppt/slides/slide16.xml" Id="R5f04014495af4204" /><Relationship Type="http://schemas.openxmlformats.org/officeDocument/2006/relationships/slide" Target="/ppt/slides/slide17.xml" Id="R2644c7f4171d4e21" /><Relationship Type="http://schemas.openxmlformats.org/officeDocument/2006/relationships/slide" Target="/ppt/slides/slide18.xml" Id="Rd22286750d984d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a8bb18381b40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f3f9d4219c43e9" /><Relationship Type="http://schemas.openxmlformats.org/officeDocument/2006/relationships/notesMaster" Target="/ppt/notesMasters/notesMaster1.xml" Id="Ree09c18d79bb4b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06fd44d87d47e9" /><Relationship Type="http://schemas.openxmlformats.org/officeDocument/2006/relationships/notesMaster" Target="/ppt/notesMasters/notesMaster1.xml" Id="Rdb5064b5b84143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96b3604201477c" /><Relationship Type="http://schemas.openxmlformats.org/officeDocument/2006/relationships/notesMaster" Target="/ppt/notesMasters/notesMaster1.xml" Id="R12997449d83a4c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ad709ed1394528" /><Relationship Type="http://schemas.openxmlformats.org/officeDocument/2006/relationships/notesMaster" Target="/ppt/notesMasters/notesMaster1.xml" Id="R8828e1039cbb40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b4b00894b147f0" /><Relationship Type="http://schemas.openxmlformats.org/officeDocument/2006/relationships/notesMaster" Target="/ppt/notesMasters/notesMaster1.xml" Id="R1c1dabf871db4a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550e431d50454e" /><Relationship Type="http://schemas.openxmlformats.org/officeDocument/2006/relationships/notesMaster" Target="/ppt/notesMasters/notesMaster1.xml" Id="R1930810f2f3f46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25a212fed34094" /><Relationship Type="http://schemas.openxmlformats.org/officeDocument/2006/relationships/notesMaster" Target="/ppt/notesMasters/notesMaster1.xml" Id="R60ffbd4ebd5c47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3dc3708eea497f" /><Relationship Type="http://schemas.openxmlformats.org/officeDocument/2006/relationships/notesMaster" Target="/ppt/notesMasters/notesMaster1.xml" Id="R9c31ac1f75c346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7e7b3ce5514362" /><Relationship Type="http://schemas.openxmlformats.org/officeDocument/2006/relationships/notesMaster" Target="/ppt/notesMasters/notesMaster1.xml" Id="R114276742a7a48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71625ec0974799" /><Relationship Type="http://schemas.openxmlformats.org/officeDocument/2006/relationships/notesMaster" Target="/ppt/notesMasters/notesMaster1.xml" Id="Rc43eb603e75746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1c4106ff134c41" /><Relationship Type="http://schemas.openxmlformats.org/officeDocument/2006/relationships/notesMaster" Target="/ppt/notesMasters/notesMaster1.xml" Id="R24974a7bb6144c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d9f321839940dd" /><Relationship Type="http://schemas.openxmlformats.org/officeDocument/2006/relationships/notesMaster" Target="/ppt/notesMasters/notesMaster1.xml" Id="R11b40716b7a743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e898e23170451e" /><Relationship Type="http://schemas.openxmlformats.org/officeDocument/2006/relationships/notesMaster" Target="/ppt/notesMasters/notesMaster1.xml" Id="Rc8de741f96c544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35512ab8cb4819" /><Relationship Type="http://schemas.openxmlformats.org/officeDocument/2006/relationships/notesMaster" Target="/ppt/notesMasters/notesMaster1.xml" Id="R23b4d167a55f4c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c05bb317bd409e" /><Relationship Type="http://schemas.openxmlformats.org/officeDocument/2006/relationships/notesMaster" Target="/ppt/notesMasters/notesMaster1.xml" Id="Ra1eb2c6bacb2400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7159c27dd643e2" /><Relationship Type="http://schemas.openxmlformats.org/officeDocument/2006/relationships/notesMaster" Target="/ppt/notesMasters/notesMaster1.xml" Id="R3e924367596f4f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f47929ce6fa4f1c" /><Relationship Type="http://schemas.openxmlformats.org/officeDocument/2006/relationships/notesMaster" Target="/ppt/notesMasters/notesMaster1.xml" Id="R0371dc977cee428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93ae43226264286" /><Relationship Type="http://schemas.openxmlformats.org/officeDocument/2006/relationships/notesMaster" Target="/ppt/notesMasters/notesMaster1.xml" Id="R4025508305de49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project thesis: the value is not extraction alone; it is controlled information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document fragmentation becomes a portfolio, liquidity, and governance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allocation chart to establish scale and the private-market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these as the direct output of the research, not generic technology principles.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main workflow slide. Walk left to right and pause at the human review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personal contribution explicit across research, engineering, controls, dashboard and delivery.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the six documents are a controlled test set, not merely sample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outcome is not a six-for-six automation rate. It is a controlled outcome: three applied, three blocked.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each approved and blocked document into the exact dashboard consequence.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governance logic that prevents silent restatement.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explain the date and state boundary; then use allocation to orient the audience.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stacked bars to show why capital calls and statements matter to liquidity and exposure.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PDF_003 to the projected inflow and the two capital calls to blocked obligations.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model boundary explicitly: real proxy prices, synthetic holdings, directional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the workflow page exposes evidence rather than hiding processing in the backend.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 the same controlled data into three stakeholder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what is demonstrated from what a production deployment would still require.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controlled information chain as the core project contribution.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b3c58eaf34c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8d5c433634e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6700e529c04b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72e37f03fd4d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3df932ead4d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22cde100f49e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af5d5dfea4cd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786773d89463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f8cd9e10e4d0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e30a3561324b8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5f9d2d57044ba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13DCC3-1205-41E2-986A-3EDF0CA64E2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B594B47-9CDC-4E07-B057-83991E340E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C4932C8-4101-4D6F-8A69-59B86CBF64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0AFDB4-14AA-4711-920F-2006965D81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F15037-8C09-4B42-8259-5BF4098E87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4229B3-2ACC-4D35-BA9E-6BD26A5CC0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F9D8AB-7BD8-41B7-B92A-A0C93289415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088F66-7A35-44B5-9896-F47ABFD8B0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A82C84-8A74-4275-BE32-D4A58540F5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70E24BB-6B5C-46C1-AA1E-67CB86300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741E42-C40D-4C66-809B-EEB89EBFFC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42982AD-3733-469D-86BE-151C213A1F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B978C0-0EE9-4E78-9FFA-9B0D76CB1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B118E8-E348-4843-BBB9-9E6A42342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D06BDF-D920-4943-80FF-86DC19E033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E07C3D-43BC-49BB-A63A-02D9FF2249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818360F-C74F-428E-AE26-4138394786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190EF7A-15A6-4F9C-B849-82224FB9EF1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E2FE10D-5FC2-4C69-B2F4-F21B35DD00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16F6BB6-716B-40EE-AB02-1C9D13E291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CB6A4C-A008-43FF-870D-86468FDF43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30A5FB-7BA2-4251-BDFF-D380B63E20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29DB67E-CFFC-46A9-8497-A636C4ED3F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02469F1-1705-4DDA-B416-068E8D0357D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849A84D-8952-4490-B7B9-A8ED8D7161E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0A7D6AF-B756-4275-AA85-4AD33DFD16E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F9DB77E-CCD6-4CF8-99FA-1891529721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320F1D0-4872-4455-AF4C-ED1CD65FF0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AD81FFA-359B-49D3-94D7-0C7BB17355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3A7A9B-1B38-4E6C-B5AB-355350578E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816832-AF70-40D0-BC36-6CA23B2E8D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8222BF1-C057-47B5-8B16-836C39566C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6AD6A43-CB3A-4B0A-B1B1-B4BE2FAF8B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7FA26CE-4819-485D-A513-7D758205FF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5DAD066-5051-4761-A5EC-37E180DD8B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2C82C3-D523-48EB-ABDC-B3DA25F72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519537-C658-4F03-A084-7CA84D2245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F436F35-1225-495F-BD4C-4F14EB3177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24354F4-2D34-448E-8F71-7E7D368EB3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6F1B1D4-53CC-471B-9F23-C7DD881270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22FC1F1-42F9-4F3C-BF45-D7807EF7F6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92685C4-CA9A-4468-8684-F3D6BA1069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EECF56-6103-48BA-B22E-30A134A9DF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76B0C55-85BA-426E-A417-3E8140C5664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F70A2ED-615F-44B3-BC10-FD6AE61C6A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EA045C9-585E-4351-89C8-8288A9F4F6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059679E-C1E7-4504-BB4E-EF0FC95481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D09ECA-D33F-4DC7-B868-FF96523BF3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0497AD-E084-456F-84CC-542394D538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A3B3948-D456-45D0-A02F-5FE1059DDA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A391035-5B7C-4E8B-A899-5C404699BE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AEAEAC6-1818-48BB-AF54-A2D7125592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14183B-1932-4C3C-B502-F713DA0905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CE07A9D-691A-4F1D-9688-724DB11434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97BE96-1500-44C2-8876-10F360919C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1BDEB3-716C-486E-89BB-E21675AC2D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1DB572E-E93E-4EB2-A102-4CA8947E1D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A330D7-7436-45E7-A05F-71DB153E02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44dfb795484876" /><Relationship Type="http://schemas.openxmlformats.org/officeDocument/2006/relationships/slideLayout" Target="/ppt/slideLayouts/slideLayout1.xml" Id="R9421fad77ae74e15" /><Relationship Type="http://schemas.openxmlformats.org/officeDocument/2006/relationships/slideLayout" Target="/ppt/slideLayouts/slideLayout2.xml" Id="R419c4d9b70264c26" /><Relationship Type="http://schemas.openxmlformats.org/officeDocument/2006/relationships/slideLayout" Target="/ppt/slideLayouts/slideLayout3.xml" Id="R903570affe374b49" /><Relationship Type="http://schemas.openxmlformats.org/officeDocument/2006/relationships/slideLayout" Target="/ppt/slideLayouts/slideLayout4.xml" Id="R3c493192414d44ff" /><Relationship Type="http://schemas.openxmlformats.org/officeDocument/2006/relationships/slideLayout" Target="/ppt/slideLayouts/slideLayout5.xml" Id="Rd8602886485b4f48" /><Relationship Type="http://schemas.openxmlformats.org/officeDocument/2006/relationships/slideLayout" Target="/ppt/slideLayouts/slideLayout6.xml" Id="R75e9fb284b2f497a" /><Relationship Type="http://schemas.openxmlformats.org/officeDocument/2006/relationships/slideLayout" Target="/ppt/slideLayouts/slideLayout7.xml" Id="R53f1263b509e4b28" /><Relationship Type="http://schemas.openxmlformats.org/officeDocument/2006/relationships/slideLayout" Target="/ppt/slideLayouts/slideLayout8.xml" Id="R8622fe4069794d1d" /><Relationship Type="http://schemas.openxmlformats.org/officeDocument/2006/relationships/slideLayout" Target="/ppt/slideLayouts/slideLayout9.xml" Id="R6aa9404741b84d91" /><Relationship Type="http://schemas.openxmlformats.org/officeDocument/2006/relationships/slideLayout" Target="/ppt/slideLayouts/slideLayout10.xml" Id="Rc0e75c49393c4d41" /><Relationship Type="http://schemas.openxmlformats.org/officeDocument/2006/relationships/slideLayout" Target="/ppt/slideLayouts/slideLayout11.xml" Id="R7cdbf625fa50428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A687CE0-E262-417E-9B19-4F8C927FC7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EFA3495-1370-4782-B89F-D6D9CD6823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B600C3-1759-4837-8E5D-A1D947BDBB4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756F1A-F2CC-4652-ABD6-E4E8594C4F0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008E2A-53A5-48D8-9A56-22814A8ACD4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21fad77ae74e15"/>
    <p:sldLayoutId xmlns:r="http://schemas.openxmlformats.org/officeDocument/2006/relationships" id="2147483650" r:id="R419c4d9b70264c26"/>
    <p:sldLayoutId xmlns:r="http://schemas.openxmlformats.org/officeDocument/2006/relationships" id="2147483651" r:id="R903570affe374b49"/>
    <p:sldLayoutId xmlns:r="http://schemas.openxmlformats.org/officeDocument/2006/relationships" id="2147483652" r:id="R3c493192414d44ff"/>
    <p:sldLayoutId xmlns:r="http://schemas.openxmlformats.org/officeDocument/2006/relationships" id="2147483653" r:id="Rd8602886485b4f48"/>
    <p:sldLayoutId xmlns:r="http://schemas.openxmlformats.org/officeDocument/2006/relationships" id="2147483654" r:id="R75e9fb284b2f497a"/>
    <p:sldLayoutId xmlns:r="http://schemas.openxmlformats.org/officeDocument/2006/relationships" id="2147483655" r:id="R53f1263b509e4b28"/>
    <p:sldLayoutId xmlns:r="http://schemas.openxmlformats.org/officeDocument/2006/relationships" id="2147483656" r:id="R8622fe4069794d1d"/>
    <p:sldLayoutId xmlns:r="http://schemas.openxmlformats.org/officeDocument/2006/relationships" id="2147483657" r:id="R6aa9404741b84d91"/>
    <p:sldLayoutId xmlns:r="http://schemas.openxmlformats.org/officeDocument/2006/relationships" id="2147483658" r:id="Rc0e75c49393c4d41"/>
    <p:sldLayoutId xmlns:r="http://schemas.openxmlformats.org/officeDocument/2006/relationships" id="2147483659" r:id="R7cdbf625fa504289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7f22e44764482c" /><Relationship Type="http://schemas.openxmlformats.org/officeDocument/2006/relationships/image" Target="/ppt/media/image.jpeg" Id="R13f0c87df7c6421e" /><Relationship Type="http://schemas.openxmlformats.org/officeDocument/2006/relationships/image" Target="/ppt/media/image.svg" Id="R075f9f1afe0e4b88" /><Relationship Type="http://schemas.openxmlformats.org/officeDocument/2006/relationships/image" Target="/ppt/media/image2.jpeg" Id="R94d9b22a4a514f27" /><Relationship Type="http://schemas.openxmlformats.org/officeDocument/2006/relationships/image" Target="/ppt/media/image2.svg" Id="R00defdb506204e87" /><Relationship Type="http://schemas.openxmlformats.org/officeDocument/2006/relationships/image" Target="/ppt/media/image3.jpeg" Id="Rd34439181614477a" /><Relationship Type="http://schemas.openxmlformats.org/officeDocument/2006/relationships/image" Target="/ppt/media/image3.svg" Id="R2f9ac4e617e74ee9" /><Relationship Type="http://schemas.openxmlformats.org/officeDocument/2006/relationships/notesSlide" Target="/ppt/notesSlides/notesSlide1.xml" Id="R8e75e358a8c746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2b45c83086403f" /><Relationship Type="http://schemas.openxmlformats.org/officeDocument/2006/relationships/notesSlide" Target="/ppt/notesSlides/notesSlide2.xml" Id="Rf498ed5f9d574c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6569bef0df49aa" /><Relationship Type="http://schemas.openxmlformats.org/officeDocument/2006/relationships/chart" Target="/ppt/slides/charts/chart1.xml" Id="Rc64f2d1de3d14eaa" /><Relationship Type="http://schemas.openxmlformats.org/officeDocument/2006/relationships/notesSlide" Target="/ppt/notesSlides/notesSlide3.xml" Id="R56425feb62584e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d773d5e85b447b" /><Relationship Type="http://schemas.openxmlformats.org/officeDocument/2006/relationships/notesSlide" Target="/ppt/notesSlides/notesSlide4.xml" Id="R8003dc9782d54a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84e2a08c2e48db" /><Relationship Type="http://schemas.openxmlformats.org/officeDocument/2006/relationships/notesSlide" Target="/ppt/notesSlides/notesSlide5.xml" Id="Reac34328964f41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527ee394834431" /><Relationship Type="http://schemas.openxmlformats.org/officeDocument/2006/relationships/notesSlide" Target="/ppt/notesSlides/notesSlide6.xml" Id="Rcbb64638879248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6a6b25a48e4019" /><Relationship Type="http://schemas.openxmlformats.org/officeDocument/2006/relationships/notesSlide" Target="/ppt/notesSlides/notesSlide7.xml" Id="Rf2a58391132844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eb170b33054de2" /><Relationship Type="http://schemas.openxmlformats.org/officeDocument/2006/relationships/chart" Target="/ppt/slides/charts/chart2.xml" Id="R15a940cebf5b4d78" /><Relationship Type="http://schemas.openxmlformats.org/officeDocument/2006/relationships/notesSlide" Target="/ppt/notesSlides/notesSlide8.xml" Id="R9463ede272bf4a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8e94539f494e8c" /><Relationship Type="http://schemas.openxmlformats.org/officeDocument/2006/relationships/notesSlide" Target="/ppt/notesSlides/notesSlide9.xml" Id="Rc2bf5bb08ce040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8d9d00aa774470" /><Relationship Type="http://schemas.openxmlformats.org/officeDocument/2006/relationships/notesSlide" Target="/ppt/notesSlides/notesSlide10.xml" Id="Rd0e73838441e4a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4bc058daf74e15" /><Relationship Type="http://schemas.openxmlformats.org/officeDocument/2006/relationships/image" Target="/ppt/media/image4.jpeg" Id="Rdf2d2dfc072844c1" /><Relationship Type="http://schemas.openxmlformats.org/officeDocument/2006/relationships/chart" Target="/ppt/slides/charts/chart3.xml" Id="Rd0f31823ce834e72" /><Relationship Type="http://schemas.openxmlformats.org/officeDocument/2006/relationships/notesSlide" Target="/ppt/notesSlides/notesSlide11.xml" Id="R42fa2355f2a14b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e09f4eea9947a3" /><Relationship Type="http://schemas.openxmlformats.org/officeDocument/2006/relationships/chart" Target="/ppt/slides/charts/chart4.xml" Id="R7a41cce3584943ca" /><Relationship Type="http://schemas.openxmlformats.org/officeDocument/2006/relationships/image" Target="/ppt/media/image5.jpeg" Id="R8505c323c59446a9" /><Relationship Type="http://schemas.openxmlformats.org/officeDocument/2006/relationships/notesSlide" Target="/ppt/notesSlides/notesSlide12.xml" Id="Rb8ce0dadcbbc49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9b4e48f53c470f" /><Relationship Type="http://schemas.openxmlformats.org/officeDocument/2006/relationships/image" Target="/ppt/media/image6.jpeg" Id="R525e35f93f5c4de4" /><Relationship Type="http://schemas.openxmlformats.org/officeDocument/2006/relationships/notesSlide" Target="/ppt/notesSlides/notesSlide13.xml" Id="Rfc680b5802b64e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b31357d1c84572" /><Relationship Type="http://schemas.openxmlformats.org/officeDocument/2006/relationships/chart" Target="/ppt/slides/charts/chart5.xml" Id="R8a550189e6114fa9" /><Relationship Type="http://schemas.openxmlformats.org/officeDocument/2006/relationships/image" Target="/ppt/media/image7.jpeg" Id="Rf3b02e70ddc54952" /><Relationship Type="http://schemas.openxmlformats.org/officeDocument/2006/relationships/notesSlide" Target="/ppt/notesSlides/notesSlide14.xml" Id="R2d7b5d4c9adb4d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f13cdd00624061" /><Relationship Type="http://schemas.openxmlformats.org/officeDocument/2006/relationships/image" Target="/ppt/media/image8.jpeg" Id="Rbfbc6153e82e4a88" /><Relationship Type="http://schemas.openxmlformats.org/officeDocument/2006/relationships/notesSlide" Target="/ppt/notesSlides/notesSlide15.xml" Id="Rafaf6d738bd84c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ae7168e7224e6c" /><Relationship Type="http://schemas.openxmlformats.org/officeDocument/2006/relationships/notesSlide" Target="/ppt/notesSlides/notesSlide16.xml" Id="Rf3ba6a4da3d64f6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f4770945a34986" /><Relationship Type="http://schemas.openxmlformats.org/officeDocument/2006/relationships/notesSlide" Target="/ppt/notesSlides/notesSlide17.xml" Id="Rd2d5e74fdf6943f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3c97d1d1c648f4" /><Relationship Type="http://schemas.openxmlformats.org/officeDocument/2006/relationships/image" Target="/ppt/media/image3.jpeg" Id="R2f8709674a224832" /><Relationship Type="http://schemas.openxmlformats.org/officeDocument/2006/relationships/image" Target="/ppt/media/image3.svg" Id="Rcff140ca1cca4f55" /><Relationship Type="http://schemas.openxmlformats.org/officeDocument/2006/relationships/image" Target="/ppt/media/image9.jpeg" Id="R91a49a75eb574477" /><Relationship Type="http://schemas.openxmlformats.org/officeDocument/2006/relationships/image" Target="/ppt/media/image4.svg" Id="Rb55173fbf7944e15" /><Relationship Type="http://schemas.openxmlformats.org/officeDocument/2006/relationships/notesSlide" Target="/ppt/notesSlides/notesSlide18.xml" Id="R599fe78f136a4fe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USD m</c:v>
          </c:tx>
          <c:spPr>
            <a:solidFill xmlns:a="http://schemas.openxmlformats.org/drawingml/2006/main">
              <a:srgbClr val="21D52B"/>
            </a:solidFill>
          </c:spPr>
          <c:cat>
            <c:strLit>
              <c:ptCount val="9"/>
              <c:pt idx="0">
                <c:v>Public equities</c:v>
              </c:pt>
              <c:pt idx="1">
                <c:v>Private equity</c:v>
              </c:pt>
              <c:pt idx="2">
                <c:v>Fixed income</c:v>
              </c:pt>
              <c:pt idx="3">
                <c:v>Hedge funds</c:v>
              </c:pt>
              <c:pt idx="4">
                <c:v>Venture / growth</c:v>
              </c:pt>
              <c:pt idx="5">
                <c:v>Private credit</c:v>
              </c:pt>
              <c:pt idx="6">
                <c:v>Real estate</c:v>
              </c:pt>
              <c:pt idx="7">
                <c:v>Infrastructure</c:v>
              </c:pt>
              <c:pt idx="8">
                <c:v>Cash</c:v>
              </c:pt>
            </c:strLit>
          </c:cat>
          <c:val>
            <c:numLit>
              <c:formatCode>General</c:formatCode>
              <c:ptCount val="9"/>
              <c:pt idx="0">
                <c:v>209.5</c:v>
              </c:pt>
              <c:pt idx="1">
                <c:v>135</c:v>
              </c:pt>
              <c:pt idx="2">
                <c:v>83</c:v>
              </c:pt>
              <c:pt idx="3">
                <c:v>75</c:v>
              </c:pt>
              <c:pt idx="4">
                <c:v>75</c:v>
              </c:pt>
              <c:pt idx="5">
                <c:v>67.5</c:v>
              </c:pt>
              <c:pt idx="6">
                <c:v>52.5</c:v>
              </c:pt>
              <c:pt idx="7">
                <c:v>30</c:v>
              </c:pt>
              <c:pt idx="8">
                <c:v>22.5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29402E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Documents</c:v>
          </c:tx>
          <c:cat>
            <c:strLit>
              <c:ptCount val="3"/>
              <c:pt idx="0">
                <c:v>Approved</c:v>
              </c:pt>
              <c:pt idx="1">
                <c:v>Needs review</c:v>
              </c:pt>
              <c:pt idx="2">
                <c:v>Rejected</c:v>
              </c:pt>
            </c:strLit>
          </c:cat>
          <c:val>
            <c:numLit>
              <c:formatCode>General</c:formatCode>
              <c:ptCount val="3"/>
              <c:pt idx="0">
                <c:v>3</c:v>
              </c:pt>
              <c:pt idx="1">
                <c:v>2</c:v>
              </c:pt>
              <c:pt idx="2">
                <c:v>1</c:v>
              </c:pt>
            </c:numLit>
          </c:val>
        </c:ser>
        <c:dLbls>
          <c:dLblPos val="outEnd"/>
          <c:showLegendKey val="0"/>
          <c:showVal val="1"/>
          <c:showCatName val="1"/>
          <c:showSerName val="0"/>
          <c:showPercent val="0"/>
          <c:showBubbleSize val="0"/>
          <c:showLeaderLines val="0"/>
        </c:dLbls>
      </c:doughnutChart>
    </c:plotArea>
    <c:legend>
      <c:legendPos val="b"/>
      <c:overlay val="0"/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USD m</c:v>
          </c:tx>
          <c:cat>
            <c:strLit>
              <c:ptCount val="9"/>
              <c:pt idx="0">
                <c:v>Public equity</c:v>
              </c:pt>
              <c:pt idx="1">
                <c:v>Private equity</c:v>
              </c:pt>
              <c:pt idx="2">
                <c:v>Fixed income</c:v>
              </c:pt>
              <c:pt idx="3">
                <c:v>Hedge funds</c:v>
              </c:pt>
              <c:pt idx="4">
                <c:v>VC / growth</c:v>
              </c:pt>
              <c:pt idx="5">
                <c:v>Private credit</c:v>
              </c:pt>
              <c:pt idx="6">
                <c:v>Real estate</c:v>
              </c:pt>
              <c:pt idx="7">
                <c:v>Infrastructure</c:v>
              </c:pt>
              <c:pt idx="8">
                <c:v>Cash</c:v>
              </c:pt>
            </c:strLit>
          </c:cat>
          <c:val>
            <c:numLit>
              <c:formatCode>General</c:formatCode>
              <c:ptCount val="9"/>
              <c:pt idx="0">
                <c:v>209.5</c:v>
              </c:pt>
              <c:pt idx="1">
                <c:v>135</c:v>
              </c:pt>
              <c:pt idx="2">
                <c:v>83</c:v>
              </c:pt>
              <c:pt idx="3">
                <c:v>75</c:v>
              </c:pt>
              <c:pt idx="4">
                <c:v>75</c:v>
              </c:pt>
              <c:pt idx="5">
                <c:v>67.5</c:v>
              </c:pt>
              <c:pt idx="6">
                <c:v>52.5</c:v>
              </c:pt>
              <c:pt idx="7">
                <c:v>30</c:v>
              </c:pt>
              <c:pt idx="8">
                <c:v>22.5</c:v>
              </c:pt>
            </c:numLit>
          </c:val>
        </c:ser>
        <c:dLbls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0"/>
        </c:dLbls>
      </c:doughnutChart>
    </c:plotArea>
    <c:legend>
      <c:legendPos val="r"/>
      <c:overlay val="0"/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Paid-in</c:v>
          </c:tx>
          <c:spPr>
            <a:solidFill xmlns:a="http://schemas.openxmlformats.org/drawingml/2006/main">
              <a:srgbClr val="00A813"/>
            </a:solidFill>
          </c:spPr>
          <c:cat>
            <c:strLit>
              <c:ptCount val="5"/>
              <c:pt idx="0">
                <c:v>Private equity</c:v>
              </c:pt>
              <c:pt idx="1">
                <c:v>VC / growth</c:v>
              </c:pt>
              <c:pt idx="2">
                <c:v>Private credit</c:v>
              </c:pt>
              <c:pt idx="3">
                <c:v>Real estate</c:v>
              </c:pt>
              <c:pt idx="4">
                <c:v>Infrastructure</c:v>
              </c:pt>
            </c:strLit>
          </c:cat>
          <c:val>
            <c:numLit>
              <c:formatCode>General</c:formatCode>
              <c:ptCount val="5"/>
              <c:pt idx="0">
                <c:v>130</c:v>
              </c:pt>
              <c:pt idx="1">
                <c:v>75</c:v>
              </c:pt>
              <c:pt idx="2">
                <c:v>65</c:v>
              </c:pt>
              <c:pt idx="3">
                <c:v>60</c:v>
              </c:pt>
              <c:pt idx="4">
                <c:v>35</c:v>
              </c:pt>
            </c:numLit>
          </c:val>
        </c:ser>
        <c:ser>
          <c:idx val="1"/>
          <c:order val="1"/>
          <c:tx>
            <c:v>Unfunded</c:v>
          </c:tx>
          <c:spPr>
            <a:solidFill xmlns:a="http://schemas.openxmlformats.org/drawingml/2006/main">
              <a:srgbClr val="BFD8C1"/>
            </a:solidFill>
          </c:spPr>
          <c:cat>
            <c:strLit>
              <c:ptCount val="5"/>
              <c:pt idx="0">
                <c:v>Private equity</c:v>
              </c:pt>
              <c:pt idx="1">
                <c:v>VC / growth</c:v>
              </c:pt>
              <c:pt idx="2">
                <c:v>Private credit</c:v>
              </c:pt>
              <c:pt idx="3">
                <c:v>Real estate</c:v>
              </c:pt>
              <c:pt idx="4">
                <c:v>Infrastructure</c:v>
              </c:pt>
            </c:strLit>
          </c:cat>
          <c:val>
            <c:numLit>
              <c:formatCode>General</c:formatCode>
              <c:ptCount val="5"/>
              <c:pt idx="0">
                <c:v>50</c:v>
              </c:pt>
              <c:pt idx="1">
                <c:v>45</c:v>
              </c:pt>
              <c:pt idx="2">
                <c:v>20</c:v>
              </c:pt>
              <c:pt idx="3">
                <c:v>15</c:v>
              </c:pt>
              <c:pt idx="4">
                <c:v>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Annualized volatility</c:v>
          </c:tx>
          <c:spPr>
            <a:solidFill xmlns:a="http://schemas.openxmlformats.org/drawingml/2006/main">
              <a:srgbClr val="4776D0"/>
            </a:solidFill>
          </c:spPr>
          <c:cat>
            <c:strLit>
              <c:ptCount val="8"/>
              <c:pt idx="0">
                <c:v>PDD</c:v>
              </c:pt>
              <c:pt idx="1">
                <c:v>NVDA</c:v>
              </c:pt>
              <c:pt idx="2">
                <c:v>JD</c:v>
              </c:pt>
              <c:pt idx="3">
                <c:v>BABA</c:v>
              </c:pt>
              <c:pt idx="4">
                <c:v>3067.HK</c:v>
              </c:pt>
              <c:pt idx="5">
                <c:v>EWY</c:v>
              </c:pt>
              <c:pt idx="6">
                <c:v>GOOGL</c:v>
              </c:pt>
              <c:pt idx="7">
                <c:v>CNYA</c:v>
              </c:pt>
            </c:strLit>
          </c:cat>
          <c:val>
            <c:numLit>
              <c:formatCode>General</c:formatCode>
              <c:ptCount val="8"/>
              <c:pt idx="0">
                <c:v>65.6</c:v>
              </c:pt>
              <c:pt idx="1">
                <c:v>46.9</c:v>
              </c:pt>
              <c:pt idx="2">
                <c:v>44</c:v>
              </c:pt>
              <c:pt idx="3">
                <c:v>41.8</c:v>
              </c:pt>
              <c:pt idx="4">
                <c:v>35</c:v>
              </c:pt>
              <c:pt idx="5">
                <c:v>29</c:v>
              </c:pt>
              <c:pt idx="6">
                <c:v>27</c:v>
              </c:pt>
              <c:pt idx="7">
                <c:v>21.4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000">
                <a:alpha val="100000"/>
              </a:srgbClr>
            </a:gs>
            <a:gs pos="100000">
              <a:srgbClr val="011000">
                <a:alpha val="100000"/>
              </a:srgbClr>
            </a:gs>
          </a:gsLst>
          <a:path path="circle">
            <a:fillToRect l="0" t="0" r="100000" b="100000"/>
          </a:path>
          <a:tileRect l="-100000" t="-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E4219D4-61D4-402D-98C2-699ED31F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3621">
            <a:off x="8935019" y="-1381196"/>
            <a:ext cx="13049392" cy="13049392"/>
          </a:xfrm>
          <a:custGeom xmlns:a="http://schemas.openxmlformats.org/drawingml/2006/main">
            <a:rect l="l" t="t" r="r" b="b"/>
            <a:pathLst>
              <a:path w="13049392" h="13049392">
                <a:moveTo>
                  <a:pt x="0" y="0"/>
                </a:moveTo>
                <a:lnTo>
                  <a:pt x="13049392" y="0"/>
                </a:lnTo>
                <a:lnTo>
                  <a:pt x="13049392" y="13049392"/>
                </a:lnTo>
                <a:lnTo>
                  <a:pt x="0" y="1304939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3f0c87df7c6421e">
              <a:alphaModFix amt="4000"/>
              <a:extLst>
                <a:ext uri="{96DAC541-7B7A-43D3-8B79-37D633B846F1}">
                  <asvg:svgBlip xmlns:asvg="http://schemas.microsoft.com/office/drawing/2016/SVG/main" r:embed="R075f9f1afe0e4b88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C2ED51E-45DA-426C-B3D9-D7494EBD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3621">
            <a:off x="6803252" y="-978563"/>
            <a:ext cx="11656973" cy="12244127"/>
          </a:xfrm>
          <a:custGeom xmlns:a="http://schemas.openxmlformats.org/drawingml/2006/main">
            <a:rect l="l" t="t" r="r" b="b"/>
            <a:pathLst>
              <a:path w="11656973" h="12244127">
                <a:moveTo>
                  <a:pt x="0" y="0"/>
                </a:moveTo>
                <a:lnTo>
                  <a:pt x="11656973" y="0"/>
                </a:lnTo>
                <a:lnTo>
                  <a:pt x="11656973" y="12244126"/>
                </a:lnTo>
                <a:lnTo>
                  <a:pt x="0" y="122441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d9b22a4a514f27">
              <a:extLst>
                <a:ext uri="{96DAC541-7B7A-43D3-8B79-37D633B846F1}">
                  <asvg:svgBlip xmlns:asvg="http://schemas.microsoft.com/office/drawing/2016/SVG/main" r:embed="R00defdb506204e87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456F44E-9F0F-4B2E-9B65-93797545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13113"/>
            <a:ext cx="654141" cy="594674"/>
          </a:xfrm>
          <a:custGeom xmlns:a="http://schemas.openxmlformats.org/drawingml/2006/main">
            <a:rect l="l" t="t" r="r" b="b"/>
            <a:pathLst>
              <a:path w="654141" h="594674">
                <a:moveTo>
                  <a:pt x="0" y="0"/>
                </a:moveTo>
                <a:lnTo>
                  <a:pt x="654141" y="0"/>
                </a:lnTo>
                <a:lnTo>
                  <a:pt x="654141" y="594674"/>
                </a:lnTo>
                <a:lnTo>
                  <a:pt x="0" y="59467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34439181614477a">
              <a:extLst>
                <a:ext uri="{96DAC541-7B7A-43D3-8B79-37D633B846F1}">
                  <asvg:svgBlip xmlns:asvg="http://schemas.microsoft.com/office/drawing/2016/SVG/main" r:embed="R2f9ac4e617e74ee9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CB74246-8D61-415D-A405-CAAC9F03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92702"/>
            <a:ext cx="15887700" cy="27084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450000">
              <a:buNone/>
            </a:pPr>
            <a:r>
              <a:rPr sz="8800" b="1">
                <a:solidFill>
                  <a:srgbClr val="FFFFFF"/>
                </a:solidFill>
                <a:latin typeface="Garet Bold"/>
                <a:ea typeface="Garet Bold"/>
                <a:cs typeface="Garet Bold"/>
              </a:rPr>
              <a:t>AI-Powered Family Office Portfolio Dashboard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B915B17-08F9-4514-8706-8992F826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05" y="5051009"/>
            <a:ext cx="11633200" cy="9848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FFFFF"/>
                </a:solidFill>
                <a:latin typeface="Garet Bold"/>
                <a:ea typeface="Garet Bold"/>
                <a:cs typeface="Garet Bold"/>
              </a:rPr>
              <a:t>A Controlled Document-to-Portfolio Decision-Support Proof of Concept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41CF4399-C933-4223-895D-AC7C8BCD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565860"/>
            <a:ext cx="2803306" cy="975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85"/>
              </a:lnSpc>
              <a:spcBef>
                <a:spcPct val="0"/>
              </a:spcBef>
              <a:buNone/>
            </a:pPr>
            <a:r>
              <a:rPr sz="2436">
                <a:solidFill>
                  <a:srgbClr val="FFFFFF"/>
                </a:solidFill>
                <a:latin typeface="Garet"/>
                <a:ea typeface="Garet"/>
                <a:cs typeface="Garet"/>
              </a:rPr>
              <a:t>Yang Shu</a:t>
            </a:r>
          </a:p>
          <a:p xmlns:a="http://schemas.openxmlformats.org/drawingml/2006/main">
            <a:pPr algn="l">
              <a:lnSpc>
                <a:spcPts val="2485"/>
              </a:lnSpc>
              <a:spcBef>
                <a:spcPct val="0"/>
              </a:spcBef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2485"/>
              </a:lnSpc>
              <a:spcBef>
                <a:spcPct val="0"/>
              </a:spcBef>
              <a:buNone/>
            </a:pPr>
            <a:r>
              <a:rPr sz="2436">
                <a:solidFill>
                  <a:srgbClr val="FFFFFF"/>
                </a:solidFill>
                <a:latin typeface="Garet"/>
                <a:ea typeface="Garet"/>
                <a:cs typeface="Garet"/>
              </a:rPr>
              <a:t>2026.7.29</a:t>
            </a:r>
          </a:p>
        </p:txBody>
      </p:sp>
    </p:spTree>
    <p:extLst>
      <p:ext uri="{BB962C8B-B14F-4D97-AF65-F5344CB8AC3E}">
        <p14:creationId xmlns:p14="http://schemas.microsoft.com/office/powerpoint/2010/main" val="19702609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044DB-A735-4611-A4AA-38049774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400050"/>
            <a:ext cx="171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13"/>
          </a:solidFill>
          <a:ln xmlns:a="http://schemas.openxmlformats.org/drawingml/2006/main" w="0">
            <a:solidFill>
              <a:srgbClr val="00A81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FFFE5-2C82-4295-9C3A-2CE078AA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2575" y="6096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D9AD"/>
          </a:solidFill>
          <a:ln xmlns:a="http://schemas.openxmlformats.org/drawingml/2006/main" w="0">
            <a:solidFill>
              <a:srgbClr val="A7D9A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37D28-B704-4018-A900-E5EEFD87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228600"/>
            <a:ext cx="171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13"/>
          </a:solidFill>
          <a:ln xmlns:a="http://schemas.openxmlformats.org/drawingml/2006/main" w="0">
            <a:solidFill>
              <a:srgbClr val="00A81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13C27-0C86-4CE2-A0F5-34AA3B01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813"/>
                </a:solidFill>
              </a:defRPr>
            </a:pPr>
            <a:r>
              <a:rPr sz="1275" b="1">
                <a:solidFill>
                  <a:srgbClr val="00A813"/>
                </a:solidFill>
              </a:rPr>
              <a:t>1 · CORE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18595-208E-4581-A7FE-F9D4730B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713"/>
                </a:solidFill>
              </a:defRPr>
            </a:pPr>
            <a:r>
              <a:rPr sz="3450" b="1">
                <a:solidFill>
                  <a:srgbClr val="111713"/>
                </a:solidFill>
              </a:rPr>
              <a:t>The reporting bottleneck is an uncontrolled data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9FD37-1CD4-44E3-B0C3-9C4AF23B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95493-9702-4CC6-A6CA-DB83C927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90875"/>
            <a:ext cx="3333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5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Manager PDFs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Different formats</a:t>
            </a:r>
          </a:p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Different schedules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0C89C-992A-4746-96D0-3DA19D0C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90875"/>
            <a:ext cx="3333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5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Manual re-keying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Amounts · dates · NAV</a:t>
            </a:r>
          </a:p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Commitments · commentary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9D674-9A5E-487A-AB55-54EC0EB6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90875"/>
            <a:ext cx="3333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5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Spreadsheet reconciliation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Multiple versions</a:t>
            </a:r>
          </a:p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Weak lineage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6DEE2-58E0-4257-8B6A-1557AC19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3190875"/>
            <a:ext cx="3333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F7E9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Late decision views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Liquidity and risk</a:t>
            </a:r>
          </a:p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arrive after the fact</a:t>
            </a:r>
          </a:p>
        </p:txBody>
      </p: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26720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968D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45820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968D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264920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4B4B"/>
            </a:solidFill>
            <a:prstDash val="soli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AD4263-3188-474E-B84E-2777C891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713"/>
                </a:solidFill>
              </a:defRPr>
            </a:pPr>
            <a:r>
              <a:rPr sz="2550" b="1">
                <a:solidFill>
                  <a:srgbClr val="111713"/>
                </a:solidFill>
              </a:rPr>
              <a:t>The failure is not that information is unavailable.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26127-3130-4267-A296-C0DBC91E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124700"/>
            <a:ext cx="1485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A813"/>
                </a:solidFill>
              </a:defRPr>
            </a:pPr>
            <a:r>
              <a:rPr sz="2250" b="1">
                <a:solidFill>
                  <a:srgbClr val="00A813"/>
                </a:solidFill>
              </a:rPr>
              <a:t>The failure is that fragmented evidence reaches portfolio decisions through a slow, manual and weakly controlled chain.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85CDEE-F23F-438B-851E-B53773A3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817A"/>
                </a:solidFill>
              </a:defRPr>
            </a:pPr>
            <a:r>
              <a:rPr sz="825" b="1">
                <a:solidFill>
                  <a:srgbClr val="77817A"/>
                </a:solidFill>
              </a:rPr>
              <a:t>AI-POWERED FAMILY OFFICE PORTFOLIO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819C1C-1614-47DE-B2F5-7421219F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817A"/>
                </a:solidFill>
              </a:defRPr>
            </a:pPr>
            <a:r>
              <a:rPr sz="900" b="1">
                <a:solidFill>
                  <a:srgbClr val="77817A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A84B6-5859-42B6-9F08-08ECED14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106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81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9F99E-6576-485D-81DB-9E9EFAA9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810625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5148"/>
                </a:solidFill>
              </a:defRPr>
            </a:pPr>
            <a:r>
              <a:rPr sz="1350" b="1">
                <a:solidFill>
                  <a:srgbClr val="455148"/>
                </a:solidFill>
              </a:rPr>
              <a:t>The problem defines the requirement: the system must control the handoff, not only extract the data.</a:t>
            </a:r>
          </a:p>
        </p:txBody>
      </p:sp>
    </p:spTree>
    <p:extLst>
      <p:ext uri="{BB962C8B-B14F-4D97-AF65-F5344CB8AC3E}">
        <p14:creationId xmlns:p14="http://schemas.microsoft.com/office/powerpoint/2010/main" val="2158124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3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23B91-F00E-49E7-A11A-01836DF4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400050"/>
            <a:ext cx="171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52B"/>
          </a:solidFill>
          <a:ln xmlns:a="http://schemas.openxmlformats.org/drawingml/2006/main" w="0">
            <a:solidFill>
              <a:srgbClr val="21D5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47484-549C-42CC-9153-01FF7B61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2575" y="6096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F22"/>
          </a:solidFill>
          <a:ln xmlns:a="http://schemas.openxmlformats.org/drawingml/2006/main" w="0">
            <a:solidFill>
              <a:srgbClr val="176F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2F122-4D82-4ED4-AEC6-AB463730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228600"/>
            <a:ext cx="171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52B"/>
          </a:solidFill>
          <a:ln xmlns:a="http://schemas.openxmlformats.org/drawingml/2006/main" w="0">
            <a:solidFill>
              <a:srgbClr val="21D5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B330F-B018-4601-A0AC-20804F12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D52B"/>
                </a:solidFill>
              </a:defRPr>
            </a:pPr>
            <a:r>
              <a:rPr sz="1275" b="1">
                <a:solidFill>
                  <a:srgbClr val="21D52B"/>
                </a:solidFill>
              </a:rPr>
              <a:t>2 · PROJECT SETTING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18BC3-14D1-42F0-A918-DAB47502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9001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A USD 750m synthetic portfolio reproduces real reporting dependencies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500D6-AAB8-4706-914D-525EC5E8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12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BDF56-065A-479B-AC9A-250569C8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Portfolio allocation (USD m)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876300" y="2667000"/>
          <a:ext xmlns:a="http://schemas.openxmlformats.org/drawingml/2006/main" cx="9810750" cy="561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4f2d1de3d14eaa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9E07C-DFB9-4C0F-8E57-768E5A3C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952750"/>
            <a:ext cx="4000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9525">
            <a:solidFill>
              <a:srgbClr val="21D52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21 PRIVATE FUNDS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74671-A454-4810-8893-AB9A2BF9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810000"/>
            <a:ext cx="4000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24D1B"/>
          </a:solidFill>
          <a:ln xmlns:a="http://schemas.openxmlformats.org/drawingml/2006/main" w="9525">
            <a:solidFill>
              <a:srgbClr val="124D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USD 500m COMMITMENTS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2CFEE-52EE-46C3-8A74-098DDAFF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667250"/>
            <a:ext cx="4000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24D1B"/>
          </a:solidFill>
          <a:ln xmlns:a="http://schemas.openxmlformats.org/drawingml/2006/main" w="9525">
            <a:solidFill>
              <a:srgbClr val="124D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USD 135m UNFUNDED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030E0-47AE-44D9-B062-E31E424C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524500"/>
            <a:ext cx="4000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24D1B"/>
          </a:solidFill>
          <a:ln xmlns:a="http://schemas.openxmlformats.org/drawingml/2006/main" w="9525">
            <a:solidFill>
              <a:srgbClr val="124D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MULTI-ENTITY · MULTI-CURRENCY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86C95-66F0-4BF9-8644-D98F99C7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762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D52B"/>
                </a:solidFill>
              </a:defRPr>
            </a:pPr>
            <a:r>
              <a:rPr sz="1725" b="1">
                <a:solidFill>
                  <a:srgbClr val="21D52B"/>
                </a:solidFill>
              </a:rPr>
              <a:t>Why this matters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F51BF-4337-4599-8BCB-6270E043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219950"/>
            <a:ext cx="476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8667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A private-market document can alter NAV, commitments, future cash requirements, liquidity coverage and the information shown to decision-makers.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20BAB-EFAF-4490-8999-D26A6660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A27E"/>
                </a:solidFill>
              </a:defRPr>
            </a:pPr>
            <a:r>
              <a:rPr sz="825" b="1">
                <a:solidFill>
                  <a:srgbClr val="78A27E"/>
                </a:solidFill>
              </a:rPr>
              <a:t>AI-POWERED FAMILY OFFICE PORTFOLIO DASHBOARD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958BB-F2D5-48EF-97DB-94F6B47F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A27E"/>
                </a:solidFill>
              </a:defRPr>
            </a:pPr>
            <a:r>
              <a:rPr sz="900" b="1">
                <a:solidFill>
                  <a:srgbClr val="78A27E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11928-ADC1-4D90-A7E7-8B82EBA5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106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D5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EF95B8-FC72-41F7-9409-1BEE13B6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810625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9CC"/>
                </a:solidFill>
              </a:defRPr>
            </a:pPr>
            <a:r>
              <a:rPr sz="1350" b="1">
                <a:solidFill>
                  <a:srgbClr val="C9D9CC"/>
                </a:solidFill>
              </a:rPr>
              <a:t>Because private-market documents affect multiple portfolio views, the design must standardize, control and trace.</a:t>
            </a:r>
          </a:p>
        </p:txBody>
      </p:sp>
    </p:spTree>
    <p:extLst>
      <p:ext uri="{BB962C8B-B14F-4D97-AF65-F5344CB8AC3E}">
        <p14:creationId xmlns:p14="http://schemas.microsoft.com/office/powerpoint/2010/main" val="20299865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786026-2373-4C6F-B77B-C9E4C3F5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400050"/>
            <a:ext cx="171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13"/>
          </a:solidFill>
          <a:ln xmlns:a="http://schemas.openxmlformats.org/drawingml/2006/main" w="0">
            <a:solidFill>
              <a:srgbClr val="00A81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D87C8-63A9-4C76-B174-B51473FD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2575" y="6096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D9AD"/>
          </a:solidFill>
          <a:ln xmlns:a="http://schemas.openxmlformats.org/drawingml/2006/main" w="0">
            <a:solidFill>
              <a:srgbClr val="A7D9A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D2298-6AC5-435D-96C9-73421F59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228600"/>
            <a:ext cx="171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13"/>
          </a:solidFill>
          <a:ln xmlns:a="http://schemas.openxmlformats.org/drawingml/2006/main" w="0">
            <a:solidFill>
              <a:srgbClr val="00A81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D4D06-7CA0-4776-887B-D008D04B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813"/>
                </a:solidFill>
              </a:defRPr>
            </a:pPr>
            <a:r>
              <a:rPr sz="1275" b="1">
                <a:solidFill>
                  <a:srgbClr val="00A813"/>
                </a:solidFill>
              </a:rPr>
              <a:t>3 · RESEARCH 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85093-A7E7-4838-815F-4CDE771B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713"/>
                </a:solidFill>
              </a:defRPr>
            </a:pPr>
            <a:r>
              <a:rPr sz="3450" b="1">
                <a:solidFill>
                  <a:srgbClr val="111713"/>
                </a:solidFill>
              </a:rPr>
              <a:t>Research findings became three system design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9BC63-9485-4BCE-AEFF-6F5B3292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9A7C9-CF24-438F-B54E-7DBFCFE0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545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E8F7E9"/>
                </a:solidFill>
              </a:defRPr>
            </a:pPr>
            <a:r>
              <a:rPr sz="4125" b="1">
                <a:solidFill>
                  <a:srgbClr val="E8F7E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B90E0-7952-4706-B5E4-B484D523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813"/>
                </a:solidFill>
              </a:defRPr>
            </a:pPr>
            <a:r>
              <a:rPr sz="2550" b="1">
                <a:solidFill>
                  <a:srgbClr val="00A813"/>
                </a:solidFill>
              </a:rPr>
              <a:t>STANDARDIZE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53A19-C42B-45A1-A8DB-5553AB9D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713"/>
                </a:solidFill>
              </a:defRPr>
            </a:pPr>
            <a:r>
              <a:rPr sz="2025" b="0">
                <a:solidFill>
                  <a:srgbClr val="111713"/>
                </a:solidFill>
              </a:rPr>
              <a:t>Classify each document and extract into a type-specific schema.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093BE-6442-4013-A97D-4D80D989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545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E8F7E9"/>
                </a:solidFill>
              </a:defRPr>
            </a:pPr>
            <a:r>
              <a:rPr sz="4125" b="1">
                <a:solidFill>
                  <a:srgbClr val="E8F7E9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7D007-C39F-4BB7-AC3E-B2B95B52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813"/>
                </a:solidFill>
              </a:defRPr>
            </a:pPr>
            <a:r>
              <a:rPr sz="2550" b="1">
                <a:solidFill>
                  <a:srgbClr val="00A813"/>
                </a:solidFill>
              </a:rPr>
              <a:t>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9B9CF-EFFD-4314-91A7-1DA81A68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713"/>
                </a:solidFill>
              </a:defRPr>
            </a:pPr>
            <a:r>
              <a:rPr sz="2025" b="0">
                <a:solidFill>
                  <a:srgbClr val="111713"/>
                </a:solidFill>
              </a:rPr>
              <a:t>Validation and human review must sit between AI output and financial state.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F2D38-B7A9-4079-B695-B010C0D0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7175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545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E8F7E9"/>
                </a:solidFill>
              </a:defRPr>
            </a:pPr>
            <a:r>
              <a:rPr sz="4125" b="1">
                <a:solidFill>
                  <a:srgbClr val="E8F7E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D3F55-8463-4CB7-90A5-A0226009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5242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813"/>
                </a:solidFill>
              </a:defRPr>
            </a:pPr>
            <a:r>
              <a:rPr sz="2550" b="1">
                <a:solidFill>
                  <a:srgbClr val="00A813"/>
                </a:solidFill>
              </a:rPr>
              <a:t>TRACE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5BCBD-7022-491A-987D-B8137BA8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9100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713"/>
                </a:solidFill>
              </a:defRPr>
            </a:pPr>
            <a:r>
              <a:rPr sz="2025" b="0">
                <a:solidFill>
                  <a:srgbClr val="111713"/>
                </a:solidFill>
              </a:rPr>
              <a:t>Every dashboard value must preserve source, status and update reason.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42131-C19E-4FEF-BDE3-311A16C0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143750"/>
            <a:ext cx="3429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8F7E9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PDF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C5BF7-D5D3-4AED-A0CD-65D5431B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143750"/>
            <a:ext cx="3429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8F7E9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CONTROLLED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B632C4-AF37-49D7-A4DC-3E7D1361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143750"/>
            <a:ext cx="3429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30806"/>
                </a:solidFill>
              </a:defRPr>
            </a:pPr>
            <a:r>
              <a:rPr sz="1500" b="1">
                <a:solidFill>
                  <a:srgbClr val="030806"/>
                </a:solidFill>
              </a:rPr>
              <a:t>DECISION VIEW</a:t>
            </a:r>
          </a:p>
        </p:txBody>
      </p:sp>
      <p:cxnSp>
        <p:nvCxnSpPr>
          <p:cNvPr id="4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143500" y="7553325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0858500" y="7553325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C5FEF7-A3A2-4432-B9B2-7925891A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817A"/>
                </a:solidFill>
              </a:defRPr>
            </a:pPr>
            <a:r>
              <a:rPr sz="825" b="1">
                <a:solidFill>
                  <a:srgbClr val="77817A"/>
                </a:solidFill>
              </a:rPr>
              <a:t>AI-POWERED FAMILY OFFICE PORTFOLIO DASHBOARD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ECB415-D247-406F-BEB1-367110DD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817A"/>
                </a:solidFill>
              </a:defRPr>
            </a:pPr>
            <a:r>
              <a:rPr sz="900" b="1">
                <a:solidFill>
                  <a:srgbClr val="77817A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052D3F-83EC-43AA-8D68-573A113F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106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81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D9EC85-1094-4907-8480-499EEC7C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810625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5148"/>
                </a:solidFill>
              </a:defRPr>
            </a:pPr>
            <a:r>
              <a:rPr sz="1350" b="1">
                <a:solidFill>
                  <a:srgbClr val="455148"/>
                </a:solidFill>
              </a:rPr>
              <a:t>These three principles become the architecture of the workflow.</a:t>
            </a:r>
          </a:p>
        </p:txBody>
      </p:sp>
    </p:spTree>
    <p:extLst>
      <p:ext uri="{BB962C8B-B14F-4D97-AF65-F5344CB8AC3E}">
        <p14:creationId xmlns:p14="http://schemas.microsoft.com/office/powerpoint/2010/main" val="1736013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3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935578-AF2E-4A2F-A2AD-EED835F5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400050"/>
            <a:ext cx="171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52B"/>
          </a:solidFill>
          <a:ln xmlns:a="http://schemas.openxmlformats.org/drawingml/2006/main" w="0">
            <a:solidFill>
              <a:srgbClr val="21D5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50B60-6879-440A-B46A-123F5DD5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2575" y="6096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F22"/>
          </a:solidFill>
          <a:ln xmlns:a="http://schemas.openxmlformats.org/drawingml/2006/main" w="0">
            <a:solidFill>
              <a:srgbClr val="176F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AD715-27D2-4F8F-ABE9-3ECA7474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228600"/>
            <a:ext cx="171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52B"/>
          </a:solidFill>
          <a:ln xmlns:a="http://schemas.openxmlformats.org/drawingml/2006/main" w="0">
            <a:solidFill>
              <a:srgbClr val="21D5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7C6F2-09F8-41DD-806D-DA377162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D52B"/>
                </a:solidFill>
              </a:defRPr>
            </a:pPr>
            <a:r>
              <a:rPr sz="1275" b="1">
                <a:solidFill>
                  <a:srgbClr val="21D52B"/>
                </a:solidFill>
              </a:rPr>
              <a:t>4 · END-TO-END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C699F-ECCF-492E-9D37-74A40280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377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The workflow prevents uncertain extraction from becoming portfolio truth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079DF-2168-4467-A097-4EF9C952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12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5AA24-4971-4DB4-8B08-466DF41D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2000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D1A11"/>
          </a:solidFill>
          <a:ln xmlns:a="http://schemas.openxmlformats.org/drawingml/2006/main" w="19050">
            <a:solidFill>
              <a:srgbClr val="3562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PDF INTAKE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 documents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5E653-658F-496F-957D-107CFBD8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81375"/>
            <a:ext cx="2000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D1A11"/>
          </a:solidFill>
          <a:ln xmlns:a="http://schemas.openxmlformats.org/drawingml/2006/main" w="19050">
            <a:solidFill>
              <a:srgbClr val="3562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CLASSIFY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type + fund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77ABF-13E4-426C-874C-8B4210E8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81375"/>
            <a:ext cx="2000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D1A11"/>
          </a:solidFill>
          <a:ln xmlns:a="http://schemas.openxmlformats.org/drawingml/2006/main" w="19050">
            <a:solidFill>
              <a:srgbClr val="3562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EXTRACT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schema 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58B95-EB12-458D-A328-1ACE67D8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81375"/>
            <a:ext cx="2000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D1A11"/>
          </a:solidFill>
          <a:ln xmlns:a="http://schemas.openxmlformats.org/drawingml/2006/main" w="19050">
            <a:solidFill>
              <a:srgbClr val="3562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VALIDATE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rules + 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AD889-099B-4D3E-87B7-204FFFD3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81375"/>
            <a:ext cx="2000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4351B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HUMAN REVIEW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maker-checker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76876-5B88-42B1-B355-D43BFC24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381375"/>
            <a:ext cx="2000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D1A11"/>
          </a:solidFill>
          <a:ln xmlns:a="http://schemas.openxmlformats.org/drawingml/2006/main" w="19050">
            <a:solidFill>
              <a:srgbClr val="3562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APPLY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approved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00BB1-08EF-4AE9-9F1E-3E0765E3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3381375"/>
            <a:ext cx="2000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D1A11"/>
          </a:solidFill>
          <a:ln xmlns:a="http://schemas.openxmlformats.org/drawingml/2006/main" w="19050">
            <a:solidFill>
              <a:srgbClr val="3562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7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DASHBOARD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state + lineage</a:t>
            </a:r>
          </a:p>
        </p:txBody>
      </p: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7000" y="4286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D52B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143500" y="4286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D52B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20000" y="4286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D52B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096500" y="4286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D52B"/>
            </a:solidFill>
            <a:prstDash val="soli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2573000" y="4286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D52B"/>
            </a:solidFill>
            <a:prstDash val="soli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5049500" y="4286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D52B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2CD55A-AB5E-460C-810B-7EB5D1AF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D52B"/>
                </a:solidFill>
              </a:defRPr>
            </a:pPr>
            <a:r>
              <a:rPr sz="1575" b="1">
                <a:solidFill>
                  <a:srgbClr val="21D52B"/>
                </a:solidFill>
              </a:rPr>
              <a:t>CONTROL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68AAFF-D142-4956-941B-2D55D337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477000"/>
            <a:ext cx="1438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7312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Evidence persists at every stage: source PDF → extracted JSON → validation result → review status → update log → dashboard.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06EB34-242A-4F97-9E46-66E89BC6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762875"/>
            <a:ext cx="5905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9525">
            <a:solidFill>
              <a:srgbClr val="21D52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30806"/>
                </a:solidFill>
              </a:defRPr>
            </a:pPr>
            <a:r>
              <a:rPr sz="1200" b="1">
                <a:solidFill>
                  <a:srgbClr val="030806"/>
                </a:solidFill>
              </a:rPr>
              <a:t>NO APPROVAL = NO PORTFOLIO UPDATE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F67765-4505-4402-AC65-A15C58D3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A27E"/>
                </a:solidFill>
              </a:defRPr>
            </a:pPr>
            <a:r>
              <a:rPr sz="825" b="1">
                <a:solidFill>
                  <a:srgbClr val="78A27E"/>
                </a:solidFill>
              </a:rPr>
              <a:t>AI-POWERED FAMILY OFFICE PORTFOLIO DASHBOARD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C0C10E-3890-4132-854D-A028C0B9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A27E"/>
                </a:solidFill>
              </a:defRPr>
            </a:pPr>
            <a:r>
              <a:rPr sz="900" b="1">
                <a:solidFill>
                  <a:srgbClr val="78A27E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C9B19D-57F7-4814-B259-BA321801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106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D5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AF3100-1A1E-4597-B398-AEC34815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810625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9CC"/>
                </a:solidFill>
              </a:defRPr>
            </a:pPr>
            <a:r>
              <a:rPr sz="1350" b="1">
                <a:solidFill>
                  <a:srgbClr val="C9D9CC"/>
                </a:solidFill>
              </a:rPr>
              <a:t>The workflow is the project’s central control mechanism; the next question is what was actually built.</a:t>
            </a:r>
          </a:p>
        </p:txBody>
      </p:sp>
    </p:spTree>
    <p:extLst>
      <p:ext uri="{BB962C8B-B14F-4D97-AF65-F5344CB8AC3E}">
        <p14:creationId xmlns:p14="http://schemas.microsoft.com/office/powerpoint/2010/main" val="16987220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6514F1-43AB-45C4-BA45-2DA9E4BA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400050"/>
            <a:ext cx="171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13"/>
          </a:solidFill>
          <a:ln xmlns:a="http://schemas.openxmlformats.org/drawingml/2006/main" w="0">
            <a:solidFill>
              <a:srgbClr val="00A81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12969-0A09-4CC5-9C22-56C5FE80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2575" y="6096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D9AD"/>
          </a:solidFill>
          <a:ln xmlns:a="http://schemas.openxmlformats.org/drawingml/2006/main" w="0">
            <a:solidFill>
              <a:srgbClr val="A7D9A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A37DC-738D-4309-B1A4-3DD9F16E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228600"/>
            <a:ext cx="171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13"/>
          </a:solidFill>
          <a:ln xmlns:a="http://schemas.openxmlformats.org/drawingml/2006/main" w="0">
            <a:solidFill>
              <a:srgbClr val="00A81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AEA85-D79A-4465-80CC-E369938F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813"/>
                </a:solidFill>
              </a:defRPr>
            </a:pPr>
            <a:r>
              <a:rPr sz="1275" b="1">
                <a:solidFill>
                  <a:srgbClr val="00A813"/>
                </a:solidFill>
              </a:rPr>
              <a:t>5 · WHAT I BUILT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B657F-7288-4D57-9AB0-E6B294D6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713"/>
                </a:solidFill>
              </a:defRPr>
            </a:pPr>
            <a:r>
              <a:rPr sz="3450" b="1">
                <a:solidFill>
                  <a:srgbClr val="111713"/>
                </a:solidFill>
              </a:rPr>
              <a:t>I designed and completed the full information chain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9777F-A2F0-471D-AB8E-12E76960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073D3-9E07-47CC-B406-98A9F5DE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86000"/>
            <a:ext cx="158115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7F9F7"/>
          </a:solidFill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2EF48-C0BB-4CB1-8D19-3B48B749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717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813"/>
                </a:solidFill>
              </a:defRPr>
            </a:pPr>
            <a:r>
              <a:rPr sz="2100" b="1">
                <a:solidFill>
                  <a:srgbClr val="00A813"/>
                </a:solidFill>
              </a:rPr>
              <a:t>RESEARCH &amp; SETTING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45647-7A00-47B9-87E4-7669C7E0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33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713"/>
                </a:solidFill>
              </a:defRPr>
            </a:pPr>
            <a:r>
              <a:rPr sz="1950" b="0">
                <a:solidFill>
                  <a:srgbClr val="111713"/>
                </a:solidFill>
              </a:rPr>
              <a:t>Problem definition · synthetic portfolio · reporting dates · success criteria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38770-027E-4CE1-B1A8-A9E23E2E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158115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8F7E9"/>
          </a:solidFill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67B28-926E-41C3-B705-339D99E4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910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813"/>
                </a:solidFill>
              </a:defRPr>
            </a:pPr>
            <a:r>
              <a:rPr sz="2100" b="1">
                <a:solidFill>
                  <a:srgbClr val="00A813"/>
                </a:solidFill>
              </a:rPr>
              <a:t>DOCUMENT 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77BA6-CA05-417F-A989-824912D7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529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713"/>
                </a:solidFill>
              </a:defRPr>
            </a:pPr>
            <a:r>
              <a:rPr sz="1950" b="0">
                <a:solidFill>
                  <a:srgbClr val="111713"/>
                </a:solidFill>
              </a:rPr>
              <a:t>Classification · extraction schemas · validation rules · review decisions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C3FA4-DE31-4880-807D-7A8F1949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24500"/>
            <a:ext cx="158115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7F9F7"/>
          </a:solidFill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4CE9D-0600-4B3C-BF42-21CCBD26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8102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813"/>
                </a:solidFill>
              </a:defRPr>
            </a:pPr>
            <a:r>
              <a:rPr sz="2100" b="1">
                <a:solidFill>
                  <a:srgbClr val="00A813"/>
                </a:solidFill>
              </a:rPr>
              <a:t>PORTFOLIO UPDATES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342DC8-8FAD-49E1-9658-B63D1B00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72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713"/>
                </a:solidFill>
              </a:defRPr>
            </a:pPr>
            <a:r>
              <a:rPr sz="1950" b="0">
                <a:solidFill>
                  <a:srgbClr val="111713"/>
                </a:solidFill>
              </a:rPr>
              <a:t>Approved-only logic · processed datasets · booked/projected separation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B245C-6D01-4B32-84BB-18B8448F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58115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8F7E9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92672-217F-4547-8DF3-4E385804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4295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813"/>
                </a:solidFill>
              </a:defRPr>
            </a:pPr>
            <a:r>
              <a:rPr sz="2100" b="1">
                <a:solidFill>
                  <a:srgbClr val="00A813"/>
                </a:solidFill>
              </a:rPr>
              <a:t>DECISION PRODUCT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3E378E-0EFA-438F-BA19-DE824C02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391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713"/>
                </a:solidFill>
              </a:defRPr>
            </a:pPr>
            <a:r>
              <a:rPr sz="1950" b="0">
                <a:solidFill>
                  <a:srgbClr val="111713"/>
                </a:solidFill>
              </a:rPr>
              <a:t>Streamlit dashboard · public-proxy risk · QA · tests · instructions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CD2E25-5D12-4480-983A-8360347F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817A"/>
                </a:solidFill>
              </a:defRPr>
            </a:pPr>
            <a:r>
              <a:rPr sz="825" b="1">
                <a:solidFill>
                  <a:srgbClr val="77817A"/>
                </a:solidFill>
              </a:rPr>
              <a:t>AI-POWERED FAMILY OFFICE PORTFOLIO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F177EE-C696-4814-B046-9C03BF33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817A"/>
                </a:solidFill>
              </a:defRPr>
            </a:pPr>
            <a:r>
              <a:rPr sz="900" b="1">
                <a:solidFill>
                  <a:srgbClr val="77817A"/>
                </a:solidFill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9155D-1E2A-4372-B0C8-3B4ADA27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106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81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ECEA4-29E6-4ECF-A992-5B9EC5B5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810625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5148"/>
                </a:solidFill>
              </a:defRPr>
            </a:pPr>
            <a:r>
              <a:rPr sz="1350" b="1">
                <a:solidFill>
                  <a:srgbClr val="455148"/>
                </a:solidFill>
              </a:rPr>
              <a:t>The completed system is tested through six documents with deliberately different business effects.</a:t>
            </a:r>
          </a:p>
        </p:txBody>
      </p:sp>
    </p:spTree>
    <p:extLst>
      <p:ext uri="{BB962C8B-B14F-4D97-AF65-F5344CB8AC3E}">
        <p14:creationId xmlns:p14="http://schemas.microsoft.com/office/powerpoint/2010/main" val="18636436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3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FD95D-DBDB-41FC-AF93-D801285E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400050"/>
            <a:ext cx="171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52B"/>
          </a:solidFill>
          <a:ln xmlns:a="http://schemas.openxmlformats.org/drawingml/2006/main" w="0">
            <a:solidFill>
              <a:srgbClr val="21D5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352C2-25E9-40F7-92A7-B8F6E71B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2575" y="6096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F22"/>
          </a:solidFill>
          <a:ln xmlns:a="http://schemas.openxmlformats.org/drawingml/2006/main" w="0">
            <a:solidFill>
              <a:srgbClr val="176F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27C3C-926B-4A12-B6A4-D68E841D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228600"/>
            <a:ext cx="171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52B"/>
          </a:solidFill>
          <a:ln xmlns:a="http://schemas.openxmlformats.org/drawingml/2006/main" w="0">
            <a:solidFill>
              <a:srgbClr val="21D5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8419C-325D-4392-97B2-E836BD16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D52B"/>
                </a:solidFill>
              </a:defRPr>
            </a:pPr>
            <a:r>
              <a:rPr sz="1275" b="1">
                <a:solidFill>
                  <a:srgbClr val="21D52B"/>
                </a:solidFill>
              </a:rPr>
              <a:t>6 · TEST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B3689-FA0A-4C8D-AC2E-89641D67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Six PDFs were designed to test different business effects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FB0E3-43CE-43D0-8228-A906FA8F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12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3107D-8C58-4209-8BB3-E98C2661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9530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111A13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PDF_001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Capital call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Northstar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Commitment / liquidity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E99E8-0556-4CC6-A567-D49D736B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9530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111A13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PDF_002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Capital call exception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SeedSpring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Alias + missing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406FD-DB85-47AA-9C47-2AA6B465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381250"/>
            <a:ext cx="49530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PDF_003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Distribution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Harbor Peak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Cash inflow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4E138-9032-4FFF-B1DA-34E13272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9530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PDF_004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PCAP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Northstar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NAV / commitment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843DB1-477E-4816-9861-FA5EC7DD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24500"/>
            <a:ext cx="49530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111A13"/>
          </a:solidFill>
          <a:ln xmlns:a="http://schemas.openxmlformats.org/drawingml/2006/main" w="19050">
            <a:solidFill>
              <a:srgbClr val="C34B4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PDF_005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PCAP exception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LionRock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Roll-forward mismatch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F2AFE-FB50-4842-B130-667110BA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524500"/>
            <a:ext cx="49530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PDF_006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Newsletter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Blue Horizon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Qualitative update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E4FE1-3F35-4F09-ACED-C43CE12A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A27E"/>
                </a:solidFill>
              </a:defRPr>
            </a:pPr>
            <a:r>
              <a:rPr sz="825" b="1">
                <a:solidFill>
                  <a:srgbClr val="78A27E"/>
                </a:solidFill>
              </a:rPr>
              <a:t>AI-POWERED FAMILY OFFICE PORTFOLIO 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D0DC2-29CE-4677-97C6-591B1090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A27E"/>
                </a:solidFill>
              </a:defRPr>
            </a:pPr>
            <a:r>
              <a:rPr sz="900" b="1">
                <a:solidFill>
                  <a:srgbClr val="78A27E"/>
                </a:solidFill>
              </a:rPr>
              <a:t>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E6CE9B-4207-4B78-8AF8-0EE9E503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106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D5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52840-E6CB-477C-AAFF-945B2FB2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810625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9CC"/>
                </a:solidFill>
              </a:defRPr>
            </a:pPr>
            <a:r>
              <a:rPr sz="1350" b="1">
                <a:solidFill>
                  <a:srgbClr val="C9D9CC"/>
                </a:solidFill>
              </a:rPr>
              <a:t>The test is successful only if the control gate distinguishes what may and may not update the portfolio.</a:t>
            </a:r>
          </a:p>
        </p:txBody>
      </p:sp>
    </p:spTree>
    <p:extLst>
      <p:ext uri="{BB962C8B-B14F-4D97-AF65-F5344CB8AC3E}">
        <p14:creationId xmlns:p14="http://schemas.microsoft.com/office/powerpoint/2010/main" val="13626413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34C050-D779-40E4-B388-AC59989C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400050"/>
            <a:ext cx="171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13"/>
          </a:solidFill>
          <a:ln xmlns:a="http://schemas.openxmlformats.org/drawingml/2006/main" w="0">
            <a:solidFill>
              <a:srgbClr val="00A81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306E3-E7FE-4221-BDA6-C3F9D869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2575" y="6096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D9AD"/>
          </a:solidFill>
          <a:ln xmlns:a="http://schemas.openxmlformats.org/drawingml/2006/main" w="0">
            <a:solidFill>
              <a:srgbClr val="A7D9A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F8B3B-6336-46B5-BE5B-349D51DF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228600"/>
            <a:ext cx="171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13"/>
          </a:solidFill>
          <a:ln xmlns:a="http://schemas.openxmlformats.org/drawingml/2006/main" w="0">
            <a:solidFill>
              <a:srgbClr val="00A81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EFE3C-8141-467F-AD3F-15AF9C34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813"/>
                </a:solidFill>
              </a:defRPr>
            </a:pPr>
            <a:r>
              <a:rPr sz="1275" b="1">
                <a:solidFill>
                  <a:srgbClr val="00A813"/>
                </a:solidFill>
              </a:rPr>
              <a:t>7 · VALIDATION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9484D-EC78-432B-9E0D-91C9E544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713"/>
                </a:solidFill>
              </a:defRPr>
            </a:pPr>
            <a:r>
              <a:rPr sz="3450" b="1">
                <a:solidFill>
                  <a:srgbClr val="111713"/>
                </a:solidFill>
              </a:rPr>
              <a:t>The control gate applied 3 updates and blocked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E7690-82FF-416D-B83C-1886EA9F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1047750" y="2333625"/>
          <a:ext xmlns:a="http://schemas.openxmlformats.org/drawingml/2006/main" cx="6858000" cy="590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a940cebf5b4d7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40142-9CB7-4894-9C34-3093E3D8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5143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9525">
            <a:solidFill>
              <a:srgbClr val="21D52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30806"/>
                </a:solidFill>
              </a:defRPr>
            </a:pPr>
            <a:r>
              <a:rPr sz="1200" b="1">
                <a:solidFill>
                  <a:srgbClr val="030806"/>
                </a:solidFill>
              </a:rPr>
              <a:t>3 APPROVED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6EF8B-DA52-4AFB-AFBA-4AC1FDDD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433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713"/>
                </a:solidFill>
              </a:defRPr>
            </a:pPr>
            <a:r>
              <a:rPr sz="1875" b="0">
                <a:solidFill>
                  <a:srgbClr val="111713"/>
                </a:solidFill>
              </a:rPr>
              <a:t>PDF_003 distribution · PDF_004 PCAP · PDF_006 newsletter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7F0EA-AC0D-43BB-A369-301B77F2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19625"/>
            <a:ext cx="5143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0A21A"/>
          </a:solidFill>
          <a:ln xmlns:a="http://schemas.openxmlformats.org/drawingml/2006/main" w="9525">
            <a:solidFill>
              <a:srgbClr val="E0A21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30806"/>
                </a:solidFill>
              </a:defRPr>
            </a:pPr>
            <a:r>
              <a:rPr sz="1200" b="1">
                <a:solidFill>
                  <a:srgbClr val="030806"/>
                </a:solidFill>
              </a:rPr>
              <a:t>2 NEEDS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26960-E9B5-4DF8-9FC0-ED6C6334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054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713"/>
                </a:solidFill>
              </a:defRPr>
            </a:pPr>
            <a:r>
              <a:rPr sz="1875" b="0">
                <a:solidFill>
                  <a:srgbClr val="111713"/>
                </a:solidFill>
              </a:rPr>
              <a:t>PDF_001 and PDF_002 capital calls remain blocked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F5B68-1A3D-445D-BBD9-D9B50F4C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381750"/>
            <a:ext cx="5143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34B4B"/>
          </a:solidFill>
          <a:ln xmlns:a="http://schemas.openxmlformats.org/drawingml/2006/main" w="9525">
            <a:solidFill>
              <a:srgbClr val="C34B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 REJECTED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A6DBA-9DE9-471F-9BCF-7FECE701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70675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713"/>
                </a:solidFill>
              </a:defRPr>
            </a:pPr>
            <a:r>
              <a:rPr sz="1875" b="0">
                <a:solidFill>
                  <a:srgbClr val="111713"/>
                </a:solidFill>
              </a:rPr>
              <a:t>PDF_005 fails commitment and NAV roll-forward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81D91-E86C-46FC-B142-BD20AB7B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817A"/>
                </a:solidFill>
              </a:defRPr>
            </a:pPr>
            <a:r>
              <a:rPr sz="825" b="1">
                <a:solidFill>
                  <a:srgbClr val="77817A"/>
                </a:solidFill>
              </a:rPr>
              <a:t>AI-POWERED FAMILY OFFICE PORTFOLIO DASHBOARD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2548E-C7FE-4B4D-90C2-CE7F53A7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817A"/>
                </a:solidFill>
              </a:defRPr>
            </a:pPr>
            <a:r>
              <a:rPr sz="900" b="1">
                <a:solidFill>
                  <a:srgbClr val="77817A"/>
                </a:solidFill>
              </a:rPr>
              <a:t>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DBFBA-61C3-4FA2-A8F3-0F422CA6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106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81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18CC12-FFDB-4171-A7B4-95377F96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810625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5148"/>
                </a:solidFill>
              </a:defRPr>
            </a:pPr>
            <a:r>
              <a:rPr sz="1350" b="1">
                <a:solidFill>
                  <a:srgbClr val="455148"/>
                </a:solidFill>
              </a:rPr>
              <a:t>The 3 / 2 / 1 result matters because each status creates a different downstream effect.</a:t>
            </a:r>
          </a:p>
        </p:txBody>
      </p:sp>
    </p:spTree>
    <p:extLst>
      <p:ext uri="{BB962C8B-B14F-4D97-AF65-F5344CB8AC3E}">
        <p14:creationId xmlns:p14="http://schemas.microsoft.com/office/powerpoint/2010/main" val="19522805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3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120F7E-3731-486F-8F32-BA7E506C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400050"/>
            <a:ext cx="171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52B"/>
          </a:solidFill>
          <a:ln xmlns:a="http://schemas.openxmlformats.org/drawingml/2006/main" w="0">
            <a:solidFill>
              <a:srgbClr val="21D5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39BDE-FE26-4F76-91D7-795DA0DB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2575" y="6096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F22"/>
          </a:solidFill>
          <a:ln xmlns:a="http://schemas.openxmlformats.org/drawingml/2006/main" w="0">
            <a:solidFill>
              <a:srgbClr val="176F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CC5B9-B13A-483E-BD64-F59A36DD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228600"/>
            <a:ext cx="171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52B"/>
          </a:solidFill>
          <a:ln xmlns:a="http://schemas.openxmlformats.org/drawingml/2006/main" w="0">
            <a:solidFill>
              <a:srgbClr val="21D5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007DB-FEF3-4BCB-87D7-C33DF169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D52B"/>
                </a:solidFill>
              </a:defRPr>
            </a:pPr>
            <a:r>
              <a:rPr sz="1275" b="1">
                <a:solidFill>
                  <a:srgbClr val="21D52B"/>
                </a:solidFill>
              </a:rPr>
              <a:t>8 · DOCUMENT IMPACT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55DEA-BB68-46A6-9A25-90BB327E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571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Each document follows a visible path to portfolio, liquidity or commentary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A54D3-D2FC-4D63-B5E2-46A0CE3E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12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7A026-147B-4846-BD35-8206F807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476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PDF_003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Distribution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5EF2B-AAAD-48F0-B999-2EB28AB6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476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PDF_004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PCAP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FB902-9280-4702-9C4F-71A21881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2476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PDF_006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Newsletter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4AB41-3D8D-49FC-A601-50957E50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0"/>
            <a:ext cx="2476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91315"/>
          </a:solidFill>
          <a:ln xmlns:a="http://schemas.openxmlformats.org/drawingml/2006/main" w="19050">
            <a:solidFill>
              <a:srgbClr val="C34B4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PDF_001 / 002 / 005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Blocked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7B8F9-7635-489F-95A2-AE469BF1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76500"/>
            <a:ext cx="3143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2351A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+ USD 3.1m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projected inflow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41D72-1177-46AB-816E-FCC547C7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0"/>
            <a:ext cx="3143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2351A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Northstar NAV /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commitment update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96173-3011-47F0-8B55-09B3AA7E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0"/>
            <a:ext cx="3143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2351A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Approved manager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commentary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D6675-3D10-48B2-86DB-445B3325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048500"/>
            <a:ext cx="3143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91315"/>
          </a:solidFill>
          <a:ln xmlns:a="http://schemas.openxmlformats.org/drawingml/2006/main" w="19050">
            <a:solidFill>
              <a:srgbClr val="C34B4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Review queue /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blocked reason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78471-28A6-4F04-B0C9-B922A5B2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857500"/>
            <a:ext cx="4095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30806"/>
                </a:solidFill>
              </a:defRPr>
            </a:pPr>
            <a:r>
              <a:rPr sz="1500" b="1">
                <a:solidFill>
                  <a:srgbClr val="030806"/>
                </a:solidFill>
              </a:rPr>
              <a:t>LIQUIDITY 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C2AD20-952E-4686-B3C9-26213BEF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476750"/>
            <a:ext cx="4095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30806"/>
                </a:solidFill>
              </a:defRPr>
            </a:pPr>
            <a:r>
              <a:rPr sz="1500" b="1">
                <a:solidFill>
                  <a:srgbClr val="030806"/>
                </a:solidFill>
              </a:rPr>
              <a:t>PRIVATE-MARKET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9D949-A3C3-4594-A9BC-EE4F2C53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096000"/>
            <a:ext cx="4095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30806"/>
                </a:solidFill>
              </a:defRPr>
            </a:pPr>
            <a:r>
              <a:rPr sz="1500" b="1">
                <a:solidFill>
                  <a:srgbClr val="030806"/>
                </a:solidFill>
              </a:rPr>
              <a:t>WORKFLOW &amp; COMMENTARY</a:t>
            </a:r>
          </a:p>
        </p:txBody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33750" y="3000375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58250" y="3000375"/>
            <a:ext cx="314325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333750" y="4524375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858250" y="4524375"/>
            <a:ext cx="314325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tailEnd type="arrow" w="med" len="med"/>
          </a:ln>
        </p:spPr>
      </p:cxnSp>
      <p:cxnSp>
        <p:nvCxnSpPr>
          <p:cNvPr id="51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333750" y="6048375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858250" y="6048375"/>
            <a:ext cx="314325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333750" y="7572375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4B4B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858250" y="6619875"/>
            <a:ext cx="31432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4B4B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05ACF9-20DD-4F9F-BE03-3A576877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A27E"/>
                </a:solidFill>
              </a:defRPr>
            </a:pPr>
            <a:r>
              <a:rPr sz="825" b="1">
                <a:solidFill>
                  <a:srgbClr val="78A27E"/>
                </a:solidFill>
              </a:rPr>
              <a:t>AI-POWERED FAMILY OFFICE PORTFOLIO DASHBOARD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2F9E27-DC3C-4F57-AF84-52F063A8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A27E"/>
                </a:solidFill>
              </a:defRPr>
            </a:pPr>
            <a:r>
              <a:rPr sz="900" b="1">
                <a:solidFill>
                  <a:srgbClr val="78A27E"/>
                </a:solidFill>
              </a:rPr>
              <a:t>09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ECE175-D75C-4DFB-BA77-40E24AD6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106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D5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4CB5A-7101-4F2A-B05D-017EF52F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810625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9CC"/>
                </a:solidFill>
              </a:defRPr>
            </a:pPr>
            <a:r>
              <a:rPr sz="1350" b="1">
                <a:solidFill>
                  <a:srgbClr val="C9D9CC"/>
                </a:solidFill>
              </a:rPr>
              <a:t>Those downstream effects require explicit boundaries between official, approved and blocked information.</a:t>
            </a:r>
          </a:p>
        </p:txBody>
      </p:sp>
    </p:spTree>
    <p:extLst>
      <p:ext uri="{BB962C8B-B14F-4D97-AF65-F5344CB8AC3E}">
        <p14:creationId xmlns:p14="http://schemas.microsoft.com/office/powerpoint/2010/main" val="19522805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ABE902-52BE-4AEC-B4E5-800DC6C5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400050"/>
            <a:ext cx="171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13"/>
          </a:solidFill>
          <a:ln xmlns:a="http://schemas.openxmlformats.org/drawingml/2006/main" w="0">
            <a:solidFill>
              <a:srgbClr val="00A81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A0100-B7A8-4220-BB7C-CAF83F8D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2575" y="6096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D9AD"/>
          </a:solidFill>
          <a:ln xmlns:a="http://schemas.openxmlformats.org/drawingml/2006/main" w="0">
            <a:solidFill>
              <a:srgbClr val="A7D9A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FCF7B-3D55-491A-B182-94965D83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228600"/>
            <a:ext cx="171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13"/>
          </a:solidFill>
          <a:ln xmlns:a="http://schemas.openxmlformats.org/drawingml/2006/main" w="0">
            <a:solidFill>
              <a:srgbClr val="00A81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931BA-11AE-4020-A404-BD2A9A95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813"/>
                </a:solidFill>
              </a:defRPr>
            </a:pPr>
            <a:r>
              <a:rPr sz="1275" b="1">
                <a:solidFill>
                  <a:srgbClr val="00A813"/>
                </a:solidFill>
              </a:rPr>
              <a:t>9 · STATE BOUNDARIES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1698D-FB79-42DE-8C75-32B94E56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7529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713"/>
                </a:solidFill>
              </a:defRPr>
            </a:pPr>
            <a:r>
              <a:rPr sz="3450" b="1">
                <a:solidFill>
                  <a:srgbClr val="111713"/>
                </a:solidFill>
              </a:rPr>
              <a:t>The dashboard separates official state, approved overlay and uncertainty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306F8-96F7-4886-B232-C2FAC40A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FADB1-4534-49CA-B72D-AF67A568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40957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9050">
            <a:solidFill>
              <a:srgbClr val="8E9A9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713"/>
                </a:solidFill>
              </a:defRPr>
            </a:pPr>
            <a:r>
              <a:rPr sz="2100" b="1">
                <a:solidFill>
                  <a:srgbClr val="111713"/>
                </a:solidFill>
              </a:rPr>
              <a:t>30 APRIL</a:t>
            </a:r>
          </a:p>
          <a:p xmlns:a="http://schemas.openxmlformats.org/drawingml/2006/main">
            <a:pPr algn="ctr">
              <a:defRPr sz="2100" b="1">
                <a:solidFill>
                  <a:srgbClr val="111713"/>
                </a:solidFill>
              </a:defRPr>
            </a:pPr>
            <a:r>
              <a:rPr sz="2100" b="1">
                <a:solidFill>
                  <a:srgbClr val="111713"/>
                </a:solidFill>
              </a:rPr>
              <a:t>OFFICIAL BASELINE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00" b="1">
                <a:solidFill>
                  <a:srgbClr val="111713"/>
                </a:solidFill>
              </a:defRPr>
            </a:pPr>
            <a:r>
              <a:rPr sz="2100" b="1">
                <a:solidFill>
                  <a:srgbClr val="111713"/>
                </a:solidFill>
              </a:rPr>
              <a:t>Booked portfolio + cash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8367F-38CD-47FF-940C-9AB6D8CE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48000"/>
            <a:ext cx="40957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F7E9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713"/>
                </a:solidFill>
              </a:defRPr>
            </a:pPr>
            <a:r>
              <a:rPr sz="2100" b="1">
                <a:solidFill>
                  <a:srgbClr val="111713"/>
                </a:solidFill>
              </a:rPr>
              <a:t>31 MAY</a:t>
            </a:r>
          </a:p>
          <a:p xmlns:a="http://schemas.openxmlformats.org/drawingml/2006/main">
            <a:pPr algn="ctr">
              <a:defRPr sz="2100" b="1">
                <a:solidFill>
                  <a:srgbClr val="111713"/>
                </a:solidFill>
              </a:defRPr>
            </a:pPr>
            <a:r>
              <a:rPr sz="2100" b="1">
                <a:solidFill>
                  <a:srgbClr val="111713"/>
                </a:solidFill>
              </a:rPr>
              <a:t>APPROVED OVERLAY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00" b="1">
                <a:solidFill>
                  <a:srgbClr val="111713"/>
                </a:solidFill>
              </a:defRPr>
            </a:pPr>
            <a:r>
              <a:rPr sz="2100" b="1">
                <a:solidFill>
                  <a:srgbClr val="111713"/>
                </a:solidFill>
              </a:rPr>
              <a:t>3 applied 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54FEF-5906-4B92-9D5D-09E2065D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048000"/>
            <a:ext cx="40957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1E9"/>
          </a:solidFill>
          <a:ln xmlns:a="http://schemas.openxmlformats.org/drawingml/2006/main" w="19050">
            <a:solidFill>
              <a:srgbClr val="C34B4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713"/>
                </a:solidFill>
              </a:defRPr>
            </a:pPr>
            <a:r>
              <a:rPr sz="2100" b="1">
                <a:solidFill>
                  <a:srgbClr val="111713"/>
                </a:solidFill>
              </a:rPr>
              <a:t>BLOCKED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00" b="1">
                <a:solidFill>
                  <a:srgbClr val="111713"/>
                </a:solidFill>
              </a:defRPr>
            </a:pPr>
            <a:r>
              <a:rPr sz="2100" b="1">
                <a:solidFill>
                  <a:srgbClr val="111713"/>
                </a:solidFill>
              </a:rPr>
              <a:t>2 needs review</a:t>
            </a:r>
          </a:p>
          <a:p xmlns:a="http://schemas.openxmlformats.org/drawingml/2006/main">
            <a:pPr algn="ctr">
              <a:defRPr sz="2100" b="1">
                <a:solidFill>
                  <a:srgbClr val="111713"/>
                </a:solidFill>
              </a:defRPr>
            </a:pPr>
            <a:r>
              <a:rPr sz="2100" b="1">
                <a:solidFill>
                  <a:srgbClr val="111713"/>
                </a:solidFill>
              </a:rPr>
              <a:t>1 rejected</a:t>
            </a:r>
          </a:p>
        </p:txBody>
      </p: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238750" y="428625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1191875" y="428625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DA69F"/>
            </a:solidFill>
            <a:prstDash val="soli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D1B09-DD04-4037-AD0F-E3C90539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0960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8736B"/>
                </a:solidFill>
              </a:defRPr>
            </a:pPr>
            <a:r>
              <a:rPr sz="1725" b="1">
                <a:solidFill>
                  <a:srgbClr val="68736B"/>
                </a:solidFill>
              </a:rPr>
              <a:t>Locked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68F00-9E96-4181-99F9-99F714E9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0960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A813"/>
                </a:solidFill>
              </a:defRPr>
            </a:pPr>
            <a:r>
              <a:rPr sz="1725" b="1">
                <a:solidFill>
                  <a:srgbClr val="00A813"/>
                </a:solidFill>
              </a:rPr>
              <a:t>Visible + applied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366D3-E746-4DBB-B257-FFF50DA1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6096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34B4B"/>
                </a:solidFill>
              </a:defRPr>
            </a:pPr>
            <a:r>
              <a:rPr sz="1725" b="1">
                <a:solidFill>
                  <a:srgbClr val="C34B4B"/>
                </a:solidFill>
              </a:rPr>
              <a:t>Visible + not applied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BC9FC-D815-440B-A89F-0AB2BA4F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477125"/>
            <a:ext cx="1333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11713"/>
                </a:solidFill>
              </a:defRPr>
            </a:pPr>
            <a:r>
              <a:rPr sz="2925" b="1">
                <a:solidFill>
                  <a:srgbClr val="111713"/>
                </a:solidFill>
              </a:rPr>
              <a:t>The dashboard never collapses these states into one number.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80296-9F53-4726-9887-230BA381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817A"/>
                </a:solidFill>
              </a:defRPr>
            </a:pPr>
            <a:r>
              <a:rPr sz="825" b="1">
                <a:solidFill>
                  <a:srgbClr val="77817A"/>
                </a:solidFill>
              </a:rPr>
              <a:t>AI-POWERED FAMILY OFFICE PORTFOLIO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EF4B1-650A-4ECD-BA67-52584FFF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817A"/>
                </a:solidFill>
              </a:defRPr>
            </a:pPr>
            <a:r>
              <a:rPr sz="900" b="1">
                <a:solidFill>
                  <a:srgbClr val="77817A"/>
                </a:solidFill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F4DA8-9A77-4140-B23D-4ABBEEF4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106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81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4995A-74FC-4EAC-B48D-4B1BF845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810625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5148"/>
                </a:solidFill>
              </a:defRPr>
            </a:pPr>
            <a:r>
              <a:rPr sz="1350" b="1">
                <a:solidFill>
                  <a:srgbClr val="455148"/>
                </a:solidFill>
              </a:rPr>
              <a:t>Once the state boundaries are clear, the Dashboard can be read as evidence rather than as a collection of charts.</a:t>
            </a:r>
          </a:p>
        </p:txBody>
      </p:sp>
    </p:spTree>
    <p:extLst>
      <p:ext uri="{BB962C8B-B14F-4D97-AF65-F5344CB8AC3E}">
        <p14:creationId xmlns:p14="http://schemas.microsoft.com/office/powerpoint/2010/main" val="3256520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3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6E8AC-5698-499C-889E-B9FC2AA9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400050"/>
            <a:ext cx="171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52B"/>
          </a:solidFill>
          <a:ln xmlns:a="http://schemas.openxmlformats.org/drawingml/2006/main" w="0">
            <a:solidFill>
              <a:srgbClr val="21D5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90F87-623A-4D53-8E99-6F4FCD3B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2575" y="6096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F22"/>
          </a:solidFill>
          <a:ln xmlns:a="http://schemas.openxmlformats.org/drawingml/2006/main" w="0">
            <a:solidFill>
              <a:srgbClr val="176F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D8C6B-F5F0-4D31-BC13-21A1E435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228600"/>
            <a:ext cx="171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52B"/>
          </a:solidFill>
          <a:ln xmlns:a="http://schemas.openxmlformats.org/drawingml/2006/main" w="0">
            <a:solidFill>
              <a:srgbClr val="21D5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E952B-CC16-4B9E-8C3E-55C92154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D52B"/>
                </a:solidFill>
              </a:defRPr>
            </a:pPr>
            <a:r>
              <a:rPr sz="1275" b="1">
                <a:solidFill>
                  <a:srgbClr val="21D52B"/>
                </a:solidFill>
              </a:rPr>
              <a:t>10 · DASHBOARD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08F9F-DBC4-47CC-AD09-AB6103BA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The overview establishes what is official before showing performance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46F79-F3A4-4EC2-9475-43FA0259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128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d2dfc072844c1"/>
          <a:stretch xmlns:a="http://schemas.openxmlformats.org/drawingml/2006/main"/>
        </p:blipFill>
        <p:spPr>
          <a:xfrm xmlns:a="http://schemas.openxmlformats.org/drawingml/2006/main">
            <a:off x="1959173" y="2143125"/>
            <a:ext cx="7625953" cy="5810250"/>
          </a:xfrm>
          <a:prstGeom xmlns:a="http://schemas.openxmlformats.org/drawingml/2006/main" prst="roundRect">
            <a:avLst>
              <a:gd name="adj" fmla="val 2951"/>
            </a:avLst>
          </a:prstGeom>
        </p:spPr>
      </p:pic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11572875" y="2524125"/>
          <a:ext xmlns:a="http://schemas.openxmlformats.org/drawingml/2006/main" cx="5334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f31823ce834e72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B9897-4D05-4B56-B7A6-A167B24A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095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1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Portfolio mix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64495-9291-4E4E-93E5-CFA3BB33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524750"/>
            <a:ext cx="37147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9525">
            <a:solidFill>
              <a:srgbClr val="21D52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30806"/>
                </a:solidFill>
              </a:defRPr>
            </a:pPr>
            <a:r>
              <a:rPr sz="1200" b="1">
                <a:solidFill>
                  <a:srgbClr val="030806"/>
                </a:solidFill>
              </a:rPr>
              <a:t>USD 750m AUM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04C62-75DE-4095-A0EB-E70AE0C8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A27E"/>
                </a:solidFill>
              </a:defRPr>
            </a:pPr>
            <a:r>
              <a:rPr sz="825" b="1">
                <a:solidFill>
                  <a:srgbClr val="78A27E"/>
                </a:solidFill>
              </a:rPr>
              <a:t>AI-POWERED FAMILY OFFICE PORTFOLIO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69073-DCBD-4D67-9246-6EE2225D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A27E"/>
                </a:solidFill>
              </a:defRPr>
            </a:pPr>
            <a:r>
              <a:rPr sz="900" b="1">
                <a:solidFill>
                  <a:srgbClr val="78A27E"/>
                </a:solidFill>
              </a:rPr>
              <a:t>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EB006-7AA1-44E7-8304-DE5E9771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106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D5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08581-F9FE-4273-BF45-555E73CA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810625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9CC"/>
                </a:solidFill>
              </a:defRPr>
            </a:pPr>
            <a:r>
              <a:rPr sz="1350" b="1">
                <a:solidFill>
                  <a:srgbClr val="C9D9CC"/>
                </a:solidFill>
              </a:rPr>
              <a:t>The overview establishes the reporting state; the next layer explains the private-market exposure behind it.</a:t>
            </a:r>
          </a:p>
        </p:txBody>
      </p:sp>
    </p:spTree>
    <p:extLst>
      <p:ext uri="{BB962C8B-B14F-4D97-AF65-F5344CB8AC3E}">
        <p14:creationId xmlns:p14="http://schemas.microsoft.com/office/powerpoint/2010/main" val="2406306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AF9D2-4C85-4ECB-8DC4-C8829B5E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400050"/>
            <a:ext cx="171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13"/>
          </a:solidFill>
          <a:ln xmlns:a="http://schemas.openxmlformats.org/drawingml/2006/main" w="0">
            <a:solidFill>
              <a:srgbClr val="00A81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8CD0A-2DB6-4A58-93E3-71D39E0F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2575" y="6096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D9AD"/>
          </a:solidFill>
          <a:ln xmlns:a="http://schemas.openxmlformats.org/drawingml/2006/main" w="0">
            <a:solidFill>
              <a:srgbClr val="A7D9A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26F02-3EDE-47E6-8AFF-E6994216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228600"/>
            <a:ext cx="171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13"/>
          </a:solidFill>
          <a:ln xmlns:a="http://schemas.openxmlformats.org/drawingml/2006/main" w="0">
            <a:solidFill>
              <a:srgbClr val="00A81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3B6CE-42A5-4047-9836-BD4D6F2E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813"/>
                </a:solidFill>
              </a:defRPr>
            </a:pPr>
            <a:r>
              <a:rPr sz="1275" b="1">
                <a:solidFill>
                  <a:srgbClr val="00A813"/>
                </a:solidFill>
              </a:rPr>
              <a:t>11 · PRIVATE MARKETS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57636-C6C9-435B-9DF1-E3AC9EA1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713"/>
                </a:solidFill>
              </a:defRPr>
            </a:pPr>
            <a:r>
              <a:rPr sz="3450" b="1">
                <a:solidFill>
                  <a:srgbClr val="111713"/>
                </a:solidFill>
              </a:rPr>
              <a:t>Private-market commitments create the largest document 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3C262-DBA2-441E-B664-A974B5E4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762000" y="2333625"/>
          <a:ext xmlns:a="http://schemas.openxmlformats.org/drawingml/2006/main" cx="9048750" cy="581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41cce3584943ca"/>
          </a:graphicData>
        </a:graphic>
      </p:graphicFrame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5c323c59446a9"/>
          <a:stretch xmlns:a="http://schemas.openxmlformats.org/drawingml/2006/main"/>
        </p:blipFill>
        <p:spPr>
          <a:xfrm xmlns:a="http://schemas.openxmlformats.org/drawingml/2006/main">
            <a:off x="10781109" y="2381250"/>
            <a:ext cx="6250781" cy="4762500"/>
          </a:xfrm>
          <a:prstGeom xmlns:a="http://schemas.openxmlformats.org/drawingml/2006/main" prst="roundRect">
            <a:avLst>
              <a:gd name="adj" fmla="val 36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E4B40-A123-4CE4-971A-EE24416C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52475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813"/>
                </a:solidFill>
              </a:defRPr>
            </a:pPr>
            <a:r>
              <a:rPr sz="2550" b="1">
                <a:solidFill>
                  <a:srgbClr val="00A813"/>
                </a:solidFill>
              </a:rPr>
              <a:t>USD 500m commitments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98746-4667-4A86-8BBC-8555EF2F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048625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713"/>
                </a:solidFill>
              </a:defRPr>
            </a:pPr>
            <a:r>
              <a:rPr sz="1950" b="0">
                <a:solidFill>
                  <a:srgbClr val="111713"/>
                </a:solidFill>
              </a:rPr>
              <a:t>USD 365m paid-in  ·  USD 135m unfunded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A1EA3-F6CC-45B8-BDCA-9C028652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817A"/>
                </a:solidFill>
              </a:defRPr>
            </a:pPr>
            <a:r>
              <a:rPr sz="825" b="1">
                <a:solidFill>
                  <a:srgbClr val="77817A"/>
                </a:solidFill>
              </a:rPr>
              <a:t>AI-POWERED FAMILY OFFICE PORTFOLIO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03FD4-8AEE-45C6-8524-9BE28290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817A"/>
                </a:solidFill>
              </a:defRPr>
            </a:pPr>
            <a:r>
              <a:rPr sz="900" b="1">
                <a:solidFill>
                  <a:srgbClr val="77817A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77522-E62C-4348-BF4B-7D287562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106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81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C3935-20CF-4E88-A1AF-AC276849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810625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5148"/>
                </a:solidFill>
              </a:defRPr>
            </a:pPr>
            <a:r>
              <a:rPr sz="1350" b="1">
                <a:solidFill>
                  <a:srgbClr val="455148"/>
                </a:solidFill>
              </a:rPr>
              <a:t>Commitments and unfunded exposure become actionable when translated into liquidity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8636436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3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3DEE0-F975-4874-875E-5E252A4C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400050"/>
            <a:ext cx="171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52B"/>
          </a:solidFill>
          <a:ln xmlns:a="http://schemas.openxmlformats.org/drawingml/2006/main" w="0">
            <a:solidFill>
              <a:srgbClr val="21D5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6EA58-14B9-4968-9D15-CCDABBDB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2575" y="6096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F22"/>
          </a:solidFill>
          <a:ln xmlns:a="http://schemas.openxmlformats.org/drawingml/2006/main" w="0">
            <a:solidFill>
              <a:srgbClr val="176F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082D2-A7E8-4A27-83AC-AD6FFC40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228600"/>
            <a:ext cx="171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52B"/>
          </a:solidFill>
          <a:ln xmlns:a="http://schemas.openxmlformats.org/drawingml/2006/main" w="0">
            <a:solidFill>
              <a:srgbClr val="21D5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D08B5-CE28-49AC-8E6C-A7D67667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D52B"/>
                </a:solidFill>
              </a:defRPr>
            </a:pPr>
            <a:r>
              <a:rPr sz="1275" b="1">
                <a:solidFill>
                  <a:srgbClr val="21D52B"/>
                </a:solidFill>
              </a:rPr>
              <a:t>12 · LIQUIDITY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893E0-EF6D-48C6-BC4A-71652AF7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Approved and blocked cash events lead to different liquidity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8F9CC-082B-4BC3-83E9-B7015E28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128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e35f93f5c4de4"/>
          <a:stretch xmlns:a="http://schemas.openxmlformats.org/drawingml/2006/main"/>
        </p:blipFill>
        <p:spPr>
          <a:xfrm xmlns:a="http://schemas.openxmlformats.org/drawingml/2006/main">
            <a:off x="1806773" y="2238375"/>
            <a:ext cx="7625953" cy="5810250"/>
          </a:xfrm>
          <a:prstGeom xmlns:a="http://schemas.openxmlformats.org/drawingml/2006/main" prst="roundRect">
            <a:avLst>
              <a:gd name="adj" fmla="val 295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CB72D-BC68-4667-901D-A4BA9B67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9527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4A89A"/>
                </a:solidFill>
              </a:defRPr>
            </a:pPr>
            <a:r>
              <a:rPr sz="1575" b="1">
                <a:solidFill>
                  <a:srgbClr val="94A89A"/>
                </a:solidFill>
              </a:rPr>
              <a:t>BOOKED CASH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2A84A-300E-451F-9DF5-F73A2968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813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33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USD 22.5m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44391-872B-4EC8-92E0-542F9B25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5720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D52B"/>
                </a:solidFill>
              </a:defRPr>
            </a:pPr>
            <a:r>
              <a:rPr sz="1575" b="1">
                <a:solidFill>
                  <a:srgbClr val="21D52B"/>
                </a:solidFill>
              </a:rPr>
              <a:t>APPROVED PROJECTED INFLOW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B4D86-D293-423A-8483-6E4AAD34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00062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33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1D52B"/>
                </a:solidFill>
              </a:defRPr>
            </a:pPr>
            <a:r>
              <a:rPr sz="3750" b="1">
                <a:solidFill>
                  <a:srgbClr val="21D52B"/>
                </a:solidFill>
              </a:rPr>
              <a:t>+ USD 3.1m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3ECD0-E9B2-47F4-A86E-BC375299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912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49A9A"/>
                </a:solidFill>
              </a:defRPr>
            </a:pPr>
            <a:r>
              <a:rPr sz="1575" b="1">
                <a:solidFill>
                  <a:srgbClr val="E49A9A"/>
                </a:solidFill>
              </a:rPr>
              <a:t>BLOCKED CAPITAL CALLS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230FB-8216-43F1-82E8-73C9E43B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198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49A9A"/>
                </a:solidFill>
              </a:defRPr>
            </a:pPr>
            <a:r>
              <a:rPr sz="3225" b="1">
                <a:solidFill>
                  <a:srgbClr val="E49A9A"/>
                </a:solidFill>
              </a:rPr>
              <a:t>USD 7.0m not applied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56A3F-E24D-4384-96F5-308108B1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620000"/>
            <a:ext cx="5334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2351A"/>
          </a:solidFill>
          <a:ln xmlns:a="http://schemas.openxmlformats.org/drawingml/2006/main" w="9525">
            <a:solidFill>
              <a:srgbClr val="12351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BOOKED ≠ PROJECTED ≠ BLOCKED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BEBC4-70E5-48EC-AC61-4864F35D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A27E"/>
                </a:solidFill>
              </a:defRPr>
            </a:pPr>
            <a:r>
              <a:rPr sz="825" b="1">
                <a:solidFill>
                  <a:srgbClr val="78A27E"/>
                </a:solidFill>
              </a:rPr>
              <a:t>AI-POWERED FAMILY OFFICE PORTFOLIO DASHBOARD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85B94-D20D-4B76-93CE-9C987DFB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A27E"/>
                </a:solidFill>
              </a:defRPr>
            </a:pPr>
            <a:r>
              <a:rPr sz="900" b="1">
                <a:solidFill>
                  <a:srgbClr val="78A27E"/>
                </a:solidFill>
              </a:rPr>
              <a:t>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9E7CA-959C-4520-A62B-6CBEE82D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106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D5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F8EAED-673E-4F08-AA3C-AF96F67A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810625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9CC"/>
                </a:solidFill>
              </a:defRPr>
            </a:pPr>
            <a:r>
              <a:rPr sz="1350" b="1">
                <a:solidFill>
                  <a:srgbClr val="C9D9CC"/>
                </a:solidFill>
              </a:rPr>
              <a:t>Liquidity answers near-term funding; public-proxy risk adds market context for the liquid sleeve.</a:t>
            </a:r>
          </a:p>
        </p:txBody>
      </p:sp>
    </p:spTree>
    <p:extLst>
      <p:ext uri="{BB962C8B-B14F-4D97-AF65-F5344CB8AC3E}">
        <p14:creationId xmlns:p14="http://schemas.microsoft.com/office/powerpoint/2010/main" val="18636436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73C00-A9AA-4405-8ADD-5887F81A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400050"/>
            <a:ext cx="171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13"/>
          </a:solidFill>
          <a:ln xmlns:a="http://schemas.openxmlformats.org/drawingml/2006/main" w="0">
            <a:solidFill>
              <a:srgbClr val="00A81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B549C-888B-41A1-BB7E-DD5671EE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2575" y="6096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D9AD"/>
          </a:solidFill>
          <a:ln xmlns:a="http://schemas.openxmlformats.org/drawingml/2006/main" w="0">
            <a:solidFill>
              <a:srgbClr val="A7D9A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FF025-DF5A-4976-BB97-0F87B9B4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228600"/>
            <a:ext cx="171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13"/>
          </a:solidFill>
          <a:ln xmlns:a="http://schemas.openxmlformats.org/drawingml/2006/main" w="0">
            <a:solidFill>
              <a:srgbClr val="00A81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AB98A-3898-4E52-8610-697A0615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813"/>
                </a:solidFill>
              </a:defRPr>
            </a:pPr>
            <a:r>
              <a:rPr sz="1275" b="1">
                <a:solidFill>
                  <a:srgbClr val="00A813"/>
                </a:solidFill>
              </a:rPr>
              <a:t>13 · RISK OVERLAY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5593C-828F-474C-86F9-222A2D84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713"/>
                </a:solidFill>
              </a:defRPr>
            </a:pPr>
            <a:r>
              <a:rPr sz="3450" b="1">
                <a:solidFill>
                  <a:srgbClr val="111713"/>
                </a:solidFill>
              </a:rPr>
              <a:t>Public-proxy risk adds market context without overstating precision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55466-A5D5-4BB6-A09B-A58E2BAF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857250" y="2381250"/>
          <a:ext xmlns:a="http://schemas.openxmlformats.org/drawingml/2006/main" cx="8096250" cy="561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550189e6114fa9"/>
          </a:graphicData>
        </a:graphic>
      </p:graphicFrame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02e70ddc54952"/>
          <a:stretch xmlns:a="http://schemas.openxmlformats.org/drawingml/2006/main"/>
        </p:blipFill>
        <p:spPr>
          <a:xfrm xmlns:a="http://schemas.openxmlformats.org/drawingml/2006/main">
            <a:off x="10400109" y="2381250"/>
            <a:ext cx="6250781" cy="4762500"/>
          </a:xfrm>
          <a:prstGeom xmlns:a="http://schemas.openxmlformats.org/drawingml/2006/main" prst="roundRect">
            <a:avLst>
              <a:gd name="adj" fmla="val 36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1E862-6D00-4530-873D-BA067DC3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0"/>
            <a:ext cx="4762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0A813"/>
          </a:solidFill>
          <a:ln xmlns:a="http://schemas.openxmlformats.org/drawingml/2006/main" w="9525">
            <a:solidFill>
              <a:srgbClr val="00A81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30 REAL PROXY TICKERS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A14B2-E634-43FF-B6E2-87BF87AD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239125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106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Directional monitoring only — not a production family-office risk engine.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D0A8E-EA93-4A45-A6ED-C9272E92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817A"/>
                </a:solidFill>
              </a:defRPr>
            </a:pPr>
            <a:r>
              <a:rPr sz="825" b="1">
                <a:solidFill>
                  <a:srgbClr val="77817A"/>
                </a:solidFill>
              </a:rPr>
              <a:t>AI-POWERED FAMILY OFFICE PORTFOLIO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A53F0-FC48-4B74-8FA3-374C23EB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817A"/>
                </a:solidFill>
              </a:defRPr>
            </a:pPr>
            <a:r>
              <a:rPr sz="900" b="1">
                <a:solidFill>
                  <a:srgbClr val="77817A"/>
                </a:solidFill>
              </a:rPr>
              <a:t>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B0EA0-3913-4B67-834A-A88AF921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106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81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C9036-7766-465D-BF17-0FE94022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810625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5148"/>
                </a:solidFill>
              </a:defRPr>
            </a:pPr>
            <a:r>
              <a:rPr sz="1350" b="1">
                <a:solidFill>
                  <a:srgbClr val="455148"/>
                </a:solidFill>
              </a:rPr>
              <a:t>Market context is useful only when the underlying processing history remains explainable.</a:t>
            </a:r>
          </a:p>
        </p:txBody>
      </p:sp>
    </p:spTree>
    <p:extLst>
      <p:ext uri="{BB962C8B-B14F-4D97-AF65-F5344CB8AC3E}">
        <p14:creationId xmlns:p14="http://schemas.microsoft.com/office/powerpoint/2010/main" val="2406306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3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99475-4D26-45A9-B81D-7C06069C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400050"/>
            <a:ext cx="171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52B"/>
          </a:solidFill>
          <a:ln xmlns:a="http://schemas.openxmlformats.org/drawingml/2006/main" w="0">
            <a:solidFill>
              <a:srgbClr val="21D5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1E336-C2CC-4DE6-9B10-99DDB4AB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2575" y="6096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F22"/>
          </a:solidFill>
          <a:ln xmlns:a="http://schemas.openxmlformats.org/drawingml/2006/main" w="0">
            <a:solidFill>
              <a:srgbClr val="176F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77F7B-7463-4A22-B8B6-07D505E9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228600"/>
            <a:ext cx="171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52B"/>
          </a:solidFill>
          <a:ln xmlns:a="http://schemas.openxmlformats.org/drawingml/2006/main" w="0">
            <a:solidFill>
              <a:srgbClr val="21D5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0A432-4D26-420A-8183-FC282AE2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D52B"/>
                </a:solidFill>
              </a:defRPr>
            </a:pPr>
            <a:r>
              <a:rPr sz="1275" b="1">
                <a:solidFill>
                  <a:srgbClr val="21D52B"/>
                </a:solidFill>
              </a:rPr>
              <a:t>14 · DASHBOARD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7278B-E1D9-43B0-9CD7-794999AF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Workflow controls turn processing history into audit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6CD67-5038-4679-A5F8-FCDA9005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12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c6153e82e4a88"/>
          <a:stretch xmlns:a="http://schemas.openxmlformats.org/drawingml/2006/main"/>
        </p:blipFill>
        <p:spPr>
          <a:xfrm xmlns:a="http://schemas.openxmlformats.org/drawingml/2006/main">
            <a:off x="1937742" y="2143125"/>
            <a:ext cx="8126016" cy="6191250"/>
          </a:xfrm>
          <a:prstGeom xmlns:a="http://schemas.openxmlformats.org/drawingml/2006/main" prst="roundRect">
            <a:avLst>
              <a:gd name="adj" fmla="val 276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6B732-F3AC-48F3-B020-2812E7A4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571750"/>
            <a:ext cx="4000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INGESTED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5AFDD-45F7-4BF8-8677-5CC97E4C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286250"/>
            <a:ext cx="4000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30806"/>
                </a:solidFill>
              </a:defRPr>
            </a:pPr>
            <a:r>
              <a:rPr sz="1500" b="1">
                <a:solidFill>
                  <a:srgbClr val="030806"/>
                </a:solidFill>
              </a:rPr>
              <a:t>3</a:t>
            </a:r>
          </a:p>
          <a:p xmlns:a="http://schemas.openxmlformats.org/drawingml/2006/main">
            <a:pPr algn="ctr">
              <a:defRPr sz="1500" b="1">
                <a:solidFill>
                  <a:srgbClr val="030806"/>
                </a:solidFill>
              </a:defRPr>
            </a:pPr>
            <a:r>
              <a:rPr sz="1500" b="1">
                <a:solidFill>
                  <a:srgbClr val="030806"/>
                </a:solidFill>
              </a:rPr>
              <a:t>APPLIED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E3EDB-EE87-4D4E-AFD1-AFAEC228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000750"/>
            <a:ext cx="4000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91315"/>
          </a:solidFill>
          <a:ln xmlns:a="http://schemas.openxmlformats.org/drawingml/2006/main" w="19050">
            <a:solidFill>
              <a:srgbClr val="C34B4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BLOCKED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5F5CB-4313-4BC6-958D-1C7F78B5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776287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Source ID · validation rule · status · reviewer note · update reason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9B446-FFFD-4F8A-869C-099F6D4D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A27E"/>
                </a:solidFill>
              </a:defRPr>
            </a:pPr>
            <a:r>
              <a:rPr sz="825" b="1">
                <a:solidFill>
                  <a:srgbClr val="78A27E"/>
                </a:solidFill>
              </a:rPr>
              <a:t>AI-POWERED FAMILY OFFICE PORTFOLIO 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0E156-407F-44A9-8614-D179F566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A27E"/>
                </a:solidFill>
              </a:defRPr>
            </a:pPr>
            <a:r>
              <a:rPr sz="900" b="1">
                <a:solidFill>
                  <a:srgbClr val="78A27E"/>
                </a:solidFill>
              </a:rPr>
              <a:t>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22A5D-B5C7-43F3-B9BB-379F0597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106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D5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65082-3D68-4E69-B5A8-77660838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810625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9CC"/>
                </a:solidFill>
              </a:defRPr>
            </a:pPr>
            <a:r>
              <a:rPr sz="1350" b="1">
                <a:solidFill>
                  <a:srgbClr val="C9D9CC"/>
                </a:solidFill>
              </a:rPr>
              <a:t>The same controlled state can now support different decisions across the family office.</a:t>
            </a:r>
          </a:p>
        </p:txBody>
      </p:sp>
    </p:spTree>
    <p:extLst>
      <p:ext uri="{BB962C8B-B14F-4D97-AF65-F5344CB8AC3E}">
        <p14:creationId xmlns:p14="http://schemas.microsoft.com/office/powerpoint/2010/main" val="2406306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A32214-EB25-4C28-A262-C72D1AC8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400050"/>
            <a:ext cx="171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13"/>
          </a:solidFill>
          <a:ln xmlns:a="http://schemas.openxmlformats.org/drawingml/2006/main" w="0">
            <a:solidFill>
              <a:srgbClr val="00A81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BF0CA-5935-4D9F-AC85-22AE8109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2575" y="6096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D9AD"/>
          </a:solidFill>
          <a:ln xmlns:a="http://schemas.openxmlformats.org/drawingml/2006/main" w="0">
            <a:solidFill>
              <a:srgbClr val="A7D9A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4652C-B8E8-4ABD-8330-C23C4556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228600"/>
            <a:ext cx="171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13"/>
          </a:solidFill>
          <a:ln xmlns:a="http://schemas.openxmlformats.org/drawingml/2006/main" w="0">
            <a:solidFill>
              <a:srgbClr val="00A81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2DB1F-6E55-41AE-8AB7-647B20D7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813"/>
                </a:solidFill>
              </a:defRPr>
            </a:pPr>
            <a:r>
              <a:rPr sz="1275" b="1">
                <a:solidFill>
                  <a:srgbClr val="00A813"/>
                </a:solidFill>
              </a:rPr>
              <a:t>15 · STAKEHOLDER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FD75F-4CBA-4F99-A209-B8355F9C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713"/>
                </a:solidFill>
              </a:defRPr>
            </a:pPr>
            <a:r>
              <a:rPr sz="3450" b="1">
                <a:solidFill>
                  <a:srgbClr val="111713"/>
                </a:solidFill>
              </a:rPr>
              <a:t>One controlled information chain supports three different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359F0-6063-4674-BB5F-F9BA2FE5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4311B-B04B-4D5B-A36D-94E292D5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810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30806"/>
                </a:solidFill>
              </a:defRPr>
            </a:pPr>
            <a:r>
              <a:rPr sz="2550" b="1">
                <a:solidFill>
                  <a:srgbClr val="030806"/>
                </a:solidFill>
              </a:rPr>
              <a:t>CONTROLLED</a:t>
            </a:r>
          </a:p>
          <a:p xmlns:a="http://schemas.openxmlformats.org/drawingml/2006/main">
            <a:pPr algn="ctr">
              <a:defRPr sz="2550" b="1">
                <a:solidFill>
                  <a:srgbClr val="030806"/>
                </a:solidFill>
              </a:defRPr>
            </a:pPr>
            <a:r>
              <a:rPr sz="2550" b="1">
                <a:solidFill>
                  <a:srgbClr val="030806"/>
                </a:solidFill>
              </a:rPr>
              <a:t>PORTFOLIO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14E25-1049-4D4E-8F80-A8F7AA0A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41910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F7E9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713"/>
                </a:solidFill>
              </a:defRPr>
            </a:pPr>
            <a:r>
              <a:rPr sz="1950" b="1">
                <a:solidFill>
                  <a:srgbClr val="111713"/>
                </a:solidFill>
              </a:rPr>
              <a:t>CIO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111713"/>
                </a:solidFill>
              </a:defRPr>
            </a:pPr>
            <a:r>
              <a:rPr sz="1950" b="1">
                <a:solidFill>
                  <a:srgbClr val="111713"/>
                </a:solidFill>
              </a:rPr>
              <a:t>Allocation · liquidity coverage</a:t>
            </a:r>
          </a:p>
          <a:p xmlns:a="http://schemas.openxmlformats.org/drawingml/2006/main">
            <a:pPr algn="ctr">
              <a:defRPr sz="1950" b="1">
                <a:solidFill>
                  <a:srgbClr val="111713"/>
                </a:solidFill>
              </a:defRPr>
            </a:pPr>
            <a:r>
              <a:rPr sz="1950" b="1">
                <a:solidFill>
                  <a:srgbClr val="111713"/>
                </a:solidFill>
              </a:rPr>
              <a:t>concentration · uncertainty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B94CD-B4E0-4640-8732-209E660C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72250"/>
            <a:ext cx="5334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F7E9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713"/>
                </a:solidFill>
              </a:defRPr>
            </a:pPr>
            <a:r>
              <a:rPr sz="1950" b="1">
                <a:solidFill>
                  <a:srgbClr val="111713"/>
                </a:solidFill>
              </a:rPr>
              <a:t>INVESTMENT ANALYST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111713"/>
                </a:solidFill>
              </a:defRPr>
            </a:pPr>
            <a:r>
              <a:rPr sz="1950" b="1">
                <a:solidFill>
                  <a:srgbClr val="111713"/>
                </a:solidFill>
              </a:rPr>
              <a:t>Fund NAV · commitments</a:t>
            </a:r>
          </a:p>
          <a:p xmlns:a="http://schemas.openxmlformats.org/drawingml/2006/main">
            <a:pPr algn="ctr">
              <a:defRPr sz="1950" b="1">
                <a:solidFill>
                  <a:srgbClr val="111713"/>
                </a:solidFill>
              </a:defRPr>
            </a:pPr>
            <a:r>
              <a:rPr sz="1950" b="1">
                <a:solidFill>
                  <a:srgbClr val="111713"/>
                </a:solidFill>
              </a:rPr>
              <a:t>cash flows · source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63904-8539-4134-A7AD-1039C8C2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048000"/>
            <a:ext cx="41910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F7E9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713"/>
                </a:solidFill>
              </a:defRPr>
            </a:pPr>
            <a:r>
              <a:rPr sz="1950" b="1">
                <a:solidFill>
                  <a:srgbClr val="111713"/>
                </a:solidFill>
              </a:rPr>
              <a:t>OPERATIONS / FINANCE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111713"/>
                </a:solidFill>
              </a:defRPr>
            </a:pPr>
            <a:r>
              <a:rPr sz="1950" b="1">
                <a:solidFill>
                  <a:srgbClr val="111713"/>
                </a:solidFill>
              </a:rPr>
              <a:t>Intake · exceptions · approvals</a:t>
            </a:r>
          </a:p>
          <a:p xmlns:a="http://schemas.openxmlformats.org/drawingml/2006/main">
            <a:pPr algn="ctr">
              <a:defRPr sz="1950" b="1">
                <a:solidFill>
                  <a:srgbClr val="111713"/>
                </a:solidFill>
              </a:defRPr>
            </a:pPr>
            <a:r>
              <a:rPr sz="1950" b="1">
                <a:solidFill>
                  <a:srgbClr val="111713"/>
                </a:solidFill>
              </a:rPr>
              <a:t>booked vs projected cash</a:t>
            </a:r>
          </a:p>
        </p:txBody>
      </p: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334000" y="4286250"/>
            <a:ext cx="19050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11049000" y="4286250"/>
            <a:ext cx="19050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144000" y="55245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5A234-B763-4D68-B8D7-70D2C5A5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817A"/>
                </a:solidFill>
              </a:defRPr>
            </a:pPr>
            <a:r>
              <a:rPr sz="825" b="1">
                <a:solidFill>
                  <a:srgbClr val="77817A"/>
                </a:solidFill>
              </a:rPr>
              <a:t>AI-POWERED FAMILY OFFICE PORTFOLIO DASHBOARD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9251F-E6C6-4C75-84D3-03034B80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817A"/>
                </a:solidFill>
              </a:defRPr>
            </a:pPr>
            <a:r>
              <a:rPr sz="900" b="1">
                <a:solidFill>
                  <a:srgbClr val="77817A"/>
                </a:solidFill>
              </a:rPr>
              <a:t>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EF031C-7F74-4968-9C45-7B2FF0FD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106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81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B6AF2B-8920-4034-81FD-43B9090D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810625"/>
            <a:ext cx="1428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5148"/>
                </a:solidFill>
              </a:defRPr>
            </a:pPr>
            <a:r>
              <a:rPr sz="1350" b="1">
                <a:solidFill>
                  <a:srgbClr val="455148"/>
                </a:solidFill>
              </a:rPr>
              <a:t>Stakeholder value is the consequence of the control chain; the final step is to evaluate what the proof of concept achieved.</a:t>
            </a:r>
          </a:p>
        </p:txBody>
      </p:sp>
    </p:spTree>
    <p:extLst>
      <p:ext uri="{BB962C8B-B14F-4D97-AF65-F5344CB8AC3E}">
        <p14:creationId xmlns:p14="http://schemas.microsoft.com/office/powerpoint/2010/main" val="19522805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3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77C314-44CF-403D-BCD7-07871ECA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400050"/>
            <a:ext cx="171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52B"/>
          </a:solidFill>
          <a:ln xmlns:a="http://schemas.openxmlformats.org/drawingml/2006/main" w="0">
            <a:solidFill>
              <a:srgbClr val="21D5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FFDCF-3AD2-4907-B7A3-BA8DE9D0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2575" y="6096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F22"/>
          </a:solidFill>
          <a:ln xmlns:a="http://schemas.openxmlformats.org/drawingml/2006/main" w="0">
            <a:solidFill>
              <a:srgbClr val="176F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D94CD-D118-43A0-AB7D-6E70E869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228600"/>
            <a:ext cx="171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52B"/>
          </a:solidFill>
          <a:ln xmlns:a="http://schemas.openxmlformats.org/drawingml/2006/main" w="0">
            <a:solidFill>
              <a:srgbClr val="21D5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6DFFC-DA48-4064-85B5-A14B73A0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D52B"/>
                </a:solidFill>
              </a:defRPr>
            </a:pPr>
            <a:r>
              <a:rPr sz="1275" b="1">
                <a:solidFill>
                  <a:srgbClr val="21D52B"/>
                </a:solidFill>
              </a:rPr>
              <a:t>16 · RESULTS AND NEXT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02744-C178-46B2-8324-6853DA92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27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The proof of concept demonstrates control; production requires hardening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35427-8DAC-4DC4-8C59-346A99E8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12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F2D28-0A4E-4552-9D3C-4E9BA812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624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1D52B"/>
                </a:solidFill>
              </a:defRPr>
            </a:pPr>
            <a:r>
              <a:rPr sz="4650" b="1">
                <a:solidFill>
                  <a:srgbClr val="21D52B"/>
                </a:solidFill>
              </a:rPr>
              <a:t>26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60ABF-389C-4BA6-977D-208C9F28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DATA QA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F4082-7CB3-4E0F-9FF2-F1938B9A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624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1D52B"/>
                </a:solidFill>
              </a:defRPr>
            </a:pPr>
            <a:r>
              <a:rPr sz="4650" b="1">
                <a:solidFill>
                  <a:srgbClr val="21D52B"/>
                </a:solidFill>
              </a:rPr>
              <a:t>129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D1539-0779-42A3-A747-D73FC640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90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AUTOMATED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62F8A-79EE-4D14-A478-F13C08F7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3812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624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1D52B"/>
                </a:solidFill>
              </a:defRPr>
            </a:pPr>
            <a:r>
              <a:rPr sz="4650" b="1">
                <a:solidFill>
                  <a:srgbClr val="21D52B"/>
                </a:solidFill>
              </a:rPr>
              <a:t>3 /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F72F2-C9F2-41B0-98C4-B2197F5E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190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APPLIED / BLOCKED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5A264-39B2-4710-BFD2-E7206E40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476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PILOT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Owners · review roles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thresholds · benchmarks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7F344-2A16-4D2C-819F-8ECE671E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953000"/>
            <a:ext cx="4476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HARDEN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Integrations · permissions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monitoring · audit retention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162EF-2BD2-4056-8FCF-4E1EA4E8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953000"/>
            <a:ext cx="4476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EXPAND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More documents · forecasts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look-through · approvals</a:t>
            </a:r>
          </a:p>
        </p:txBody>
      </p:sp>
      <p:cxnSp>
        <p:nvCxnSpPr>
          <p:cNvPr id="36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429250" y="600075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1382375" y="600075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057CD-7388-4EC8-BC01-88C42878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905750"/>
            <a:ext cx="1352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74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Most valuable outcome: a traceable and governed route from document evidence to decision support.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21D30-3B55-40F3-83D3-1E5A98E0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A27E"/>
                </a:solidFill>
              </a:defRPr>
            </a:pPr>
            <a:r>
              <a:rPr sz="825" b="1">
                <a:solidFill>
                  <a:srgbClr val="78A27E"/>
                </a:solidFill>
              </a:rPr>
              <a:t>AI-POWERED FAMILY OFFICE PORTFOLIO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7CCB52-6A39-4492-9125-54BBDE82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A27E"/>
                </a:solidFill>
              </a:defRPr>
            </a:pPr>
            <a:r>
              <a:rPr sz="900" b="1">
                <a:solidFill>
                  <a:srgbClr val="78A27E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52280529"/>
      </p:ext>
    </p:extLst>
  </p:cSld>
</p:sld>
</file>

<file path=ppt/slides/slide18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000">
                <a:alpha val="100000"/>
              </a:srgbClr>
            </a:gs>
            <a:gs pos="100000">
              <a:srgbClr val="011000">
                <a:alpha val="100000"/>
              </a:srgbClr>
            </a:gs>
          </a:gsLst>
          <a:path path="circle">
            <a:fillToRect l="0" t="0" r="100000" b="100000"/>
          </a:path>
          <a:tileRect l="-100000" t="-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88FC7BD-A14B-4007-91DB-E996395D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599" y="1270898"/>
            <a:ext cx="654141" cy="594674"/>
          </a:xfrm>
          <a:custGeom xmlns:a="http://schemas.openxmlformats.org/drawingml/2006/main">
            <a:rect l="l" t="t" r="r" b="b"/>
            <a:pathLst>
              <a:path w="654141" h="594674">
                <a:moveTo>
                  <a:pt x="0" y="0"/>
                </a:moveTo>
                <a:lnTo>
                  <a:pt x="654141" y="0"/>
                </a:lnTo>
                <a:lnTo>
                  <a:pt x="654141" y="594674"/>
                </a:lnTo>
                <a:lnTo>
                  <a:pt x="0" y="59467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f8709674a224832">
              <a:extLst>
                <a:ext uri="{96DAC541-7B7A-43D3-8B79-37D633B846F1}">
                  <asvg:svgBlip xmlns:asvg="http://schemas.microsoft.com/office/drawing/2016/SVG/main" r:embed="Rcff140ca1cca4f55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B68BD65-62D5-465E-9B00-86F4F4A0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0326" y="1855659"/>
            <a:ext cx="7727832" cy="6575683"/>
          </a:xfrm>
          <a:custGeom xmlns:a="http://schemas.openxmlformats.org/drawingml/2006/main">
            <a:rect l="l" t="t" r="r" b="b"/>
            <a:pathLst>
              <a:path w="7727832" h="6575683">
                <a:moveTo>
                  <a:pt x="0" y="0"/>
                </a:moveTo>
                <a:lnTo>
                  <a:pt x="7727832" y="0"/>
                </a:lnTo>
                <a:lnTo>
                  <a:pt x="7727832" y="6575682"/>
                </a:lnTo>
                <a:lnTo>
                  <a:pt x="0" y="657568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1a49a75eb574477">
              <a:extLst>
                <a:ext uri="{96DAC541-7B7A-43D3-8B79-37D633B846F1}">
                  <asvg:svgBlip xmlns:asvg="http://schemas.microsoft.com/office/drawing/2016/SVG/main" r:embed="Rb55173fbf7944e15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C994D62D-82DF-415C-8673-30E45597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599" y="4891809"/>
            <a:ext cx="10238701" cy="36821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4244"/>
              </a:lnSpc>
              <a:buNone/>
            </a:pPr>
            <a:r>
              <a:rPr sz="13965" b="1">
                <a:solidFill>
                  <a:srgbClr val="FFFFFF"/>
                </a:solidFill>
                <a:latin typeface="Garet Bold"/>
                <a:ea typeface="Garet Bold"/>
                <a:cs typeface="Garet Bold"/>
              </a:rPr>
              <a:t>CONTROL THE FLOW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27C32E3-C9FB-4329-B0AC-6BCCBAC2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599" y="2223645"/>
            <a:ext cx="2803306" cy="3224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85"/>
              </a:lnSpc>
              <a:spcBef>
                <a:spcPct val="0"/>
              </a:spcBef>
              <a:buNone/>
            </a:pPr>
            <a:r>
              <a:rPr sz="2436">
                <a:solidFill>
                  <a:srgbClr val="FFFFFF"/>
                </a:solidFill>
                <a:latin typeface="Garet"/>
                <a:ea typeface="Garet"/>
                <a:cs typeface="Garet"/>
              </a:rPr>
              <a:t>AI-ENABLED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0B7A4395-9E5F-4FBB-9F53-307D41B8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599" y="2593677"/>
            <a:ext cx="2803306" cy="3224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85"/>
              </a:lnSpc>
              <a:spcBef>
                <a:spcPct val="0"/>
              </a:spcBef>
              <a:buNone/>
            </a:pPr>
            <a:r>
              <a:rPr sz="2436">
                <a:solidFill>
                  <a:srgbClr val="FFFFFF"/>
                </a:solidFill>
                <a:latin typeface="Garet"/>
                <a:ea typeface="Garet"/>
                <a:cs typeface="Garet"/>
              </a:rPr>
              <a:t>REPORTING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4BC96BA-3BA1-4A74-9BDD-29E66F94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599" y="8621567"/>
            <a:ext cx="5355695" cy="6367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85"/>
              </a:lnSpc>
              <a:spcBef>
                <a:spcPct val="0"/>
              </a:spcBef>
              <a:buNone/>
            </a:pPr>
            <a:r>
              <a:rPr sz="2436">
                <a:solidFill>
                  <a:srgbClr val="FFFFFF"/>
                </a:solidFill>
                <a:latin typeface="Garet"/>
                <a:ea typeface="Garet"/>
                <a:cs typeface="Garet"/>
              </a:rPr>
              <a:t>AUTOMATE PREPARATION. KEEP HUMAN AUTHORITY.</a:t>
            </a:r>
          </a:p>
        </p:txBody>
      </p:sp>
    </p:spTree>
    <p:extLst>
      <p:ext uri="{BB962C8B-B14F-4D97-AF65-F5344CB8AC3E}">
        <p14:creationId xmlns:p14="http://schemas.microsoft.com/office/powerpoint/2010/main" val="28638869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2026-07-29T10:10:50.8090000Z</dcterms:created>
  <dcterms:modified xsi:type="dcterms:W3CDTF">2026-07-29T10:10:50.8090000Z</dcterms:modified>
</coreProperties>
</file>